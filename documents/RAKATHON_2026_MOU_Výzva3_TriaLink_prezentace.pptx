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2"/>
  </p:notesMasterIdLst>
  <p:sldIdLst>
    <p:sldId id="833" r:id="rId6"/>
    <p:sldId id="918" r:id="rId7"/>
    <p:sldId id="917" r:id="rId8"/>
    <p:sldId id="919" r:id="rId9"/>
    <p:sldId id="920" r:id="rId10"/>
    <p:sldId id="921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642"/>
    <a:srgbClr val="0D9488"/>
    <a:srgbClr val="A4C489"/>
    <a:srgbClr val="29648F"/>
    <a:srgbClr val="FFA1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řední sty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řední styl 2 – zvýraznění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/>
    <p:restoredTop sz="94686"/>
  </p:normalViewPr>
  <p:slideViewPr>
    <p:cSldViewPr snapToGrid="0">
      <p:cViewPr varScale="1">
        <p:scale>
          <a:sx n="109" d="100"/>
          <a:sy n="109" d="100"/>
        </p:scale>
        <p:origin x="6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A16B7-D3A4-4A04-9603-6638EB3CCDD4}" type="datetimeFigureOut">
              <a:rPr lang="cs-CZ" smtClean="0"/>
              <a:t>07.10.2026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0DDD4-7510-4FC9-A30E-B3D84D9D15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36186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BCFBEC-4D19-C640-A150-25AE060F9B62}" type="slidenum">
              <a:rPr kumimoji="0" lang="x-non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0515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0DDD4-7510-4FC9-A30E-B3D84D9D1508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99387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9CF22-8F11-30FF-071B-2237FCC6B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50BF2-D2A0-1DD1-09EF-6B497AF96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F3508A-1EE4-4D08-537D-DA0839ED9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AB20E-8E5D-B8F2-38DD-D7F9D43716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0DDD4-7510-4FC9-A30E-B3D84D9D1508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5251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502A9-7E83-22D6-94C5-AEB97FF61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AB1FC-33A9-1A2D-6345-37B3AAB58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31B950-F140-B7DB-1A9F-0A41813A0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6B2E1-A25C-5A18-2ED9-7C9F3C5D0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0DDD4-7510-4FC9-A30E-B3D84D9D1508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1930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6D31C-7A14-2864-5D41-F9932A91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408F9-3DDA-CEA2-F561-CFAAEBF07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55D12-131D-8258-013E-F2C408C35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A44D8-0387-91D4-B029-291F79B09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20DDD4-7510-4FC9-A30E-B3D84D9D1508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60553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643-6804-4EE4-867C-80B070517ED5}" type="datetimeFigureOut">
              <a:rPr lang="cs-CZ" smtClean="0"/>
              <a:t>07.10.2026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554E-6674-467B-9E69-72D6CF7CD6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79090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643-6804-4EE4-867C-80B070517ED5}" type="datetimeFigureOut">
              <a:rPr lang="cs-CZ" smtClean="0"/>
              <a:t>07.10.2026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554E-6674-467B-9E69-72D6CF7CD6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083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643-6804-4EE4-867C-80B070517ED5}" type="datetimeFigureOut">
              <a:rPr lang="cs-CZ" smtClean="0"/>
              <a:t>07.10.2026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554E-6674-467B-9E69-72D6CF7CD6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6202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643-6804-4EE4-867C-80B070517ED5}" type="datetimeFigureOut">
              <a:rPr lang="cs-CZ" smtClean="0"/>
              <a:t>07.10.2026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554E-6674-467B-9E69-72D6CF7CD6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9408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643-6804-4EE4-867C-80B070517ED5}" type="datetimeFigureOut">
              <a:rPr lang="cs-CZ" smtClean="0"/>
              <a:t>07.10.2026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554E-6674-467B-9E69-72D6CF7CD6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95887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643-6804-4EE4-867C-80B070517ED5}" type="datetimeFigureOut">
              <a:rPr lang="cs-CZ" smtClean="0"/>
              <a:t>07.10.2026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554E-6674-467B-9E69-72D6CF7CD6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9838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643-6804-4EE4-867C-80B070517ED5}" type="datetimeFigureOut">
              <a:rPr lang="cs-CZ" smtClean="0"/>
              <a:t>07.10.2026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554E-6674-467B-9E69-72D6CF7CD6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63943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643-6804-4EE4-867C-80B070517ED5}" type="datetimeFigureOut">
              <a:rPr lang="cs-CZ" smtClean="0"/>
              <a:t>07.10.2026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554E-6674-467B-9E69-72D6CF7CD6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12732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643-6804-4EE4-867C-80B070517ED5}" type="datetimeFigureOut">
              <a:rPr lang="cs-CZ" smtClean="0"/>
              <a:t>07.10.2026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554E-6674-467B-9E69-72D6CF7CD6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5293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643-6804-4EE4-867C-80B070517ED5}" type="datetimeFigureOut">
              <a:rPr lang="cs-CZ" smtClean="0"/>
              <a:t>07.10.2026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554E-6674-467B-9E69-72D6CF7CD6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4565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643-6804-4EE4-867C-80B070517ED5}" type="datetimeFigureOut">
              <a:rPr lang="cs-CZ" smtClean="0"/>
              <a:t>07.10.2026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554E-6674-467B-9E69-72D6CF7CD6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40822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tex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délník 10">
            <a:extLst>
              <a:ext uri="{FF2B5EF4-FFF2-40B4-BE49-F238E27FC236}">
                <a16:creationId xmlns:a16="http://schemas.microsoft.com/office/drawing/2014/main" id="{17FD59C3-1F10-A241-B244-773E743E3304}"/>
              </a:ext>
            </a:extLst>
          </p:cNvPr>
          <p:cNvSpPr/>
          <p:nvPr userDrawn="1"/>
        </p:nvSpPr>
        <p:spPr>
          <a:xfrm>
            <a:off x="5" y="4581530"/>
            <a:ext cx="12191999" cy="2276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1800">
              <a:ln>
                <a:noFill/>
              </a:ln>
            </a:endParaRPr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C747A3F6-6791-8848-983C-10E5A619F252}"/>
              </a:ext>
            </a:extLst>
          </p:cNvPr>
          <p:cNvSpPr/>
          <p:nvPr userDrawn="1"/>
        </p:nvSpPr>
        <p:spPr>
          <a:xfrm>
            <a:off x="1" y="6"/>
            <a:ext cx="12192000" cy="4581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1800" dirty="0">
              <a:ln>
                <a:noFill/>
              </a:ln>
            </a:endParaRPr>
          </a:p>
        </p:txBody>
      </p:sp>
      <p:sp>
        <p:nvSpPr>
          <p:cNvPr id="14" name="Zástupný text 13">
            <a:extLst>
              <a:ext uri="{FF2B5EF4-FFF2-40B4-BE49-F238E27FC236}">
                <a16:creationId xmlns:a16="http://schemas.microsoft.com/office/drawing/2014/main" id="{B96B24D6-942D-4046-B628-D60D6CD0B2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8" y="2097088"/>
            <a:ext cx="11512067" cy="2303462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fontAlgn="t">
              <a:lnSpc>
                <a:spcPts val="4800"/>
              </a:lnSpc>
              <a:spcBef>
                <a:spcPts val="0"/>
              </a:spcBef>
              <a:buNone/>
              <a:defRPr sz="40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cs-CZ" dirty="0"/>
              <a:t>Prostor pro název prezentace</a:t>
            </a:r>
          </a:p>
        </p:txBody>
      </p:sp>
      <p:sp>
        <p:nvSpPr>
          <p:cNvPr id="16" name="Zástupný text 4">
            <a:extLst>
              <a:ext uri="{FF2B5EF4-FFF2-40B4-BE49-F238E27FC236}">
                <a16:creationId xmlns:a16="http://schemas.microsoft.com/office/drawing/2014/main" id="{55F73376-05F6-4D4A-963F-1E953E151E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8" y="4760918"/>
            <a:ext cx="3529013" cy="550761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cs-CZ" dirty="0"/>
              <a:t>Jméno autora prezentace</a:t>
            </a:r>
          </a:p>
        </p:txBody>
      </p:sp>
      <p:sp>
        <p:nvSpPr>
          <p:cNvPr id="18" name="Obdélník 17">
            <a:extLst>
              <a:ext uri="{FF2B5EF4-FFF2-40B4-BE49-F238E27FC236}">
                <a16:creationId xmlns:a16="http://schemas.microsoft.com/office/drawing/2014/main" id="{C2D86044-D099-FC41-BAAB-9AB1B36262F3}"/>
              </a:ext>
            </a:extLst>
          </p:cNvPr>
          <p:cNvSpPr/>
          <p:nvPr userDrawn="1"/>
        </p:nvSpPr>
        <p:spPr>
          <a:xfrm>
            <a:off x="263525" y="6316108"/>
            <a:ext cx="1567384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cs-CZ" sz="1000" b="0" i="0" dirty="0">
                <a:solidFill>
                  <a:schemeClr val="bg1"/>
                </a:solidFill>
                <a:latin typeface="+mn-lt"/>
              </a:rPr>
              <a:t>Žlutý kopec 7, 656 53 Brno</a:t>
            </a:r>
          </a:p>
          <a:p>
            <a:pPr lvl="0"/>
            <a:r>
              <a:rPr lang="cs-CZ" sz="1000" b="0" i="0" dirty="0" err="1">
                <a:solidFill>
                  <a:schemeClr val="bg1"/>
                </a:solidFill>
                <a:latin typeface="+mn-lt"/>
              </a:rPr>
              <a:t>www.mou.cz</a:t>
            </a:r>
            <a:endParaRPr lang="cs-CZ" sz="1000" b="0" i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0FE05B16-477A-A943-A81B-B0BD47DCF7D2}"/>
              </a:ext>
            </a:extLst>
          </p:cNvPr>
          <p:cNvSpPr/>
          <p:nvPr userDrawn="1"/>
        </p:nvSpPr>
        <p:spPr>
          <a:xfrm>
            <a:off x="4259267" y="6300868"/>
            <a:ext cx="22058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359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9991" algn="l"/>
              </a:tabLst>
              <a:defRPr/>
            </a:pPr>
            <a:r>
              <a:rPr lang="cs-CZ" sz="1000" b="0" i="0" dirty="0">
                <a:solidFill>
                  <a:schemeClr val="bg1"/>
                </a:solidFill>
                <a:latin typeface="+mn-lt"/>
              </a:rPr>
              <a:t>T</a:t>
            </a:r>
          </a:p>
          <a:p>
            <a:pPr marL="0" marR="0" lvl="0" indent="0" algn="l" defTabSz="359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9991" algn="l"/>
              </a:tabLst>
              <a:defRPr/>
            </a:pPr>
            <a:r>
              <a:rPr lang="cs-CZ" sz="1000" b="0" i="0" dirty="0">
                <a:solidFill>
                  <a:schemeClr val="bg1"/>
                </a:solidFill>
                <a:latin typeface="+mn-lt"/>
              </a:rPr>
              <a:t>@</a:t>
            </a:r>
          </a:p>
        </p:txBody>
      </p:sp>
      <p:sp>
        <p:nvSpPr>
          <p:cNvPr id="21" name="Obdélník 20">
            <a:extLst>
              <a:ext uri="{FF2B5EF4-FFF2-40B4-BE49-F238E27FC236}">
                <a16:creationId xmlns:a16="http://schemas.microsoft.com/office/drawing/2014/main" id="{5C857465-270D-DD4C-BF11-A477B10C4303}"/>
              </a:ext>
            </a:extLst>
          </p:cNvPr>
          <p:cNvSpPr/>
          <p:nvPr userDrawn="1"/>
        </p:nvSpPr>
        <p:spPr>
          <a:xfrm>
            <a:off x="8910320" y="6155348"/>
            <a:ext cx="298735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000" b="0" i="0" dirty="0">
                <a:solidFill>
                  <a:schemeClr val="bg1"/>
                </a:solidFill>
                <a:latin typeface="+mn-lt"/>
              </a:rPr>
              <a:t>Poskytovatel zdravotních služeb akreditovaný Organizací evropských onkologických ústavů (OECI) a Českou společností pro akreditaci ve zdravotnictví.</a:t>
            </a:r>
          </a:p>
        </p:txBody>
      </p:sp>
      <p:sp>
        <p:nvSpPr>
          <p:cNvPr id="25" name="Zástupný text 4">
            <a:extLst>
              <a:ext uri="{FF2B5EF4-FFF2-40B4-BE49-F238E27FC236}">
                <a16:creationId xmlns:a16="http://schemas.microsoft.com/office/drawing/2014/main" id="{7612BA62-1876-0347-B914-1239E9DCB3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46175" y="6312444"/>
            <a:ext cx="3186567" cy="13741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cs-CZ" dirty="0"/>
              <a:t>Sem zadejte Váš telefon</a:t>
            </a:r>
          </a:p>
        </p:txBody>
      </p:sp>
      <p:sp>
        <p:nvSpPr>
          <p:cNvPr id="26" name="Zástupný text 4">
            <a:extLst>
              <a:ext uri="{FF2B5EF4-FFF2-40B4-BE49-F238E27FC236}">
                <a16:creationId xmlns:a16="http://schemas.microsoft.com/office/drawing/2014/main" id="{F3B2EA4F-2A45-2E47-8FEC-5512D2CBF0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46175" y="6481346"/>
            <a:ext cx="3186567" cy="13741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cs-CZ" dirty="0"/>
              <a:t>Sem zadejte Váš email</a:t>
            </a:r>
          </a:p>
        </p:txBody>
      </p:sp>
      <p:pic>
        <p:nvPicPr>
          <p:cNvPr id="15" name="Obrázek 14" descr="Obsah obrázku kreslení&#10;&#10;Popis byl vytvořen automaticky">
            <a:extLst>
              <a:ext uri="{FF2B5EF4-FFF2-40B4-BE49-F238E27FC236}">
                <a16:creationId xmlns:a16="http://schemas.microsoft.com/office/drawing/2014/main" id="{C59C8DC5-86C7-2447-9F2D-23B81692EB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022" y="260354"/>
            <a:ext cx="1565275" cy="90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663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Úvodní 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28F4E0E3-0AF1-FE4E-B331-B1BA90C940E2}"/>
              </a:ext>
            </a:extLst>
          </p:cNvPr>
          <p:cNvSpPr/>
          <p:nvPr userDrawn="1"/>
        </p:nvSpPr>
        <p:spPr>
          <a:xfrm>
            <a:off x="0" y="2276475"/>
            <a:ext cx="4079875" cy="45815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noFill/>
              </a:ln>
            </a:endParaRP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17FD59C3-1F10-A241-B244-773E743E3304}"/>
              </a:ext>
            </a:extLst>
          </p:cNvPr>
          <p:cNvSpPr/>
          <p:nvPr userDrawn="1"/>
        </p:nvSpPr>
        <p:spPr>
          <a:xfrm>
            <a:off x="4079874" y="2276476"/>
            <a:ext cx="8112125" cy="458152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n>
                <a:noFill/>
              </a:ln>
            </a:endParaRPr>
          </a:p>
        </p:txBody>
      </p:sp>
      <p:pic>
        <p:nvPicPr>
          <p:cNvPr id="3" name="Obrázek 2" descr="Obsah obrázku podepsat, kreslení&#10;&#10;Popis byl vytvořen automaticky">
            <a:extLst>
              <a:ext uri="{FF2B5EF4-FFF2-40B4-BE49-F238E27FC236}">
                <a16:creationId xmlns:a16="http://schemas.microsoft.com/office/drawing/2014/main" id="{43C53DBD-DB89-3744-91BA-F1298F3E43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475" y="368300"/>
            <a:ext cx="1564625" cy="906708"/>
          </a:xfrm>
          <a:prstGeom prst="rect">
            <a:avLst/>
          </a:prstGeom>
        </p:spPr>
      </p:pic>
      <p:sp>
        <p:nvSpPr>
          <p:cNvPr id="9" name="Obdélník 8">
            <a:extLst>
              <a:ext uri="{FF2B5EF4-FFF2-40B4-BE49-F238E27FC236}">
                <a16:creationId xmlns:a16="http://schemas.microsoft.com/office/drawing/2014/main" id="{C747A3F6-6791-8848-983C-10E5A619F252}"/>
              </a:ext>
            </a:extLst>
          </p:cNvPr>
          <p:cNvSpPr/>
          <p:nvPr userDrawn="1"/>
        </p:nvSpPr>
        <p:spPr>
          <a:xfrm>
            <a:off x="4079875" y="0"/>
            <a:ext cx="8112125" cy="22764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>
                <a:noFill/>
              </a:ln>
            </a:endParaRPr>
          </a:p>
        </p:txBody>
      </p:sp>
      <p:sp>
        <p:nvSpPr>
          <p:cNvPr id="14" name="Zástupný text 13">
            <a:extLst>
              <a:ext uri="{FF2B5EF4-FFF2-40B4-BE49-F238E27FC236}">
                <a16:creationId xmlns:a16="http://schemas.microsoft.com/office/drawing/2014/main" id="{B96B24D6-942D-4046-B628-D60D6CD0B2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9263" y="320948"/>
            <a:ext cx="7740650" cy="177614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fontAlgn="t">
              <a:lnSpc>
                <a:spcPts val="4800"/>
              </a:lnSpc>
              <a:spcBef>
                <a:spcPts val="0"/>
              </a:spcBef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Prostor pro název prezentace</a:t>
            </a:r>
          </a:p>
        </p:txBody>
      </p:sp>
      <p:sp>
        <p:nvSpPr>
          <p:cNvPr id="10" name="Zástupný text 13">
            <a:extLst>
              <a:ext uri="{FF2B5EF4-FFF2-40B4-BE49-F238E27FC236}">
                <a16:creationId xmlns:a16="http://schemas.microsoft.com/office/drawing/2014/main" id="{44C60111-D07D-064F-9CFD-C9F316243F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9263" y="2457450"/>
            <a:ext cx="7740650" cy="1902142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fontAlgn="t">
              <a:lnSpc>
                <a:spcPts val="18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cs-CZ" dirty="0"/>
              <a:t>Prostor pro podnadpis prezentace</a:t>
            </a:r>
          </a:p>
        </p:txBody>
      </p:sp>
      <p:sp>
        <p:nvSpPr>
          <p:cNvPr id="16" name="Zástupný text 4">
            <a:extLst>
              <a:ext uri="{FF2B5EF4-FFF2-40B4-BE49-F238E27FC236}">
                <a16:creationId xmlns:a16="http://schemas.microsoft.com/office/drawing/2014/main" id="{55F73376-05F6-4D4A-963F-1E953E151E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59263" y="4760913"/>
            <a:ext cx="3673475" cy="541132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cs-CZ" dirty="0"/>
              <a:t>Jméno autora prezentace</a:t>
            </a:r>
          </a:p>
        </p:txBody>
      </p:sp>
      <p:sp>
        <p:nvSpPr>
          <p:cNvPr id="15" name="Obdélník 14">
            <a:extLst>
              <a:ext uri="{FF2B5EF4-FFF2-40B4-BE49-F238E27FC236}">
                <a16:creationId xmlns:a16="http://schemas.microsoft.com/office/drawing/2014/main" id="{BB909E8F-E972-0843-83C5-D208B40E524F}"/>
              </a:ext>
            </a:extLst>
          </p:cNvPr>
          <p:cNvSpPr/>
          <p:nvPr userDrawn="1"/>
        </p:nvSpPr>
        <p:spPr>
          <a:xfrm>
            <a:off x="371475" y="6181923"/>
            <a:ext cx="1567384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Žlutý kopec 7, 656 53 Brno</a:t>
            </a:r>
          </a:p>
          <a:p>
            <a:pPr lvl="0"/>
            <a:r>
              <a:rPr lang="cs-CZ" sz="1000" b="0" i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www.mou.cz</a:t>
            </a:r>
            <a:endParaRPr lang="cs-CZ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3C90913D-86E2-8945-9301-C32B7A56657B}"/>
              </a:ext>
            </a:extLst>
          </p:cNvPr>
          <p:cNvSpPr/>
          <p:nvPr userDrawn="1"/>
        </p:nvSpPr>
        <p:spPr>
          <a:xfrm>
            <a:off x="4259264" y="6181923"/>
            <a:ext cx="22058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0000" algn="l"/>
              </a:tabLst>
              <a:defRPr/>
            </a:pPr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  <a:p>
            <a:pPr marL="0" marR="0" lvl="0" indent="0" algn="l" defTabSz="36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0000" algn="l"/>
              </a:tabLst>
              <a:defRPr/>
            </a:pPr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</a:p>
        </p:txBody>
      </p:sp>
      <p:sp>
        <p:nvSpPr>
          <p:cNvPr id="18" name="Obdélník 17">
            <a:extLst>
              <a:ext uri="{FF2B5EF4-FFF2-40B4-BE49-F238E27FC236}">
                <a16:creationId xmlns:a16="http://schemas.microsoft.com/office/drawing/2014/main" id="{C309550A-86E3-E543-B4D7-7452031C2DAE}"/>
              </a:ext>
            </a:extLst>
          </p:cNvPr>
          <p:cNvSpPr/>
          <p:nvPr userDrawn="1"/>
        </p:nvSpPr>
        <p:spPr>
          <a:xfrm>
            <a:off x="8291513" y="6028035"/>
            <a:ext cx="3529012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Poskytovatel zdravotních služeb akreditovaný Organizací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evropských onkologických ústavů (OECI) a Českou společností pro akreditaci ve zdravotnictví.</a:t>
            </a:r>
          </a:p>
        </p:txBody>
      </p:sp>
      <p:sp>
        <p:nvSpPr>
          <p:cNvPr id="19" name="Zástupný text 4">
            <a:extLst>
              <a:ext uri="{FF2B5EF4-FFF2-40B4-BE49-F238E27FC236}">
                <a16:creationId xmlns:a16="http://schemas.microsoft.com/office/drawing/2014/main" id="{3C18ADE7-E4C9-FE4D-B3A0-00F7471259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46171" y="6193498"/>
            <a:ext cx="3186567" cy="13741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cs-CZ" dirty="0"/>
              <a:t>Sem zadejte Váš telefon</a:t>
            </a:r>
          </a:p>
        </p:txBody>
      </p:sp>
      <p:sp>
        <p:nvSpPr>
          <p:cNvPr id="21" name="Zástupný text 4">
            <a:extLst>
              <a:ext uri="{FF2B5EF4-FFF2-40B4-BE49-F238E27FC236}">
                <a16:creationId xmlns:a16="http://schemas.microsoft.com/office/drawing/2014/main" id="{B75806A0-9CE3-7640-8FD0-7D2547F92B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46171" y="6362400"/>
            <a:ext cx="3186567" cy="13741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cs-CZ" dirty="0"/>
              <a:t>Sem zadejte Váš email</a:t>
            </a:r>
          </a:p>
        </p:txBody>
      </p:sp>
      <p:pic>
        <p:nvPicPr>
          <p:cNvPr id="20" name="Obrázek 19">
            <a:extLst>
              <a:ext uri="{FF2B5EF4-FFF2-40B4-BE49-F238E27FC236}">
                <a16:creationId xmlns:a16="http://schemas.microsoft.com/office/drawing/2014/main" id="{AC4ACB67-665A-DB4A-A52E-7801B6215AD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100583"/>
            <a:ext cx="4079873" cy="407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871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A3643-6804-4EE4-867C-80B070517ED5}" type="datetimeFigureOut">
              <a:rPr lang="cs-CZ" smtClean="0"/>
              <a:t>07.10.2026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4554E-6674-467B-9E69-72D6CF7CD60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7497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407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3" pos="166">
          <p15:clr>
            <a:srgbClr val="F26B43"/>
          </p15:clr>
        </p15:guide>
        <p15:guide id="14" pos="7514">
          <p15:clr>
            <a:srgbClr val="F26B43"/>
          </p15:clr>
        </p15:guide>
        <p15:guide id="15" orient="horz" pos="164">
          <p15:clr>
            <a:srgbClr val="F26B43"/>
          </p15:clr>
        </p15:guide>
        <p15:guide id="16" orient="horz" pos="41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text 1"/>
          <p:cNvSpPr>
            <a:spLocks noGrp="1"/>
          </p:cNvSpPr>
          <p:nvPr>
            <p:ph type="body" sz="quarter" idx="10"/>
          </p:nvPr>
        </p:nvSpPr>
        <p:spPr>
          <a:xfrm>
            <a:off x="4411375" y="2045924"/>
            <a:ext cx="7603461" cy="4001095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defRPr sz="2000">
                <a:solidFill>
                  <a:srgbClr val="E2E8F0"/>
                </a:solidFill>
                <a:latin typeface="Arial"/>
              </a:defRPr>
            </a:pPr>
            <a:endParaRPr lang="cs-CZ" noProof="0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defRPr sz="2000">
                <a:solidFill>
                  <a:srgbClr val="E2E8F0"/>
                </a:solidFill>
                <a:latin typeface="Arial"/>
              </a:defRPr>
            </a:pPr>
            <a:r>
              <a:rPr lang="cs-CZ" sz="3200" noProof="0" dirty="0">
                <a:solidFill>
                  <a:schemeClr val="bg2">
                    <a:lumMod val="25000"/>
                  </a:schemeClr>
                </a:solidFill>
              </a:rPr>
              <a:t>Inteligentní průvodce pro rychlejší zapojení onkologických pacientů do klinických studií</a:t>
            </a:r>
          </a:p>
          <a:p>
            <a:pPr>
              <a:lnSpc>
                <a:spcPct val="100000"/>
              </a:lnSpc>
              <a:defRPr sz="2000">
                <a:solidFill>
                  <a:srgbClr val="E2E8F0"/>
                </a:solidFill>
                <a:latin typeface="Arial"/>
              </a:defRPr>
            </a:pPr>
            <a:endParaRPr lang="cs-CZ" sz="3200" noProof="0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defRPr sz="2000">
                <a:solidFill>
                  <a:srgbClr val="E2E8F0"/>
                </a:solidFill>
                <a:latin typeface="Arial"/>
              </a:defRPr>
            </a:pPr>
            <a:endParaRPr lang="cs-CZ" sz="3200" noProof="0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defRPr sz="2000">
                <a:solidFill>
                  <a:srgbClr val="E2E8F0"/>
                </a:solidFill>
                <a:latin typeface="Arial"/>
              </a:defRPr>
            </a:pPr>
            <a:r>
              <a:rPr lang="cs-CZ" sz="2000" noProof="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Prezentují: Šárka </a:t>
            </a:r>
            <a:r>
              <a:rPr lang="cs-CZ" sz="2000" noProof="0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Selvekerová</a:t>
            </a:r>
            <a:r>
              <a:rPr lang="cs-CZ" sz="2000" noProof="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 Peter Grell</a:t>
            </a:r>
          </a:p>
          <a:p>
            <a:pPr>
              <a:lnSpc>
                <a:spcPct val="100000"/>
              </a:lnSpc>
              <a:defRPr sz="2000">
                <a:solidFill>
                  <a:srgbClr val="E2E8F0"/>
                </a:solidFill>
                <a:latin typeface="Arial"/>
              </a:defRPr>
            </a:pPr>
            <a:r>
              <a:rPr lang="cs-CZ" sz="2000" noProof="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Masarykův onkologický ústav  </a:t>
            </a:r>
          </a:p>
          <a:p>
            <a:pPr>
              <a:lnSpc>
                <a:spcPct val="100000"/>
              </a:lnSpc>
              <a:defRPr sz="2000">
                <a:solidFill>
                  <a:srgbClr val="E2E8F0"/>
                </a:solidFill>
                <a:latin typeface="Arial"/>
              </a:defRPr>
            </a:pPr>
            <a:endParaRPr lang="cs-CZ" sz="2000" noProof="0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defRPr sz="2000">
                <a:solidFill>
                  <a:srgbClr val="E2E8F0"/>
                </a:solidFill>
                <a:latin typeface="Arial"/>
              </a:defRPr>
            </a:pPr>
            <a:r>
              <a:rPr lang="cs-CZ" sz="2000" noProof="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RAKATHON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4CA36B-FE3F-2C27-F3FD-AE2089E14981}"/>
              </a:ext>
            </a:extLst>
          </p:cNvPr>
          <p:cNvSpPr txBox="1"/>
          <p:nvPr/>
        </p:nvSpPr>
        <p:spPr>
          <a:xfrm>
            <a:off x="4256392" y="1293732"/>
            <a:ext cx="31334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 err="1">
                <a:solidFill>
                  <a:schemeClr val="bg2">
                    <a:lumMod val="25000"/>
                  </a:schemeClr>
                </a:solidFill>
              </a:rPr>
              <a:t>TriaLink</a:t>
            </a:r>
            <a:endParaRPr lang="en-US" sz="6000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618AEB6-0316-104C-48CE-9A1342F4C4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582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1FC3C-A569-64AB-B231-9AF0CB1FF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1B03F1-3BA7-DA2E-A393-624391B95E90}"/>
              </a:ext>
            </a:extLst>
          </p:cNvPr>
          <p:cNvSpPr/>
          <p:nvPr/>
        </p:nvSpPr>
        <p:spPr>
          <a:xfrm>
            <a:off x="0" y="0"/>
            <a:ext cx="12192000" cy="956441"/>
          </a:xfrm>
          <a:prstGeom prst="rect">
            <a:avLst/>
          </a:prstGeom>
          <a:solidFill>
            <a:srgbClr val="F04600"/>
          </a:solidFill>
          <a:ln>
            <a:solidFill>
              <a:srgbClr val="F04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A64CC1A-EF1E-6FD7-4D0B-85350A4F67DF}"/>
              </a:ext>
            </a:extLst>
          </p:cNvPr>
          <p:cNvSpPr txBox="1">
            <a:spLocks/>
          </p:cNvSpPr>
          <p:nvPr/>
        </p:nvSpPr>
        <p:spPr>
          <a:xfrm>
            <a:off x="244019" y="169210"/>
            <a:ext cx="10515600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Klinické studie v ČR a MOÚ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503D6F87-CCE7-29C7-5385-34669DD79186}"/>
              </a:ext>
            </a:extLst>
          </p:cNvPr>
          <p:cNvSpPr/>
          <p:nvPr/>
        </p:nvSpPr>
        <p:spPr>
          <a:xfrm>
            <a:off x="815975" y="1198885"/>
            <a:ext cx="3380284" cy="4182588"/>
          </a:xfrm>
          <a:prstGeom prst="roundRect">
            <a:avLst>
              <a:gd name="adj" fmla="val 3252"/>
            </a:avLst>
          </a:prstGeom>
          <a:solidFill>
            <a:srgbClr val="FBFAF7"/>
          </a:solidFill>
          <a:ln w="6350">
            <a:solidFill>
              <a:srgbClr val="DCD8CF"/>
            </a:solidFill>
            <a:prstDash val="solid"/>
          </a:ln>
        </p:spPr>
        <p:txBody>
          <a:bodyPr/>
          <a:lstStyle/>
          <a:p>
            <a:endParaRPr lang="cs-CZ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F1EA552-3ED0-3E07-82DB-B7BCE9A613CD}"/>
              </a:ext>
            </a:extLst>
          </p:cNvPr>
          <p:cNvSpPr/>
          <p:nvPr/>
        </p:nvSpPr>
        <p:spPr>
          <a:xfrm>
            <a:off x="1073150" y="1456060"/>
            <a:ext cx="311993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cs-CZ" sz="6000" b="1" noProof="0" dirty="0">
                <a:solidFill>
                  <a:srgbClr val="C8472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60 000</a:t>
            </a:r>
            <a:endParaRPr lang="cs-CZ" sz="6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908D766-5F81-04D6-7910-5EF2DE0EA89F}"/>
              </a:ext>
            </a:extLst>
          </p:cNvPr>
          <p:cNvSpPr/>
          <p:nvPr/>
        </p:nvSpPr>
        <p:spPr>
          <a:xfrm>
            <a:off x="1073150" y="2357760"/>
            <a:ext cx="2951912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ts val="2160"/>
              </a:lnSpc>
            </a:pPr>
            <a:r>
              <a:rPr lang="cs-CZ" sz="1800" b="1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nových malignit ročně v ČR </a:t>
            </a:r>
            <a:r>
              <a:rPr lang="cs-CZ" sz="1400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(bez </a:t>
            </a:r>
            <a:r>
              <a:rPr lang="cs-CZ" sz="1400" noProof="0" dirty="0" err="1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nemelanomových</a:t>
            </a:r>
            <a:r>
              <a:rPr lang="cs-CZ" sz="1400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nádorů kůže)</a:t>
            </a:r>
            <a:endParaRPr lang="cs-CZ" sz="1800" noProof="0" dirty="0">
              <a:solidFill>
                <a:srgbClr val="2336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B81523A-B50D-398B-9E2E-7E55ABE000EA}"/>
              </a:ext>
            </a:extLst>
          </p:cNvPr>
          <p:cNvSpPr/>
          <p:nvPr/>
        </p:nvSpPr>
        <p:spPr>
          <a:xfrm>
            <a:off x="1073150" y="3462731"/>
            <a:ext cx="2951912" cy="1603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cs-CZ" sz="2400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 ČR je aktivních 70 až </a:t>
            </a:r>
            <a:r>
              <a:rPr lang="cs-CZ" sz="240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150 klinických studií </a:t>
            </a:r>
          </a:p>
          <a:p>
            <a:r>
              <a:rPr lang="cs-CZ" sz="120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(dle CITIS, </a:t>
            </a:r>
            <a:r>
              <a:rPr lang="cs-CZ" sz="1200" dirty="0" err="1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ClinicalTrials.gov</a:t>
            </a:r>
            <a:r>
              <a:rPr lang="cs-CZ" sz="120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) </a:t>
            </a:r>
            <a:endParaRPr lang="cs-CZ" sz="2400" noProof="0" dirty="0">
              <a:solidFill>
                <a:srgbClr val="2336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248D06BF-5BF6-37E5-749C-1E918CE41760}"/>
              </a:ext>
            </a:extLst>
          </p:cNvPr>
          <p:cNvSpPr/>
          <p:nvPr/>
        </p:nvSpPr>
        <p:spPr>
          <a:xfrm>
            <a:off x="4405809" y="1198885"/>
            <a:ext cx="3380333" cy="4182588"/>
          </a:xfrm>
          <a:prstGeom prst="roundRect">
            <a:avLst>
              <a:gd name="adj" fmla="val 3252"/>
            </a:avLst>
          </a:prstGeom>
          <a:solidFill>
            <a:srgbClr val="FBFAF7"/>
          </a:solidFill>
          <a:ln w="6350">
            <a:solidFill>
              <a:srgbClr val="DCD8CF"/>
            </a:solidFill>
            <a:prstDash val="solid"/>
          </a:ln>
        </p:spPr>
        <p:txBody>
          <a:bodyPr/>
          <a:lstStyle/>
          <a:p>
            <a:endParaRPr lang="cs-CZ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C34D8E76-B940-A4CF-7AAC-AFD69E49946B}"/>
              </a:ext>
            </a:extLst>
          </p:cNvPr>
          <p:cNvSpPr/>
          <p:nvPr/>
        </p:nvSpPr>
        <p:spPr>
          <a:xfrm>
            <a:off x="4662984" y="1456060"/>
            <a:ext cx="295196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cs-CZ" sz="6000" b="1" noProof="0" dirty="0">
                <a:solidFill>
                  <a:srgbClr val="C8472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5 000</a:t>
            </a:r>
            <a:endParaRPr lang="cs-CZ" sz="6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77221972-0466-4B7E-4B89-6234808AA885}"/>
              </a:ext>
            </a:extLst>
          </p:cNvPr>
          <p:cNvSpPr/>
          <p:nvPr/>
        </p:nvSpPr>
        <p:spPr>
          <a:xfrm>
            <a:off x="4662984" y="2357760"/>
            <a:ext cx="2951963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cs-CZ" sz="1600" b="1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nových pacientů ročně v MOÚ</a:t>
            </a:r>
            <a:endParaRPr lang="cs-CZ" sz="1600" noProof="0" dirty="0">
              <a:solidFill>
                <a:srgbClr val="2336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698AC330-7394-8305-8B52-FE288056635F}"/>
              </a:ext>
            </a:extLst>
          </p:cNvPr>
          <p:cNvSpPr/>
          <p:nvPr/>
        </p:nvSpPr>
        <p:spPr>
          <a:xfrm>
            <a:off x="4662984" y="3462731"/>
            <a:ext cx="2951963" cy="1753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cs-CZ" sz="2400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 MOÚ je aktivních přes 140 studií (cca 50 intervenčních s léčbou) a </a:t>
            </a:r>
            <a:r>
              <a:rPr lang="cs-CZ" sz="2400" b="1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zařazeno je přes 900 pacientů ročně</a:t>
            </a:r>
            <a:endParaRPr lang="cs-CZ" sz="2400" b="1" noProof="0" dirty="0">
              <a:solidFill>
                <a:srgbClr val="2336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F348F328-050C-5A0E-D6FA-B3D9A1E37D2C}"/>
              </a:ext>
            </a:extLst>
          </p:cNvPr>
          <p:cNvSpPr/>
          <p:nvPr/>
        </p:nvSpPr>
        <p:spPr>
          <a:xfrm>
            <a:off x="7995692" y="1198885"/>
            <a:ext cx="3380333" cy="4182588"/>
          </a:xfrm>
          <a:prstGeom prst="roundRect">
            <a:avLst>
              <a:gd name="adj" fmla="val 3252"/>
            </a:avLst>
          </a:prstGeom>
          <a:solidFill>
            <a:srgbClr val="FBFAF7"/>
          </a:solidFill>
          <a:ln w="6350">
            <a:solidFill>
              <a:srgbClr val="DCD8CF"/>
            </a:solidFill>
            <a:prstDash val="solid"/>
          </a:ln>
        </p:spPr>
        <p:txBody>
          <a:bodyPr/>
          <a:lstStyle/>
          <a:p>
            <a:endParaRPr lang="cs-CZ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B3B4609A-2DC5-23F9-4556-DC6A77B40C72}"/>
              </a:ext>
            </a:extLst>
          </p:cNvPr>
          <p:cNvSpPr/>
          <p:nvPr/>
        </p:nvSpPr>
        <p:spPr>
          <a:xfrm>
            <a:off x="8252867" y="1456060"/>
            <a:ext cx="295196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cs-CZ" sz="6000" b="1" noProof="0" dirty="0">
                <a:solidFill>
                  <a:srgbClr val="C8472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5 %</a:t>
            </a:r>
            <a:endParaRPr lang="cs-CZ" sz="6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AB30CF3F-AB53-1041-C68D-95BC2514864A}"/>
              </a:ext>
            </a:extLst>
          </p:cNvPr>
          <p:cNvSpPr/>
          <p:nvPr/>
        </p:nvSpPr>
        <p:spPr>
          <a:xfrm>
            <a:off x="8252867" y="2357759"/>
            <a:ext cx="2951963" cy="955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cs-CZ" sz="1800" b="1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pacientů zařazeno v intervenčních studiích  </a:t>
            </a:r>
          </a:p>
          <a:p>
            <a:pPr>
              <a:lnSpc>
                <a:spcPts val="2160"/>
              </a:lnSpc>
            </a:pPr>
            <a:r>
              <a:rPr lang="cs-CZ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(cca 250 pacientů ročně) </a:t>
            </a:r>
          </a:p>
          <a:p>
            <a:pPr marL="0" indent="0" algn="l">
              <a:lnSpc>
                <a:spcPts val="2160"/>
              </a:lnSpc>
              <a:buNone/>
            </a:pPr>
            <a:endParaRPr lang="cs-CZ" sz="1800" noProof="0" dirty="0">
              <a:solidFill>
                <a:srgbClr val="2336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56812492-FA4F-018B-BD22-F04B221F7D84}"/>
              </a:ext>
            </a:extLst>
          </p:cNvPr>
          <p:cNvSpPr/>
          <p:nvPr/>
        </p:nvSpPr>
        <p:spPr>
          <a:xfrm>
            <a:off x="8252867" y="3462731"/>
            <a:ext cx="2951963" cy="1603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cs-CZ" sz="2400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 centrech v západní Evropě dosahuje podíl zařazených pacientů </a:t>
            </a:r>
            <a:r>
              <a:rPr lang="cs-CZ" sz="2400" b="1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10–15 %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7536072-1277-0612-62DC-A85FB4CE12E3}"/>
              </a:ext>
            </a:extLst>
          </p:cNvPr>
          <p:cNvSpPr/>
          <p:nvPr/>
        </p:nvSpPr>
        <p:spPr>
          <a:xfrm>
            <a:off x="815975" y="5531374"/>
            <a:ext cx="10560050" cy="1082466"/>
          </a:xfrm>
          <a:prstGeom prst="roundRect">
            <a:avLst>
              <a:gd name="adj" fmla="val 0"/>
            </a:avLst>
          </a:prstGeom>
          <a:solidFill>
            <a:srgbClr val="FBFAF7"/>
          </a:solidFill>
          <a:ln w="6350">
            <a:solidFill>
              <a:srgbClr val="DCD8CF"/>
            </a:solidFill>
            <a:prstDash val="solid"/>
          </a:ln>
        </p:spPr>
        <p:txBody>
          <a:bodyPr/>
          <a:lstStyle/>
          <a:p>
            <a:r>
              <a:rPr lang="cs-CZ" sz="2200" noProof="0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Klinická studie umožňuje pacientovi přístup k </a:t>
            </a:r>
            <a:r>
              <a:rPr lang="cs-CZ" sz="2200" b="1" noProof="0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nejmodernější a potenciálně efektivnější terapii</a:t>
            </a:r>
            <a:r>
              <a:rPr lang="cs-CZ" sz="2200" noProof="0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přičemž úhrada léčby sponzorem </a:t>
            </a:r>
            <a:r>
              <a:rPr lang="cs-CZ" sz="2200" b="1" noProof="0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zároveň šetří finanční prostředky nemocnice i veřejného zdravotnictví.</a:t>
            </a:r>
          </a:p>
        </p:txBody>
      </p:sp>
    </p:spTree>
    <p:extLst>
      <p:ext uri="{BB962C8B-B14F-4D97-AF65-F5344CB8AC3E}">
        <p14:creationId xmlns:p14="http://schemas.microsoft.com/office/powerpoint/2010/main" val="2981476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DDE01-6178-EA97-DC17-080FF756D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42D714-5136-C95D-C8A0-5DFD532AAD2D}"/>
              </a:ext>
            </a:extLst>
          </p:cNvPr>
          <p:cNvSpPr/>
          <p:nvPr/>
        </p:nvSpPr>
        <p:spPr>
          <a:xfrm>
            <a:off x="0" y="0"/>
            <a:ext cx="12192000" cy="956441"/>
          </a:xfrm>
          <a:prstGeom prst="rect">
            <a:avLst/>
          </a:prstGeom>
          <a:solidFill>
            <a:srgbClr val="F04600"/>
          </a:solidFill>
          <a:ln>
            <a:solidFill>
              <a:srgbClr val="F04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FB89E93-1CAE-2A1F-4127-3F1649BDD586}"/>
              </a:ext>
            </a:extLst>
          </p:cNvPr>
          <p:cNvSpPr txBox="1">
            <a:spLocks/>
          </p:cNvSpPr>
          <p:nvPr/>
        </p:nvSpPr>
        <p:spPr>
          <a:xfrm>
            <a:off x="244019" y="169210"/>
            <a:ext cx="10515600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Hledání vhodné studie je komplikované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74A1E2-164A-D18A-2A97-E1F18F034EB9}"/>
              </a:ext>
            </a:extLst>
          </p:cNvPr>
          <p:cNvSpPr>
            <a:spLocks noGrp="1"/>
          </p:cNvSpPr>
          <p:nvPr/>
        </p:nvSpPr>
        <p:spPr>
          <a:xfrm>
            <a:off x="820966" y="1563801"/>
            <a:ext cx="4286250" cy="819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350" b="1">
                <a:solidFill>
                  <a:srgbClr val="C15D48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cs-CZ" sz="4350" b="1" noProof="0" dirty="0">
                <a:solidFill>
                  <a:srgbClr val="C15D48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45 minut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92B833-A1A1-1546-EEB0-5207F856B020}"/>
              </a:ext>
            </a:extLst>
          </p:cNvPr>
          <p:cNvSpPr>
            <a:spLocks noGrp="1"/>
          </p:cNvSpPr>
          <p:nvPr/>
        </p:nvSpPr>
        <p:spPr>
          <a:xfrm>
            <a:off x="859066" y="2392476"/>
            <a:ext cx="4191000" cy="103652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 b="0">
                <a:solidFill>
                  <a:srgbClr val="233642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cs-CZ" sz="1875" b="0" noProof="0" dirty="0"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současné manuální </a:t>
            </a:r>
            <a:r>
              <a:rPr lang="cs-CZ" sz="1875" dirty="0"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vy</a:t>
            </a:r>
            <a:r>
              <a:rPr lang="cs-CZ" sz="1875" b="0" noProof="0" dirty="0"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hledávání vhodné studie pro pacienta je </a:t>
            </a:r>
            <a:r>
              <a:rPr lang="cs-CZ" sz="1875" b="1" noProof="0" dirty="0"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časově a administrativně náročné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1C048F-E1E9-91F4-22A3-50E98E58F1BA}"/>
              </a:ext>
            </a:extLst>
          </p:cNvPr>
          <p:cNvSpPr>
            <a:spLocks noGrp="1"/>
          </p:cNvSpPr>
          <p:nvPr/>
        </p:nvSpPr>
        <p:spPr>
          <a:xfrm>
            <a:off x="6608534" y="1573326"/>
            <a:ext cx="4762500" cy="819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350" b="1">
                <a:solidFill>
                  <a:srgbClr val="147E82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cs-CZ" sz="4350" b="1" noProof="0" dirty="0">
                <a:solidFill>
                  <a:srgbClr val="147E82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&lt; 30 sekund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8B5C8C-3484-0C81-FEF6-3B675B0C9DA9}"/>
              </a:ext>
            </a:extLst>
          </p:cNvPr>
          <p:cNvSpPr>
            <a:spLocks noGrp="1"/>
          </p:cNvSpPr>
          <p:nvPr/>
        </p:nvSpPr>
        <p:spPr>
          <a:xfrm>
            <a:off x="6665684" y="2382951"/>
            <a:ext cx="44767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 b="0">
                <a:solidFill>
                  <a:srgbClr val="233642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cs-CZ" sz="1875" b="0" noProof="0" dirty="0"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cíl </a:t>
            </a:r>
            <a:r>
              <a:rPr lang="cs-CZ" sz="1875" b="0" noProof="0" dirty="0" err="1"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TriaLinku</a:t>
            </a:r>
            <a:r>
              <a:rPr lang="cs-CZ" sz="1875" b="0" noProof="0" dirty="0"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 </a:t>
            </a:r>
            <a:r>
              <a:rPr lang="cs-CZ" sz="1875" dirty="0"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je </a:t>
            </a:r>
            <a:r>
              <a:rPr lang="cs-CZ" sz="1875" b="1" noProof="0" dirty="0"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rychlejší a přehlednější </a:t>
            </a:r>
            <a:r>
              <a:rPr lang="cs-CZ" sz="1875" b="0" noProof="0" dirty="0"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nalezení studie a zahájení kontaktu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58781C-B402-E8B9-A2AA-1EFBC96A7ACC}"/>
              </a:ext>
            </a:extLst>
          </p:cNvPr>
          <p:cNvSpPr>
            <a:spLocks noGrp="1"/>
          </p:cNvSpPr>
          <p:nvPr/>
        </p:nvSpPr>
        <p:spPr>
          <a:xfrm>
            <a:off x="859066" y="4344160"/>
            <a:ext cx="4792226" cy="1019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950" b="0">
                <a:solidFill>
                  <a:srgbClr val="13304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cs-CZ" sz="2000" b="0" noProof="0" dirty="0">
                <a:solidFill>
                  <a:srgbClr val="233642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Parametry pacienta se r</a:t>
            </a:r>
            <a:r>
              <a:rPr lang="cs-CZ" sz="2000" b="1" noProof="0" dirty="0">
                <a:solidFill>
                  <a:srgbClr val="233642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učně porovnávají dle jednotlivých protokolů</a:t>
            </a:r>
            <a:r>
              <a:rPr lang="cs-CZ" sz="2000" b="1" dirty="0">
                <a:solidFill>
                  <a:srgbClr val="233642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 </a:t>
            </a:r>
            <a:r>
              <a:rPr lang="cs-CZ" sz="2000" dirty="0">
                <a:solidFill>
                  <a:srgbClr val="233642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klinické studie</a:t>
            </a:r>
            <a:endParaRPr lang="cs-CZ" sz="2000" b="0" noProof="0" dirty="0">
              <a:solidFill>
                <a:srgbClr val="233642"/>
              </a:solidFill>
              <a:latin typeface="Arial" panose="020B0604020202020204" pitchFamily="34" charset="0"/>
              <a:ea typeface="Helvetica Neue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E2A976A-0B19-8AB5-3EF3-23E95B8D9FAC}"/>
              </a:ext>
            </a:extLst>
          </p:cNvPr>
          <p:cNvSpPr>
            <a:spLocks noGrp="1"/>
          </p:cNvSpPr>
          <p:nvPr/>
        </p:nvSpPr>
        <p:spPr>
          <a:xfrm>
            <a:off x="6665684" y="4344161"/>
            <a:ext cx="466725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950" b="0">
                <a:solidFill>
                  <a:srgbClr val="13304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cs-CZ" sz="2000" b="1" noProof="0" dirty="0">
                <a:solidFill>
                  <a:srgbClr val="233642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Lékař</a:t>
            </a:r>
            <a:r>
              <a:rPr lang="cs-CZ" sz="2000" b="0" noProof="0" dirty="0">
                <a:solidFill>
                  <a:srgbClr val="233642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 dostane rychlý předvýběr a přímé spojení se studijním týmem.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0F99B7-F973-C09B-DEBD-E598597072E2}"/>
              </a:ext>
            </a:extLst>
          </p:cNvPr>
          <p:cNvSpPr>
            <a:spLocks noGrp="1"/>
          </p:cNvSpPr>
          <p:nvPr/>
        </p:nvSpPr>
        <p:spPr>
          <a:xfrm>
            <a:off x="6665684" y="5498246"/>
            <a:ext cx="4572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0">
                <a:solidFill>
                  <a:srgbClr val="233642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cs-CZ" sz="2000" b="1" noProof="0" dirty="0">
                <a:solidFill>
                  <a:srgbClr val="233642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Pacient</a:t>
            </a:r>
            <a:r>
              <a:rPr lang="cs-CZ" sz="2000" b="0" noProof="0" dirty="0">
                <a:solidFill>
                  <a:srgbClr val="233642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 se může sám zapojit do vyhledávání vhodné klinické studie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393402-EEF0-4391-D680-1B1E927E6BDA}"/>
              </a:ext>
            </a:extLst>
          </p:cNvPr>
          <p:cNvSpPr txBox="1"/>
          <p:nvPr/>
        </p:nvSpPr>
        <p:spPr>
          <a:xfrm>
            <a:off x="859066" y="3643335"/>
            <a:ext cx="2533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600" noProof="0" dirty="0">
                <a:solidFill>
                  <a:srgbClr val="233642"/>
                </a:solidFill>
              </a:rPr>
              <a:t>Dnes</a:t>
            </a:r>
            <a:endParaRPr lang="cs-CZ" noProof="0" dirty="0">
              <a:solidFill>
                <a:srgbClr val="233642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031762-8C39-DC10-3CA5-0FB9ABB3E99A}"/>
              </a:ext>
            </a:extLst>
          </p:cNvPr>
          <p:cNvSpPr txBox="1"/>
          <p:nvPr/>
        </p:nvSpPr>
        <p:spPr>
          <a:xfrm>
            <a:off x="859066" y="5498246"/>
            <a:ext cx="4572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b="1" noProof="0" dirty="0">
                <a:solidFill>
                  <a:srgbClr val="233642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Pacientům chybí český digitální průvodce</a:t>
            </a:r>
            <a:r>
              <a:rPr lang="cs-CZ" sz="2000" noProof="0" dirty="0">
                <a:solidFill>
                  <a:srgbClr val="233642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</a:rPr>
              <a:t>, který vysvětlí možnosti</a:t>
            </a:r>
          </a:p>
          <a:p>
            <a:endParaRPr lang="cs-CZ" noProof="0" dirty="0">
              <a:solidFill>
                <a:srgbClr val="233642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910011-DD01-0F74-C952-1B34CD716589}"/>
              </a:ext>
            </a:extLst>
          </p:cNvPr>
          <p:cNvSpPr txBox="1"/>
          <p:nvPr/>
        </p:nvSpPr>
        <p:spPr>
          <a:xfrm>
            <a:off x="6665684" y="3643335"/>
            <a:ext cx="2533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600" noProof="0" dirty="0">
                <a:solidFill>
                  <a:srgbClr val="233642"/>
                </a:solidFill>
              </a:rPr>
              <a:t>Cíl</a:t>
            </a:r>
            <a:endParaRPr lang="cs-CZ" noProof="0" dirty="0">
              <a:solidFill>
                <a:srgbClr val="2336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961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D54E3-F898-2A10-4E32-A80230B65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7696F0-B6D7-17D8-7612-00610C689371}"/>
              </a:ext>
            </a:extLst>
          </p:cNvPr>
          <p:cNvSpPr/>
          <p:nvPr/>
        </p:nvSpPr>
        <p:spPr>
          <a:xfrm>
            <a:off x="0" y="0"/>
            <a:ext cx="12192000" cy="956441"/>
          </a:xfrm>
          <a:prstGeom prst="rect">
            <a:avLst/>
          </a:prstGeom>
          <a:solidFill>
            <a:srgbClr val="F04600"/>
          </a:solidFill>
          <a:ln>
            <a:solidFill>
              <a:srgbClr val="F04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67B975B-B03B-F4E6-7A0F-2DDC64B9C645}"/>
              </a:ext>
            </a:extLst>
          </p:cNvPr>
          <p:cNvSpPr txBox="1">
            <a:spLocks/>
          </p:cNvSpPr>
          <p:nvPr/>
        </p:nvSpPr>
        <p:spPr>
          <a:xfrm>
            <a:off x="244019" y="169210"/>
            <a:ext cx="10515600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noProof="0" dirty="0">
                <a:solidFill>
                  <a:schemeClr val="bg1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Jak </a:t>
            </a:r>
            <a:r>
              <a:rPr lang="cs-CZ" noProof="0" dirty="0" err="1">
                <a:solidFill>
                  <a:schemeClr val="bg1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TriaLink</a:t>
            </a:r>
            <a:r>
              <a:rPr lang="cs-CZ" noProof="0" dirty="0">
                <a:solidFill>
                  <a:schemeClr val="bg1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pomůže</a:t>
            </a:r>
            <a:endParaRPr lang="cs-CZ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69E63A42-07B8-3DE7-2566-FE11C09A2564}"/>
              </a:ext>
            </a:extLst>
          </p:cNvPr>
          <p:cNvSpPr/>
          <p:nvPr/>
        </p:nvSpPr>
        <p:spPr>
          <a:xfrm>
            <a:off x="554636" y="1358179"/>
            <a:ext cx="5436589" cy="5103581"/>
          </a:xfrm>
          <a:prstGeom prst="roundRect">
            <a:avLst>
              <a:gd name="adj" fmla="val 3719"/>
            </a:avLst>
          </a:prstGeom>
          <a:solidFill>
            <a:srgbClr val="FBFAF7"/>
          </a:solidFill>
          <a:ln w="6350">
            <a:solidFill>
              <a:srgbClr val="DCD8CF"/>
            </a:solidFill>
            <a:prstDash val="solid"/>
          </a:ln>
        </p:spPr>
        <p:txBody>
          <a:bodyPr/>
          <a:lstStyle/>
          <a:p>
            <a:endParaRPr lang="cs-CZ" noProof="0" dirty="0">
              <a:solidFill>
                <a:srgbClr val="2336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B9AFF6C-1450-C623-A703-6B92E6256C02}"/>
              </a:ext>
            </a:extLst>
          </p:cNvPr>
          <p:cNvSpPr/>
          <p:nvPr/>
        </p:nvSpPr>
        <p:spPr>
          <a:xfrm>
            <a:off x="873337" y="1662142"/>
            <a:ext cx="474840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cs-CZ" sz="3200" b="1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Pro lékaře</a:t>
            </a:r>
            <a:endParaRPr lang="cs-CZ" sz="3200" noProof="0" dirty="0">
              <a:solidFill>
                <a:srgbClr val="2336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F47CC6F-FD01-1E51-9B07-F78ED18FBA1D}"/>
              </a:ext>
            </a:extLst>
          </p:cNvPr>
          <p:cNvSpPr/>
          <p:nvPr/>
        </p:nvSpPr>
        <p:spPr>
          <a:xfrm>
            <a:off x="794480" y="2133600"/>
            <a:ext cx="5044854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buSzPct val="100000"/>
              <a:buChar char="•"/>
            </a:pPr>
            <a:r>
              <a:rPr lang="cs-CZ" sz="2000" b="1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Rozhodovací strom: </a:t>
            </a:r>
          </a:p>
          <a:p>
            <a:pPr marL="626618" lvl="1" indent="-169418">
              <a:buSzPct val="100000"/>
              <a:buChar char="•"/>
            </a:pPr>
            <a:r>
              <a:rPr lang="cs-CZ" sz="2000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diagnóza (MKN-10) </a:t>
            </a:r>
          </a:p>
          <a:p>
            <a:pPr marL="626618" lvl="1" indent="-169418">
              <a:buSzPct val="100000"/>
              <a:buChar char="•"/>
            </a:pPr>
            <a:r>
              <a:rPr lang="cs-CZ" sz="2000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klinické stádium (časné, </a:t>
            </a:r>
            <a:r>
              <a:rPr lang="cs-CZ" sz="2000" noProof="0" dirty="0" err="1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metastatick</a:t>
            </a:r>
            <a:r>
              <a:rPr lang="cs-CZ" sz="2000" dirty="0" err="1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é</a:t>
            </a:r>
            <a:r>
              <a:rPr lang="cs-CZ" sz="200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)</a:t>
            </a:r>
            <a:endParaRPr lang="cs-CZ" sz="2000" noProof="0" dirty="0">
              <a:solidFill>
                <a:srgbClr val="233642"/>
              </a:solidFill>
              <a:latin typeface="Arial" panose="020B0604020202020204" pitchFamily="34" charset="0"/>
              <a:ea typeface="DM Sans" pitchFamily="34" charset="-122"/>
              <a:cs typeface="Arial" panose="020B0604020202020204" pitchFamily="34" charset="0"/>
            </a:endParaRPr>
          </a:p>
          <a:p>
            <a:pPr marL="626618" lvl="1" indent="-169418">
              <a:buSzPct val="100000"/>
              <a:buFontTx/>
              <a:buChar char="•"/>
            </a:pPr>
            <a:r>
              <a:rPr lang="cs-CZ" sz="200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Biomarkery (např. KRAS G12C, HER2, TMB…)</a:t>
            </a:r>
            <a:endParaRPr lang="cs-CZ" sz="2000" noProof="0" dirty="0">
              <a:solidFill>
                <a:srgbClr val="233642"/>
              </a:solidFill>
              <a:latin typeface="Arial" panose="020B0604020202020204" pitchFamily="34" charset="0"/>
              <a:ea typeface="DM Sans" pitchFamily="34" charset="-122"/>
              <a:cs typeface="Arial" panose="020B0604020202020204" pitchFamily="34" charset="0"/>
            </a:endParaRPr>
          </a:p>
          <a:p>
            <a:pPr marL="626618" lvl="1" indent="-169418">
              <a:buSzPct val="100000"/>
              <a:buChar char="•"/>
            </a:pPr>
            <a:r>
              <a:rPr lang="cs-CZ" sz="2000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linie léčby (</a:t>
            </a:r>
            <a:r>
              <a:rPr lang="cs-CZ" sz="2000" noProof="0" dirty="0" err="1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neo</a:t>
            </a:r>
            <a:r>
              <a:rPr lang="cs-CZ" sz="2000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/</a:t>
            </a:r>
            <a:r>
              <a:rPr lang="cs-CZ" sz="2000" noProof="0" dirty="0" err="1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adjuvance</a:t>
            </a:r>
            <a:r>
              <a:rPr lang="cs-CZ" sz="2000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, paliativní)</a:t>
            </a:r>
          </a:p>
          <a:p>
            <a:pPr marL="169418" indent="-169418">
              <a:buSzPct val="100000"/>
              <a:buFontTx/>
              <a:buChar char="•"/>
            </a:pPr>
            <a:r>
              <a:rPr lang="cs-CZ" sz="2000" b="1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Časová úspora </a:t>
            </a:r>
            <a:r>
              <a:rPr lang="cs-CZ" sz="2000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prvotního nalezení vhodné klinické studie</a:t>
            </a:r>
            <a:endParaRPr lang="cs-CZ" sz="2000" noProof="0" dirty="0">
              <a:solidFill>
                <a:srgbClr val="233642"/>
              </a:solidFill>
              <a:latin typeface="Arial" panose="020B0604020202020204" pitchFamily="34" charset="0"/>
              <a:ea typeface="DM Sans" pitchFamily="34" charset="-122"/>
              <a:cs typeface="Arial" panose="020B0604020202020204" pitchFamily="34" charset="0"/>
            </a:endParaRPr>
          </a:p>
          <a:p>
            <a:pPr marL="169418" indent="-169418" algn="l">
              <a:buSzPct val="100000"/>
              <a:buChar char="•"/>
            </a:pPr>
            <a:r>
              <a:rPr lang="cs-CZ" sz="2000" b="1" noProof="0" dirty="0" err="1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Referral</a:t>
            </a:r>
            <a:r>
              <a:rPr lang="cs-CZ" sz="2000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zpráva přímo studijní koordinátorce</a:t>
            </a:r>
          </a:p>
          <a:p>
            <a:pPr marL="169418" indent="-169418">
              <a:buSzPct val="100000"/>
              <a:buFontTx/>
              <a:buChar char="•"/>
            </a:pPr>
            <a:r>
              <a:rPr lang="cs-CZ" sz="2000" b="1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2. etapa</a:t>
            </a:r>
            <a:r>
              <a:rPr lang="cs-CZ" sz="2000" b="1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: rozšíření funkčního řešení do celé sítě Komplexních onkologických center v ČR </a:t>
            </a:r>
            <a:endParaRPr lang="cs-CZ" sz="2000" b="1" noProof="0" dirty="0">
              <a:solidFill>
                <a:srgbClr val="233642"/>
              </a:solidFill>
              <a:latin typeface="Arial" panose="020B0604020202020204" pitchFamily="34" charset="0"/>
              <a:ea typeface="DM Sans" pitchFamily="34" charset="-122"/>
              <a:cs typeface="Arial" panose="020B0604020202020204" pitchFamily="34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336B84C3-5F3C-F073-DEBE-0B8D7B390537}"/>
              </a:ext>
            </a:extLst>
          </p:cNvPr>
          <p:cNvSpPr/>
          <p:nvPr/>
        </p:nvSpPr>
        <p:spPr>
          <a:xfrm>
            <a:off x="6158036" y="1358180"/>
            <a:ext cx="5479328" cy="5103580"/>
          </a:xfrm>
          <a:prstGeom prst="roundRect">
            <a:avLst>
              <a:gd name="adj" fmla="val 3719"/>
            </a:avLst>
          </a:prstGeom>
          <a:solidFill>
            <a:srgbClr val="FBFAF7"/>
          </a:solidFill>
          <a:ln w="6350">
            <a:solidFill>
              <a:srgbClr val="DCD8CF"/>
            </a:solidFill>
            <a:prstDash val="solid"/>
          </a:ln>
        </p:spPr>
        <p:txBody>
          <a:bodyPr/>
          <a:lstStyle/>
          <a:p>
            <a:endParaRPr lang="cs-CZ" noProof="0" dirty="0">
              <a:solidFill>
                <a:srgbClr val="2336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72FC0DA-5E3A-BB0D-5593-A62F8CA8794E}"/>
              </a:ext>
            </a:extLst>
          </p:cNvPr>
          <p:cNvSpPr/>
          <p:nvPr/>
        </p:nvSpPr>
        <p:spPr>
          <a:xfrm>
            <a:off x="6475730" y="1662142"/>
            <a:ext cx="474840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cs-CZ" sz="3200" b="1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Pro pacienty</a:t>
            </a:r>
            <a:endParaRPr lang="cs-CZ" sz="3200" noProof="0" dirty="0">
              <a:solidFill>
                <a:srgbClr val="2336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12E65EB-28AA-6B39-E2D4-1B32C8C8EDDC}"/>
              </a:ext>
            </a:extLst>
          </p:cNvPr>
          <p:cNvSpPr/>
          <p:nvPr/>
        </p:nvSpPr>
        <p:spPr>
          <a:xfrm>
            <a:off x="6475730" y="2133600"/>
            <a:ext cx="4656201" cy="3948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buSzPct val="100000"/>
              <a:buChar char="•"/>
            </a:pPr>
            <a:r>
              <a:rPr lang="cs-CZ" sz="2000" b="1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Vyhledávání v češtině </a:t>
            </a:r>
            <a:r>
              <a:rPr lang="cs-CZ" sz="2000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s vysvětlením odborných pojmů</a:t>
            </a:r>
          </a:p>
          <a:p>
            <a:pPr marL="169418" indent="-169418" algn="l">
              <a:buSzPct val="100000"/>
              <a:buChar char="•"/>
            </a:pPr>
            <a:r>
              <a:rPr lang="cs-CZ" sz="2000" b="1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Jednoduchá orientace v aplikaci</a:t>
            </a:r>
            <a:endParaRPr lang="cs-CZ" sz="2000" b="1" noProof="0" dirty="0">
              <a:solidFill>
                <a:srgbClr val="2336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9418" indent="-169418" algn="l">
              <a:buSzPct val="100000"/>
              <a:buChar char="•"/>
            </a:pPr>
            <a:r>
              <a:rPr lang="cs-CZ" sz="2000" b="1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Využití AI ke </a:t>
            </a:r>
            <a:r>
              <a:rPr lang="cs-CZ" sz="2000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zpracování nahrané anonymizované zprávy, lokální LLM vyplní parametry</a:t>
            </a:r>
          </a:p>
          <a:p>
            <a:pPr marL="169418" indent="-169418" algn="l">
              <a:buSzPct val="100000"/>
              <a:buChar char="•"/>
            </a:pPr>
            <a:r>
              <a:rPr lang="cs-CZ" sz="2000" b="1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Bezpečnost zpracování a ochrana dat</a:t>
            </a:r>
          </a:p>
          <a:p>
            <a:pPr marL="169418" indent="-169418" algn="l">
              <a:buSzPct val="100000"/>
              <a:buChar char="•"/>
            </a:pPr>
            <a:r>
              <a:rPr lang="cs-CZ" sz="2000" b="1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etapa: </a:t>
            </a:r>
            <a:r>
              <a:rPr lang="cs-CZ" sz="2000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jednoduché vyhledávání klinické studie </a:t>
            </a:r>
            <a:r>
              <a:rPr lang="cs-CZ" sz="2000" b="1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 celé ČR </a:t>
            </a:r>
            <a:endParaRPr lang="cs-CZ" sz="2000" b="1" noProof="0" dirty="0">
              <a:solidFill>
                <a:srgbClr val="2336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368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0A134-B2C3-C642-6456-151EEB5D7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F9FB4C-1607-4435-2474-1B06DB3909DB}"/>
              </a:ext>
            </a:extLst>
          </p:cNvPr>
          <p:cNvSpPr/>
          <p:nvPr/>
        </p:nvSpPr>
        <p:spPr>
          <a:xfrm>
            <a:off x="0" y="0"/>
            <a:ext cx="12192000" cy="956441"/>
          </a:xfrm>
          <a:prstGeom prst="rect">
            <a:avLst/>
          </a:prstGeom>
          <a:solidFill>
            <a:srgbClr val="F04600"/>
          </a:solidFill>
          <a:ln>
            <a:solidFill>
              <a:srgbClr val="F04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6D8B9EE-1393-6223-332B-34767399F338}"/>
              </a:ext>
            </a:extLst>
          </p:cNvPr>
          <p:cNvSpPr txBox="1">
            <a:spLocks/>
          </p:cNvSpPr>
          <p:nvPr/>
        </p:nvSpPr>
        <p:spPr>
          <a:xfrm>
            <a:off x="244019" y="169210"/>
            <a:ext cx="10515600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noProof="0" dirty="0">
                <a:solidFill>
                  <a:schemeClr val="bg1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Vstupní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060609-CCD1-6CDE-797A-244FB4DB827B}"/>
              </a:ext>
            </a:extLst>
          </p:cNvPr>
          <p:cNvSpPr txBox="1"/>
          <p:nvPr/>
        </p:nvSpPr>
        <p:spPr>
          <a:xfrm>
            <a:off x="560953" y="1040338"/>
            <a:ext cx="10303563" cy="995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Arial"/>
              </a:defRPr>
            </a:pPr>
            <a:r>
              <a:rPr lang="cs-CZ" noProof="0" dirty="0"/>
              <a:t>1. Export běžících studií z NIS (SONIS)</a:t>
            </a:r>
          </a:p>
          <a:p>
            <a:pPr>
              <a:spcBef>
                <a:spcPts val="400"/>
              </a:spcBef>
              <a:defRPr sz="1150" b="1">
                <a:solidFill>
                  <a:srgbClr val="0284C7"/>
                </a:solidFill>
                <a:latin typeface="Arial"/>
              </a:defRPr>
            </a:pPr>
            <a:r>
              <a:rPr lang="cs-CZ" sz="1400" noProof="0" dirty="0">
                <a:solidFill>
                  <a:srgbClr val="0D9488"/>
                </a:solidFill>
              </a:rPr>
              <a:t>Formát: Soubor .</a:t>
            </a:r>
            <a:r>
              <a:rPr lang="cs-CZ" sz="1400" noProof="0" dirty="0" err="1">
                <a:solidFill>
                  <a:srgbClr val="0D9488"/>
                </a:solidFill>
              </a:rPr>
              <a:t>csv</a:t>
            </a:r>
            <a:r>
              <a:rPr lang="cs-CZ" sz="1400" noProof="0" dirty="0">
                <a:solidFill>
                  <a:srgbClr val="0D9488"/>
                </a:solidFill>
              </a:rPr>
              <a:t> — aktuální export studií s otevřeným náborem v MOÚ.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rPr lang="cs-CZ" sz="1400" noProof="0" dirty="0"/>
              <a:t>Specifikace: Obsahuje strukturované parametry otevřených studií. Sloupec přímého kontaktu/klapky na studijní koordinátory (SC) bude doplněn doplňkovým adresářem.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D53DA0-6E0E-8DE8-773B-E051479FA904}"/>
              </a:ext>
            </a:extLst>
          </p:cNvPr>
          <p:cNvSpPr txBox="1"/>
          <p:nvPr/>
        </p:nvSpPr>
        <p:spPr>
          <a:xfrm>
            <a:off x="560953" y="4889629"/>
            <a:ext cx="11193900" cy="7797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B2545"/>
                </a:solidFill>
                <a:latin typeface="Arial"/>
              </a:defRPr>
            </a:pPr>
            <a:r>
              <a:rPr lang="cs-CZ" noProof="0" dirty="0"/>
              <a:t>5. Testovací set pacientských kazuistik</a:t>
            </a:r>
          </a:p>
          <a:p>
            <a:pPr>
              <a:spcBef>
                <a:spcPts val="400"/>
              </a:spcBef>
              <a:defRPr sz="1150" b="1">
                <a:solidFill>
                  <a:srgbClr val="6366F1"/>
                </a:solidFill>
                <a:latin typeface="Arial"/>
              </a:defRPr>
            </a:pPr>
            <a:r>
              <a:rPr lang="cs-CZ" sz="1400" noProof="0" dirty="0">
                <a:solidFill>
                  <a:srgbClr val="0D9488"/>
                </a:solidFill>
              </a:rPr>
              <a:t>Formát: Anonymizované/syntetické profily a textové nálezy ≥ 10 pacientů.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rPr lang="cs-CZ" sz="1400" noProof="0" dirty="0"/>
              <a:t>Využití: Validace přesnosti rozhodovacího stromu a testování pokročilé funkce extrakce klinických parametrů pomocí lokálního LLM.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EBF8F3-3A42-0C34-CEB0-8E9D96628021}"/>
              </a:ext>
            </a:extLst>
          </p:cNvPr>
          <p:cNvSpPr txBox="1"/>
          <p:nvPr/>
        </p:nvSpPr>
        <p:spPr>
          <a:xfrm>
            <a:off x="560953" y="2983027"/>
            <a:ext cx="10423879" cy="7284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B2545"/>
                </a:solidFill>
                <a:latin typeface="Arial"/>
              </a:defRPr>
            </a:pPr>
            <a:r>
              <a:rPr lang="cs-CZ" sz="1600" noProof="0" dirty="0"/>
              <a:t>3. Číselník biomarkerů</a:t>
            </a:r>
          </a:p>
          <a:p>
            <a:pPr>
              <a:spcBef>
                <a:spcPts val="200"/>
              </a:spcBef>
              <a:defRPr sz="1100" b="1">
                <a:solidFill>
                  <a:srgbClr val="0D9488"/>
                </a:solidFill>
                <a:latin typeface="Arial"/>
              </a:defRPr>
            </a:pPr>
            <a:r>
              <a:rPr lang="cs-CZ" sz="1400" noProof="0" dirty="0"/>
              <a:t>Formát: Soubor .</a:t>
            </a:r>
            <a:r>
              <a:rPr lang="cs-CZ" sz="1400" noProof="0" dirty="0" err="1"/>
              <a:t>xlsx</a:t>
            </a:r>
            <a:r>
              <a:rPr lang="cs-CZ" sz="1400" noProof="0" dirty="0"/>
              <a:t> + náhled formulářového rozhraní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rPr lang="cs-CZ" sz="1400" noProof="0" dirty="0"/>
              <a:t>Standardizovaný číselník onkologických biomarkerů a </a:t>
            </a:r>
            <a:r>
              <a:rPr lang="cs-CZ" sz="1400" noProof="0" dirty="0" err="1"/>
              <a:t>genomických</a:t>
            </a:r>
            <a:r>
              <a:rPr lang="cs-CZ" sz="1400" noProof="0" dirty="0"/>
              <a:t> alterací (KRAS, HER2, TMB...) pro rozhodovací strom.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DDA8BB-C7D9-6558-3FF1-A76BDD244666}"/>
              </a:ext>
            </a:extLst>
          </p:cNvPr>
          <p:cNvSpPr txBox="1"/>
          <p:nvPr/>
        </p:nvSpPr>
        <p:spPr>
          <a:xfrm>
            <a:off x="560953" y="3811667"/>
            <a:ext cx="10363721" cy="11541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B2545"/>
                </a:solidFill>
                <a:latin typeface="Arial"/>
              </a:defRPr>
            </a:pPr>
            <a:r>
              <a:rPr lang="cs-CZ" sz="1600" noProof="0" dirty="0"/>
              <a:t>4. Klasifikace MKN-10 a TNM</a:t>
            </a:r>
          </a:p>
          <a:p>
            <a:pPr>
              <a:spcBef>
                <a:spcPts val="200"/>
              </a:spcBef>
              <a:defRPr sz="1100" b="1">
                <a:solidFill>
                  <a:srgbClr val="0D9488"/>
                </a:solidFill>
                <a:latin typeface="Arial"/>
              </a:defRPr>
            </a:pPr>
            <a:r>
              <a:rPr lang="cs-CZ" sz="1400" noProof="0" dirty="0"/>
              <a:t>Formát: TNM: dvojice souborů </a:t>
            </a:r>
            <a:r>
              <a:rPr lang="cs-CZ" sz="1400" noProof="0" dirty="0" err="1"/>
              <a:t>cis_stadium.csv</a:t>
            </a:r>
            <a:r>
              <a:rPr lang="cs-CZ" sz="1400" noProof="0" dirty="0"/>
              <a:t> a </a:t>
            </a:r>
            <a:r>
              <a:rPr lang="cs-CZ" sz="1400" noProof="0" dirty="0" err="1"/>
              <a:t>cis_skupina.csv</a:t>
            </a:r>
            <a:r>
              <a:rPr lang="cs-CZ" sz="1400" noProof="0" dirty="0"/>
              <a:t>, MKN: odkaz na oficiální publikaci a klasifikaci ÚZIS ČR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rPr lang="cs-CZ" sz="1400" noProof="0" dirty="0"/>
              <a:t>Číselník pro přesné určení a mapování klinického stadia onemocnění pacienta. Standardizované mezinárodní kódování diagnóz pro filtrování a párování studií.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Arial"/>
              </a:defRPr>
            </a:pPr>
            <a:endParaRPr lang="cs-CZ" sz="1200" noProof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1DA9FB-B850-142E-7065-709EE0F5F3FD}"/>
              </a:ext>
            </a:extLst>
          </p:cNvPr>
          <p:cNvSpPr txBox="1"/>
          <p:nvPr/>
        </p:nvSpPr>
        <p:spPr>
          <a:xfrm>
            <a:off x="560953" y="2115184"/>
            <a:ext cx="10857015" cy="9592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B2545"/>
                </a:solidFill>
                <a:latin typeface="Arial"/>
              </a:defRPr>
            </a:pPr>
            <a:r>
              <a:rPr lang="cs-CZ" sz="1600" noProof="0" dirty="0"/>
              <a:t>2. Online dostupné databáze klinických studií</a:t>
            </a:r>
          </a:p>
          <a:p>
            <a:pPr>
              <a:spcBef>
                <a:spcPts val="200"/>
              </a:spcBef>
              <a:defRPr sz="1100" b="1">
                <a:solidFill>
                  <a:srgbClr val="0D9488"/>
                </a:solidFill>
                <a:latin typeface="Arial"/>
              </a:defRPr>
            </a:pPr>
            <a:r>
              <a:rPr lang="cs-CZ" sz="1400" noProof="0" dirty="0"/>
              <a:t>Formát: webové stránky </a:t>
            </a:r>
            <a:r>
              <a:rPr lang="cs-CZ" sz="1400" noProof="0" dirty="0" err="1"/>
              <a:t>Euclinicaltrials.eu</a:t>
            </a:r>
            <a:r>
              <a:rPr lang="cs-CZ" sz="1400" noProof="0" dirty="0"/>
              <a:t> a </a:t>
            </a:r>
            <a:r>
              <a:rPr lang="cs-CZ" sz="1400" noProof="0" dirty="0" err="1"/>
              <a:t>ClinicalTrials.gov</a:t>
            </a:r>
            <a:endParaRPr lang="cs-CZ" sz="1400" noProof="0" dirty="0"/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rPr lang="cs-CZ" sz="1400" noProof="0" dirty="0"/>
              <a:t>Globální a evropské oficiální registry klinických studií pro dohledání detailních protokolů, NCT kódů a ověření </a:t>
            </a:r>
            <a:r>
              <a:rPr lang="cs-CZ" sz="1400" noProof="0" dirty="0" err="1"/>
              <a:t>eligibility</a:t>
            </a:r>
            <a:r>
              <a:rPr lang="cs-CZ" sz="1400" noProof="0" dirty="0"/>
              <a:t>.</a:t>
            </a:r>
          </a:p>
          <a:p>
            <a:pPr>
              <a:defRPr sz="1500" b="1">
                <a:solidFill>
                  <a:srgbClr val="0B2545"/>
                </a:solidFill>
                <a:latin typeface="Arial"/>
              </a:defRPr>
            </a:pPr>
            <a:endParaRPr lang="cs-CZ" noProof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B74406-388B-0353-5BC1-C6D2A244EE1C}"/>
              </a:ext>
            </a:extLst>
          </p:cNvPr>
          <p:cNvSpPr txBox="1"/>
          <p:nvPr/>
        </p:nvSpPr>
        <p:spPr>
          <a:xfrm>
            <a:off x="469513" y="5805918"/>
            <a:ext cx="74094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600" b="1" noProof="0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Inspirace:</a:t>
            </a:r>
          </a:p>
          <a:p>
            <a:r>
              <a:rPr lang="cs-CZ" sz="1400" noProof="0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Příklady: </a:t>
            </a:r>
            <a:r>
              <a:rPr lang="cs-CZ" sz="1400" noProof="0" dirty="0" err="1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en.trialing.org</a:t>
            </a:r>
            <a:r>
              <a:rPr lang="cs-CZ" sz="1400" noProof="0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cs-CZ" sz="1400" noProof="0" dirty="0" err="1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www.klineo.com</a:t>
            </a:r>
            <a:endParaRPr lang="cs-CZ" sz="1400" noProof="0" dirty="0">
              <a:solidFill>
                <a:srgbClr val="2336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1400" noProof="0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Částečně fungující online nástroje pro vyhledávání klinických studií mimo Českou republiku</a:t>
            </a:r>
          </a:p>
        </p:txBody>
      </p:sp>
    </p:spTree>
    <p:extLst>
      <p:ext uri="{BB962C8B-B14F-4D97-AF65-F5344CB8AC3E}">
        <p14:creationId xmlns:p14="http://schemas.microsoft.com/office/powerpoint/2010/main" val="274582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9F90B-D7F2-2F04-D893-7A285AB53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581833-4CF4-88FA-BDFB-76F926886DF7}"/>
              </a:ext>
            </a:extLst>
          </p:cNvPr>
          <p:cNvSpPr/>
          <p:nvPr/>
        </p:nvSpPr>
        <p:spPr>
          <a:xfrm>
            <a:off x="0" y="0"/>
            <a:ext cx="12192000" cy="956441"/>
          </a:xfrm>
          <a:prstGeom prst="rect">
            <a:avLst/>
          </a:prstGeom>
          <a:solidFill>
            <a:srgbClr val="F04600"/>
          </a:solidFill>
          <a:ln>
            <a:solidFill>
              <a:srgbClr val="F04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E8C8AE-601E-647E-9CDF-FDDEB6E61A99}"/>
              </a:ext>
            </a:extLst>
          </p:cNvPr>
          <p:cNvSpPr txBox="1">
            <a:spLocks/>
          </p:cNvSpPr>
          <p:nvPr/>
        </p:nvSpPr>
        <p:spPr>
          <a:xfrm>
            <a:off x="244019" y="169210"/>
            <a:ext cx="10515600" cy="690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noProof="0" dirty="0">
                <a:solidFill>
                  <a:schemeClr val="bg1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Očekávání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82ADAF2-54AC-6D37-3616-0BAF2571B18E}"/>
              </a:ext>
            </a:extLst>
          </p:cNvPr>
          <p:cNvSpPr/>
          <p:nvPr/>
        </p:nvSpPr>
        <p:spPr>
          <a:xfrm>
            <a:off x="456118" y="1295400"/>
            <a:ext cx="11232962" cy="518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244921" indent="-244921" algn="l">
              <a:lnSpc>
                <a:spcPct val="150000"/>
              </a:lnSpc>
              <a:buSzPct val="100000"/>
              <a:buFontTx/>
              <a:buAutoNum type="arabicPeriod"/>
            </a:pPr>
            <a:r>
              <a:rPr lang="cs-CZ" sz="2400" b="1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Funkční webový prototyp s importem dat studií MOÚ</a:t>
            </a:r>
          </a:p>
          <a:p>
            <a:pPr lvl="1">
              <a:buSzPct val="100000"/>
            </a:pPr>
            <a:r>
              <a:rPr lang="cs-CZ" sz="2400" noProof="0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Funkční prototyp s otestovaným načtením exportu běžících studií z nemocničního systému SONIS (.</a:t>
            </a:r>
            <a:r>
              <a:rPr lang="cs-CZ" sz="2400" noProof="0" dirty="0" err="1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csv</a:t>
            </a:r>
            <a:r>
              <a:rPr lang="cs-CZ" sz="2400" noProof="0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a standardizovaného číselníku biomarkerů.</a:t>
            </a:r>
          </a:p>
          <a:p>
            <a:pPr lvl="1">
              <a:lnSpc>
                <a:spcPct val="150000"/>
              </a:lnSpc>
              <a:buSzPct val="100000"/>
            </a:pPr>
            <a:endParaRPr lang="cs-CZ" sz="2400" noProof="0" dirty="0">
              <a:solidFill>
                <a:srgbClr val="2336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4921" indent="-244921" algn="l">
              <a:lnSpc>
                <a:spcPct val="150000"/>
              </a:lnSpc>
              <a:buSzPct val="100000"/>
              <a:buFontTx/>
              <a:buAutoNum type="arabicPeriod"/>
            </a:pPr>
            <a:r>
              <a:rPr lang="cs-CZ" sz="2400" b="1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Ověřený průchod rozhodovacím stromem na testovacím setu 5 kazuistik</a:t>
            </a:r>
          </a:p>
          <a:p>
            <a:pPr lvl="1">
              <a:lnSpc>
                <a:spcPct val="110000"/>
              </a:lnSpc>
              <a:buSzPct val="100000"/>
            </a:pPr>
            <a:r>
              <a:rPr lang="cs-CZ" sz="2400" noProof="0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Průchod rozhodovacím systémem pro lékaře i pacienta na testovacím setu 5 reálných pacientských kazuistik.</a:t>
            </a:r>
          </a:p>
          <a:p>
            <a:pPr lvl="1">
              <a:lnSpc>
                <a:spcPct val="150000"/>
              </a:lnSpc>
              <a:buSzPct val="100000"/>
            </a:pPr>
            <a:endParaRPr lang="cs-CZ" sz="2400" noProof="0" dirty="0">
              <a:solidFill>
                <a:srgbClr val="2336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4921" indent="-244921" algn="l">
              <a:lnSpc>
                <a:spcPct val="150000"/>
              </a:lnSpc>
              <a:buSzPct val="100000"/>
              <a:buFontTx/>
              <a:buAutoNum type="arabicPeriod"/>
            </a:pPr>
            <a:r>
              <a:rPr lang="cs-CZ" sz="2400" b="1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Simulace odeslání </a:t>
            </a:r>
            <a:r>
              <a:rPr lang="cs-CZ" sz="2400" b="1" noProof="0" dirty="0" err="1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referral</a:t>
            </a:r>
            <a:r>
              <a:rPr lang="cs-CZ" sz="2400" b="1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e-mailu lékaři a studijnímu koordinátorovi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cs-CZ" sz="2400" noProof="0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Jednoduché generování a simulace odeslání strukturované </a:t>
            </a:r>
            <a:r>
              <a:rPr lang="cs-CZ" sz="2400" noProof="0" dirty="0" err="1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referral</a:t>
            </a:r>
            <a:r>
              <a:rPr lang="cs-CZ" sz="2400" noProof="0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zprávy odpovědné studijní koordinátorce.</a:t>
            </a:r>
          </a:p>
          <a:p>
            <a:pPr lvl="1">
              <a:lnSpc>
                <a:spcPct val="150000"/>
              </a:lnSpc>
              <a:buSzPct val="100000"/>
            </a:pPr>
            <a:endParaRPr lang="cs-CZ" sz="2400" noProof="0" dirty="0">
              <a:solidFill>
                <a:srgbClr val="2336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4921" indent="-244921" algn="l">
              <a:lnSpc>
                <a:spcPct val="150000"/>
              </a:lnSpc>
              <a:buSzPct val="100000"/>
              <a:buFontTx/>
              <a:buAutoNum type="arabicPeriod"/>
            </a:pPr>
            <a:r>
              <a:rPr lang="cs-CZ" sz="2400" b="1" noProof="0" dirty="0">
                <a:solidFill>
                  <a:srgbClr val="233642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Demonstrace extrakce parametrů z anonymizované zprávy lokálním LLM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cs-CZ" sz="2400" noProof="0" dirty="0">
                <a:solidFill>
                  <a:srgbClr val="2336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Funkční ukázka bezpečné automatické extrakce diagnózy, biomarkerů a stadia z anonymizovaného textu lékařské zprávy v operační paměti.</a:t>
            </a:r>
          </a:p>
        </p:txBody>
      </p:sp>
    </p:spTree>
    <p:extLst>
      <p:ext uri="{BB962C8B-B14F-4D97-AF65-F5344CB8AC3E}">
        <p14:creationId xmlns:p14="http://schemas.microsoft.com/office/powerpoint/2010/main" val="125090571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Úvodní slidy">
  <a:themeElements>
    <a:clrScheme name="MOÚ colors">
      <a:dk1>
        <a:srgbClr val="000000"/>
      </a:dk1>
      <a:lt1>
        <a:srgbClr val="FFFFFF"/>
      </a:lt1>
      <a:dk2>
        <a:srgbClr val="F04600"/>
      </a:dk2>
      <a:lt2>
        <a:srgbClr val="E7E6E6"/>
      </a:lt2>
      <a:accent1>
        <a:srgbClr val="007FC8"/>
      </a:accent1>
      <a:accent2>
        <a:srgbClr val="FFD600"/>
      </a:accent2>
      <a:accent3>
        <a:srgbClr val="008638"/>
      </a:accent3>
      <a:accent4>
        <a:srgbClr val="FBEEBC"/>
      </a:accent4>
      <a:accent5>
        <a:srgbClr val="E6007C"/>
      </a:accent5>
      <a:accent6>
        <a:srgbClr val="53C0D7"/>
      </a:accent6>
      <a:hlink>
        <a:srgbClr val="0028FF"/>
      </a:hlink>
      <a:folHlink>
        <a:srgbClr val="B438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U_CZ-prezentace_16-9_jednoducha2_Arial" id="{EDF03D12-104B-460B-8B9D-CCF68AA95882}" vid="{D835A513-D870-4987-8D16-CB5F2EBB755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772b651-04bc-470f-b087-2f0aef6308b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004813AC297174AA7CAFE14A6560AB6" ma:contentTypeVersion="10" ma:contentTypeDescription="Vytvoří nový dokument" ma:contentTypeScope="" ma:versionID="78aff5ddbab870c087ed54576109e6de">
  <xsd:schema xmlns:xsd="http://www.w3.org/2001/XMLSchema" xmlns:xs="http://www.w3.org/2001/XMLSchema" xmlns:p="http://schemas.microsoft.com/office/2006/metadata/properties" xmlns:ns3="d772b651-04bc-470f-b087-2f0aef6308b1" targetNamespace="http://schemas.microsoft.com/office/2006/metadata/properties" ma:root="true" ma:fieldsID="da60ba2e8f956fd7a696c426b3f8936d" ns3:_="">
    <xsd:import namespace="d772b651-04bc-470f-b087-2f0aef6308b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72b651-04bc-470f-b087-2f0aef6308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7112FC-C269-4FCF-B2F8-804F306F5346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d772b651-04bc-470f-b087-2f0aef6308b1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45C8196-E0CE-44F3-93AA-2AB47D5530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DE2CFE-63A5-4150-85C0-E770C16F6CB6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d772b651-04bc-470f-b087-2f0aef6308b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1904f23-f0db-4cdc-96f7-390bd55fcee8}" enabled="0" method="" siteId="{11904f23-f0db-4cdc-96f7-390bd55fcee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1774</TotalTime>
  <Words>634</Words>
  <Application>Microsoft Office PowerPoint</Application>
  <PresentationFormat>Širokoúhlá obrazovka</PresentationFormat>
  <Paragraphs>85</Paragraphs>
  <Slides>6</Slides>
  <Notes>5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6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DM Sans</vt:lpstr>
      <vt:lpstr>Helvetica Neue</vt:lpstr>
      <vt:lpstr>Motiv Office</vt:lpstr>
      <vt:lpstr>Úvodní slidy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Masaryk Memorial Cancer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Farmakoekonomika  precizní onkologie</dc:title>
  <dc:creator>MUDr. Peter Grell, Ph.D.</dc:creator>
  <cp:lastModifiedBy>MUDr. Peter Grell, Ph.D.</cp:lastModifiedBy>
  <cp:revision>351</cp:revision>
  <dcterms:created xsi:type="dcterms:W3CDTF">2025-05-16T08:28:47Z</dcterms:created>
  <dcterms:modified xsi:type="dcterms:W3CDTF">2026-10-07T06:42:22Z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0x0101007004813AC297174AA7CAFE14A6560AB6</vt:lpwstr>
  </property>
</Properties>
</file>