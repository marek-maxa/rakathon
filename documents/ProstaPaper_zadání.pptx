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0" r:id="rId1"/>
    <p:sldMasterId id="2147483653" r:id="rId2"/>
    <p:sldMasterId id="2147483691" r:id="rId3"/>
    <p:sldMasterId id="2147483657" r:id="rId4"/>
    <p:sldMasterId id="2147483665" r:id="rId5"/>
  </p:sldMasterIdLst>
  <p:sldIdLst>
    <p:sldId id="279" r:id="rId6"/>
    <p:sldId id="281" r:id="rId7"/>
    <p:sldId id="282" r:id="rId8"/>
    <p:sldId id="283" r:id="rId9"/>
    <p:sldId id="280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embeddedFontLst>
    <p:embeddedFont>
      <p:font typeface="Matter" panose="020B0604020202020204" charset="-18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 Světlá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5" autoAdjust="0"/>
    <p:restoredTop sz="94830"/>
  </p:normalViewPr>
  <p:slideViewPr>
    <p:cSldViewPr snapToGrid="0" snapToObjects="1">
      <p:cViewPr>
        <p:scale>
          <a:sx n="125" d="100"/>
          <a:sy n="125" d="100"/>
        </p:scale>
        <p:origin x="42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xmlns="" id="{28F4E0E3-0AF1-FE4E-B331-B1BA90C940E2}"/>
              </a:ext>
            </a:extLst>
          </p:cNvPr>
          <p:cNvSpPr/>
          <p:nvPr userDrawn="1"/>
        </p:nvSpPr>
        <p:spPr>
          <a:xfrm>
            <a:off x="0" y="2276475"/>
            <a:ext cx="4079875" cy="45815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xmlns="" id="{17FD59C3-1F10-A241-B244-773E743E3304}"/>
              </a:ext>
            </a:extLst>
          </p:cNvPr>
          <p:cNvSpPr/>
          <p:nvPr userDrawn="1"/>
        </p:nvSpPr>
        <p:spPr>
          <a:xfrm>
            <a:off x="4079874" y="2276476"/>
            <a:ext cx="8112125" cy="45815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pic>
        <p:nvPicPr>
          <p:cNvPr id="3" name="Obrázek 2" descr="Obsah obrázku podepsat, kreslení&#10;&#10;Popis byl vytvořen automaticky">
            <a:extLst>
              <a:ext uri="{FF2B5EF4-FFF2-40B4-BE49-F238E27FC236}">
                <a16:creationId xmlns:a16="http://schemas.microsoft.com/office/drawing/2014/main" xmlns="" id="{43C53DBD-DB89-3744-91BA-F1298F3E43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475" y="368300"/>
            <a:ext cx="1564625" cy="906708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xmlns="" id="{C747A3F6-6791-8848-983C-10E5A619F252}"/>
              </a:ext>
            </a:extLst>
          </p:cNvPr>
          <p:cNvSpPr/>
          <p:nvPr userDrawn="1"/>
        </p:nvSpPr>
        <p:spPr>
          <a:xfrm>
            <a:off x="4079875" y="0"/>
            <a:ext cx="8112125" cy="227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14" name="Zástupný text 13">
            <a:extLst>
              <a:ext uri="{FF2B5EF4-FFF2-40B4-BE49-F238E27FC236}">
                <a16:creationId xmlns:a16="http://schemas.microsoft.com/office/drawing/2014/main" xmlns="" id="{B96B24D6-942D-4046-B628-D60D6CD0B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3" y="320948"/>
            <a:ext cx="7740650" cy="177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název prezentace</a:t>
            </a:r>
          </a:p>
        </p:txBody>
      </p:sp>
      <p:sp>
        <p:nvSpPr>
          <p:cNvPr id="10" name="Zástupný text 13">
            <a:extLst>
              <a:ext uri="{FF2B5EF4-FFF2-40B4-BE49-F238E27FC236}">
                <a16:creationId xmlns:a16="http://schemas.microsoft.com/office/drawing/2014/main" xmlns="" id="{44C60111-D07D-064F-9CFD-C9F316243F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263" y="2457450"/>
            <a:ext cx="7740650" cy="190214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18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podnadpis prezentace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xmlns="" id="{55F73376-05F6-4D4A-963F-1E953E151E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9263" y="4760913"/>
            <a:ext cx="3673475" cy="54113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autora prezentace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xmlns="" id="{BB909E8F-E972-0843-83C5-D208B40E524F}"/>
              </a:ext>
            </a:extLst>
          </p:cNvPr>
          <p:cNvSpPr/>
          <p:nvPr userDrawn="1"/>
        </p:nvSpPr>
        <p:spPr>
          <a:xfrm>
            <a:off x="371475" y="6181923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www.mou.cz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xmlns="" id="{3C90913D-86E2-8945-9301-C32B7A56657B}"/>
              </a:ext>
            </a:extLst>
          </p:cNvPr>
          <p:cNvSpPr/>
          <p:nvPr userDrawn="1"/>
        </p:nvSpPr>
        <p:spPr>
          <a:xfrm>
            <a:off x="4259264" y="6181923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xmlns="" id="{C309550A-86E3-E543-B4D7-7452031C2DAE}"/>
              </a:ext>
            </a:extLst>
          </p:cNvPr>
          <p:cNvSpPr/>
          <p:nvPr userDrawn="1"/>
        </p:nvSpPr>
        <p:spPr>
          <a:xfrm>
            <a:off x="8291513" y="6028035"/>
            <a:ext cx="352901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Poskytovatel zdravotních služeb akreditovaný Organizací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evropských onkologických ústavů (OECI) a Českou společností pro akreditaci ve zdravotnictví.</a:t>
            </a:r>
          </a:p>
        </p:txBody>
      </p:sp>
      <p:sp>
        <p:nvSpPr>
          <p:cNvPr id="19" name="Zástupný text 4">
            <a:extLst>
              <a:ext uri="{FF2B5EF4-FFF2-40B4-BE49-F238E27FC236}">
                <a16:creationId xmlns:a16="http://schemas.microsoft.com/office/drawing/2014/main" xmlns="" id="{3C18ADE7-E4C9-FE4D-B3A0-00F7471259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1" y="6193498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21" name="Zástupný text 4">
            <a:extLst>
              <a:ext uri="{FF2B5EF4-FFF2-40B4-BE49-F238E27FC236}">
                <a16:creationId xmlns:a16="http://schemas.microsoft.com/office/drawing/2014/main" xmlns="" id="{B75806A0-9CE3-7640-8FD0-7D2547F92B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1" y="6362400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xmlns="" id="{AC4ACB67-665A-DB4A-A52E-7801B6215A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" y="1100583"/>
            <a:ext cx="4079873" cy="407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xmlns="" id="{17FD59C3-1F10-A241-B244-773E743E3304}"/>
              </a:ext>
            </a:extLst>
          </p:cNvPr>
          <p:cNvSpPr/>
          <p:nvPr userDrawn="1"/>
        </p:nvSpPr>
        <p:spPr>
          <a:xfrm>
            <a:off x="0" y="4581524"/>
            <a:ext cx="12191999" cy="2276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pic>
        <p:nvPicPr>
          <p:cNvPr id="3" name="Obrázek 2" descr="Obsah obrázku podepsat, kreslení&#10;&#10;Popis byl vytvořen automaticky">
            <a:extLst>
              <a:ext uri="{FF2B5EF4-FFF2-40B4-BE49-F238E27FC236}">
                <a16:creationId xmlns:a16="http://schemas.microsoft.com/office/drawing/2014/main" xmlns="" id="{43C53DBD-DB89-3744-91BA-F1298F3E43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475" y="368300"/>
            <a:ext cx="1564625" cy="906708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xmlns="" id="{C747A3F6-6791-8848-983C-10E5A619F252}"/>
              </a:ext>
            </a:extLst>
          </p:cNvPr>
          <p:cNvSpPr/>
          <p:nvPr userDrawn="1"/>
        </p:nvSpPr>
        <p:spPr>
          <a:xfrm>
            <a:off x="4079875" y="0"/>
            <a:ext cx="8112125" cy="458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14" name="Zástupný text 13">
            <a:extLst>
              <a:ext uri="{FF2B5EF4-FFF2-40B4-BE49-F238E27FC236}">
                <a16:creationId xmlns:a16="http://schemas.microsoft.com/office/drawing/2014/main" xmlns="" id="{B96B24D6-942D-4046-B628-D60D6CD0B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3" y="320948"/>
            <a:ext cx="7740650" cy="407960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název prezentace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xmlns="" id="{55F73376-05F6-4D4A-963F-1E953E151E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9263" y="4760913"/>
            <a:ext cx="3673475" cy="54113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autora prezentace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xmlns="" id="{549B6315-C59D-7547-9D1D-E21F48EAB9A5}"/>
              </a:ext>
            </a:extLst>
          </p:cNvPr>
          <p:cNvSpPr/>
          <p:nvPr userDrawn="1"/>
        </p:nvSpPr>
        <p:spPr>
          <a:xfrm>
            <a:off x="371475" y="6181923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www.mou.cz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xmlns="" id="{B218E0A2-01A4-964D-A433-61F03C603857}"/>
              </a:ext>
            </a:extLst>
          </p:cNvPr>
          <p:cNvSpPr/>
          <p:nvPr userDrawn="1"/>
        </p:nvSpPr>
        <p:spPr>
          <a:xfrm>
            <a:off x="4259264" y="6181923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xmlns="" id="{A3AB1D1D-C260-A74B-BB86-E8044736B6EA}"/>
              </a:ext>
            </a:extLst>
          </p:cNvPr>
          <p:cNvSpPr/>
          <p:nvPr userDrawn="1"/>
        </p:nvSpPr>
        <p:spPr>
          <a:xfrm>
            <a:off x="8291513" y="6028035"/>
            <a:ext cx="352901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Poskytovatel zdravotních služeb akreditovaný Organizací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evropských onkologických ústavů (OECI) a Českou společností pro akreditaci ve zdravotnictví.</a:t>
            </a:r>
          </a:p>
        </p:txBody>
      </p:sp>
      <p:sp>
        <p:nvSpPr>
          <p:cNvPr id="18" name="Zástupný text 4">
            <a:extLst>
              <a:ext uri="{FF2B5EF4-FFF2-40B4-BE49-F238E27FC236}">
                <a16:creationId xmlns:a16="http://schemas.microsoft.com/office/drawing/2014/main" xmlns="" id="{E8DD2B7C-38B3-824F-9F68-DAF70F7C75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1" y="6193498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19" name="Zástupný text 4">
            <a:extLst>
              <a:ext uri="{FF2B5EF4-FFF2-40B4-BE49-F238E27FC236}">
                <a16:creationId xmlns:a16="http://schemas.microsoft.com/office/drawing/2014/main" xmlns="" id="{3A88BB5E-B126-0D47-9795-B5A41A0AB0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1" y="6362400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xmlns="" id="{81254DE2-4B39-8F40-B025-EFFBE841DB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0509" b="50000"/>
          <a:stretch/>
        </p:blipFill>
        <p:spPr>
          <a:xfrm>
            <a:off x="2261" y="3429000"/>
            <a:ext cx="4082017" cy="34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5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tex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xmlns="" id="{28F4E0E3-0AF1-FE4E-B331-B1BA90C940E2}"/>
              </a:ext>
            </a:extLst>
          </p:cNvPr>
          <p:cNvSpPr/>
          <p:nvPr userDrawn="1"/>
        </p:nvSpPr>
        <p:spPr>
          <a:xfrm>
            <a:off x="0" y="0"/>
            <a:ext cx="4079875" cy="45815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xmlns="" id="{8088404E-FC53-704D-9113-AB8C3FEAEFEA}"/>
              </a:ext>
            </a:extLst>
          </p:cNvPr>
          <p:cNvSpPr/>
          <p:nvPr userDrawn="1"/>
        </p:nvSpPr>
        <p:spPr>
          <a:xfrm>
            <a:off x="371475" y="6181923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www.mou.cz</a:t>
            </a:r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xmlns="" id="{C747A3F6-6791-8848-983C-10E5A619F252}"/>
              </a:ext>
            </a:extLst>
          </p:cNvPr>
          <p:cNvSpPr/>
          <p:nvPr userDrawn="1"/>
        </p:nvSpPr>
        <p:spPr>
          <a:xfrm>
            <a:off x="4079875" y="0"/>
            <a:ext cx="8112125" cy="4581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14" name="Zástupný text 13">
            <a:extLst>
              <a:ext uri="{FF2B5EF4-FFF2-40B4-BE49-F238E27FC236}">
                <a16:creationId xmlns:a16="http://schemas.microsoft.com/office/drawing/2014/main" xmlns="" id="{B96B24D6-942D-4046-B628-D60D6CD0B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3" y="320948"/>
            <a:ext cx="7740650" cy="177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název prezentace</a:t>
            </a:r>
          </a:p>
        </p:txBody>
      </p:sp>
      <p:sp>
        <p:nvSpPr>
          <p:cNvPr id="10" name="Zástupný text 13">
            <a:extLst>
              <a:ext uri="{FF2B5EF4-FFF2-40B4-BE49-F238E27FC236}">
                <a16:creationId xmlns:a16="http://schemas.microsoft.com/office/drawing/2014/main" xmlns="" id="{44C60111-D07D-064F-9CFD-C9F316243F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263" y="2457450"/>
            <a:ext cx="7740650" cy="190214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18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podnadpis prezentace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xmlns="" id="{55F73376-05F6-4D4A-963F-1E953E151E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9263" y="4760913"/>
            <a:ext cx="3673475" cy="54113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autora prezentace</a:t>
            </a:r>
          </a:p>
        </p:txBody>
      </p:sp>
      <p:pic>
        <p:nvPicPr>
          <p:cNvPr id="15" name="Obrázek 14" descr="Obsah obrázku hodiny, podepsat, talíř, místnost&#10;&#10;Popis byl vytvořen automaticky">
            <a:extLst>
              <a:ext uri="{FF2B5EF4-FFF2-40B4-BE49-F238E27FC236}">
                <a16:creationId xmlns:a16="http://schemas.microsoft.com/office/drawing/2014/main" xmlns="" id="{FF4A0F64-A05C-D841-AC7D-D76E6E68E7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4044" y="5880918"/>
            <a:ext cx="786481" cy="608782"/>
          </a:xfrm>
          <a:prstGeom prst="rect">
            <a:avLst/>
          </a:prstGeom>
        </p:spPr>
      </p:pic>
      <p:pic>
        <p:nvPicPr>
          <p:cNvPr id="17" name="Obrázek 16" descr="Obsah obrázku kreslení, jídlo&#10;&#10;Popis byl vytvořen automaticky">
            <a:extLst>
              <a:ext uri="{FF2B5EF4-FFF2-40B4-BE49-F238E27FC236}">
                <a16:creationId xmlns:a16="http://schemas.microsoft.com/office/drawing/2014/main" xmlns="" id="{0083ED59-CA07-6A45-B40B-BB420FEB2E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8971" y="5948986"/>
            <a:ext cx="1507125" cy="504618"/>
          </a:xfrm>
          <a:prstGeom prst="rect">
            <a:avLst/>
          </a:prstGeom>
        </p:spPr>
      </p:pic>
      <p:pic>
        <p:nvPicPr>
          <p:cNvPr id="18" name="Obrázek 17" descr="Obsah obrázku kreslení&#10;&#10;Popis byl vytvořen automaticky">
            <a:extLst>
              <a:ext uri="{FF2B5EF4-FFF2-40B4-BE49-F238E27FC236}">
                <a16:creationId xmlns:a16="http://schemas.microsoft.com/office/drawing/2014/main" xmlns="" id="{FD8CD393-2F34-3D42-9002-5B1D6ECA2E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1475" y="368300"/>
            <a:ext cx="1565275" cy="907085"/>
          </a:xfrm>
          <a:prstGeom prst="rect">
            <a:avLst/>
          </a:prstGeom>
        </p:spPr>
      </p:pic>
      <p:sp>
        <p:nvSpPr>
          <p:cNvPr id="2" name="Obdélník 1">
            <a:extLst>
              <a:ext uri="{FF2B5EF4-FFF2-40B4-BE49-F238E27FC236}">
                <a16:creationId xmlns:a16="http://schemas.microsoft.com/office/drawing/2014/main" xmlns="" id="{F9A9B418-C542-354A-A265-C3C14FE3D6A5}"/>
              </a:ext>
            </a:extLst>
          </p:cNvPr>
          <p:cNvSpPr/>
          <p:nvPr userDrawn="1"/>
        </p:nvSpPr>
        <p:spPr>
          <a:xfrm>
            <a:off x="0" y="484752"/>
            <a:ext cx="3502431" cy="6257087"/>
          </a:xfrm>
          <a:prstGeom prst="rect">
            <a:avLst/>
          </a:prstGeom>
          <a:blipFill>
            <a:blip r:embed="rId5"/>
            <a:stretch>
              <a:fillRect l="-117014" b="-2498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xmlns="" id="{D1C74BF1-420C-7A40-BBFB-5A39A867D995}"/>
              </a:ext>
            </a:extLst>
          </p:cNvPr>
          <p:cNvSpPr/>
          <p:nvPr userDrawn="1"/>
        </p:nvSpPr>
        <p:spPr>
          <a:xfrm>
            <a:off x="4259264" y="6181923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9" name="Zástupný text 4">
            <a:extLst>
              <a:ext uri="{FF2B5EF4-FFF2-40B4-BE49-F238E27FC236}">
                <a16:creationId xmlns:a16="http://schemas.microsoft.com/office/drawing/2014/main" xmlns="" id="{98EEB21B-FE51-C84C-93F2-266DC2C98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1" y="6193498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21" name="Zástupný text 4">
            <a:extLst>
              <a:ext uri="{FF2B5EF4-FFF2-40B4-BE49-F238E27FC236}">
                <a16:creationId xmlns:a16="http://schemas.microsoft.com/office/drawing/2014/main" xmlns="" id="{58B0D7DF-2B03-994E-86FE-BB07FC0A5B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1" y="6362400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</p:spTree>
    <p:extLst>
      <p:ext uri="{BB962C8B-B14F-4D97-AF65-F5344CB8AC3E}">
        <p14:creationId xmlns:p14="http://schemas.microsoft.com/office/powerpoint/2010/main" val="352886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text 7">
            <a:extLst>
              <a:ext uri="{FF2B5EF4-FFF2-40B4-BE49-F238E27FC236}">
                <a16:creationId xmlns:a16="http://schemas.microsoft.com/office/drawing/2014/main" xmlns="" id="{CEC8C3D5-99DB-8043-B33C-85B533B1D6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944506"/>
            <a:ext cx="114363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Obsah prezentace</a:t>
            </a:r>
          </a:p>
        </p:txBody>
      </p:sp>
      <p:sp>
        <p:nvSpPr>
          <p:cNvPr id="14" name="Zástupný text 7">
            <a:extLst>
              <a:ext uri="{FF2B5EF4-FFF2-40B4-BE49-F238E27FC236}">
                <a16:creationId xmlns:a16="http://schemas.microsoft.com/office/drawing/2014/main" xmlns="" id="{2D6E4D36-38F9-C849-9DEB-DF10E87D5B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763642"/>
            <a:ext cx="11449050" cy="4726058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ts val="2500"/>
              </a:lnSpc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První kapitola</a:t>
            </a:r>
          </a:p>
          <a:p>
            <a:pPr lvl="0"/>
            <a:r>
              <a:rPr lang="cs-CZ" dirty="0"/>
              <a:t>Druhá kapitola</a:t>
            </a:r>
          </a:p>
          <a:p>
            <a:pPr lvl="0"/>
            <a:r>
              <a:rPr lang="cs-CZ" dirty="0"/>
              <a:t>Třetí kapitola</a:t>
            </a:r>
          </a:p>
          <a:p>
            <a:pPr lvl="0"/>
            <a:r>
              <a:rPr lang="cs-CZ" dirty="0"/>
              <a:t>Čtvrtá kapitola</a:t>
            </a:r>
          </a:p>
          <a:p>
            <a:pPr lvl="0"/>
            <a:r>
              <a:rPr lang="cs-CZ" dirty="0"/>
              <a:t>Pátá kapitola</a:t>
            </a:r>
          </a:p>
          <a:p>
            <a:pPr lvl="0"/>
            <a:r>
              <a:rPr lang="cs-CZ" dirty="0"/>
              <a:t>Šestá kapitola</a:t>
            </a:r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xmlns="" id="{7F8E26DB-A751-144B-9C65-17C05B2DC5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68690" b="5371"/>
          <a:stretch/>
        </p:blipFill>
        <p:spPr>
          <a:xfrm>
            <a:off x="10033414" y="368300"/>
            <a:ext cx="2145887" cy="648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5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kapito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text 13">
            <a:extLst>
              <a:ext uri="{FF2B5EF4-FFF2-40B4-BE49-F238E27FC236}">
                <a16:creationId xmlns:a16="http://schemas.microsoft.com/office/drawing/2014/main" xmlns="" id="{6F653789-1BBC-3D44-83D7-0428E1851C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007587"/>
            <a:ext cx="11449050" cy="54821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ts val="54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Název kapitoly</a:t>
            </a:r>
          </a:p>
        </p:txBody>
      </p:sp>
      <p:pic>
        <p:nvPicPr>
          <p:cNvPr id="10" name="Obrázek 9" descr="Obsah obrázku jídlo&#10;&#10;Popis byl vytvořen automaticky">
            <a:extLst>
              <a:ext uri="{FF2B5EF4-FFF2-40B4-BE49-F238E27FC236}">
                <a16:creationId xmlns:a16="http://schemas.microsoft.com/office/drawing/2014/main" xmlns="" id="{C0442C43-E74B-694A-9EFA-5F51D04013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467" t="27844"/>
          <a:stretch/>
        </p:blipFill>
        <p:spPr>
          <a:xfrm rot="10800000">
            <a:off x="10530866" y="1909528"/>
            <a:ext cx="1661134" cy="4948472"/>
          </a:xfrm>
          <a:prstGeom prst="rect">
            <a:avLst/>
          </a:prstGeom>
        </p:spPr>
      </p:pic>
      <p:pic>
        <p:nvPicPr>
          <p:cNvPr id="11" name="Obrázek 10" descr="Obsah obrázku jídlo&#10;&#10;Popis byl vytvořen automaticky">
            <a:extLst>
              <a:ext uri="{FF2B5EF4-FFF2-40B4-BE49-F238E27FC236}">
                <a16:creationId xmlns:a16="http://schemas.microsoft.com/office/drawing/2014/main" xmlns="" id="{277A7DB3-95F1-E344-8AE7-AA6613ECC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0730" r="87733"/>
          <a:stretch/>
        </p:blipFill>
        <p:spPr>
          <a:xfrm rot="10800000">
            <a:off x="-3" y="2786140"/>
            <a:ext cx="1043237" cy="40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0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ástupný text 7">
            <a:extLst>
              <a:ext uri="{FF2B5EF4-FFF2-40B4-BE49-F238E27FC236}">
                <a16:creationId xmlns:a16="http://schemas.microsoft.com/office/drawing/2014/main" xmlns="" id="{D28BEBD6-EB07-D743-BF50-01DBC337A6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939046"/>
            <a:ext cx="11807825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Obsah prezentace</a:t>
            </a:r>
          </a:p>
        </p:txBody>
      </p:sp>
      <p:sp>
        <p:nvSpPr>
          <p:cNvPr id="12" name="Zástupný text 7">
            <a:extLst>
              <a:ext uri="{FF2B5EF4-FFF2-40B4-BE49-F238E27FC236}">
                <a16:creationId xmlns:a16="http://schemas.microsoft.com/office/drawing/2014/main" xmlns="" id="{FACDE7A9-2EB1-C94D-8806-A5A693D216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4176" y="1758182"/>
            <a:ext cx="11436350" cy="4731518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ts val="2500"/>
              </a:lnSpc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První kapitola</a:t>
            </a:r>
          </a:p>
          <a:p>
            <a:pPr lvl="0"/>
            <a:r>
              <a:rPr lang="cs-CZ" dirty="0"/>
              <a:t>Druhá kapitola</a:t>
            </a:r>
          </a:p>
          <a:p>
            <a:pPr lvl="0"/>
            <a:r>
              <a:rPr lang="cs-CZ" dirty="0"/>
              <a:t>Třetí kapitola</a:t>
            </a:r>
          </a:p>
          <a:p>
            <a:pPr lvl="0"/>
            <a:r>
              <a:rPr lang="cs-CZ" dirty="0"/>
              <a:t>Čtvrtá kapitola</a:t>
            </a:r>
          </a:p>
          <a:p>
            <a:pPr lvl="0"/>
            <a:r>
              <a:rPr lang="cs-CZ" dirty="0"/>
              <a:t>Pátá kapitola</a:t>
            </a:r>
          </a:p>
          <a:p>
            <a:pPr lvl="0"/>
            <a:r>
              <a:rPr lang="cs-CZ" dirty="0"/>
              <a:t>Šestá kapitola</a:t>
            </a:r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xmlns="" id="{5677C97E-0B9F-6B4D-9C98-D1CF1B4F981E}"/>
              </a:ext>
            </a:extLst>
          </p:cNvPr>
          <p:cNvSpPr/>
          <p:nvPr userDrawn="1"/>
        </p:nvSpPr>
        <p:spPr>
          <a:xfrm>
            <a:off x="9568885" y="788709"/>
            <a:ext cx="2623115" cy="6069292"/>
          </a:xfrm>
          <a:prstGeom prst="rect">
            <a:avLst/>
          </a:prstGeom>
          <a:blipFill dpi="0" rotWithShape="1">
            <a:blip r:embed="rId2"/>
            <a:srcRect/>
            <a:stretch>
              <a:fillRect l="2" t="1" r="-216766" b="-180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39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kapito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text 13">
            <a:extLst>
              <a:ext uri="{FF2B5EF4-FFF2-40B4-BE49-F238E27FC236}">
                <a16:creationId xmlns:a16="http://schemas.microsoft.com/office/drawing/2014/main" xmlns="" id="{6BE3475D-8F0C-B34F-A9FD-3413772CF6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019237"/>
            <a:ext cx="11449050" cy="547046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ts val="5400"/>
              </a:lnSpc>
              <a:spcBef>
                <a:spcPts val="0"/>
              </a:spcBef>
              <a:buNone/>
              <a:defRPr sz="4800" b="1" i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Název kapitoly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xmlns="" id="{47B42B70-AB67-0D40-9DAF-FD616D19DC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60457" b="60551"/>
          <a:stretch/>
        </p:blipFill>
        <p:spPr>
          <a:xfrm>
            <a:off x="9478527" y="4152569"/>
            <a:ext cx="2713474" cy="27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4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36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7">
            <a:extLst>
              <a:ext uri="{FF2B5EF4-FFF2-40B4-BE49-F238E27FC236}">
                <a16:creationId xmlns:a16="http://schemas.microsoft.com/office/drawing/2014/main" xmlns="" id="{B5AFE876-CCC3-F240-89F5-68457ACC0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6" y="945234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5746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dnoslou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7">
            <a:extLst>
              <a:ext uri="{FF2B5EF4-FFF2-40B4-BE49-F238E27FC236}">
                <a16:creationId xmlns:a16="http://schemas.microsoft.com/office/drawing/2014/main" xmlns="" id="{D127C17D-10B3-3F45-9754-9D1705CC1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947990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  <p:sp>
        <p:nvSpPr>
          <p:cNvPr id="5" name="Zástupný text 7">
            <a:extLst>
              <a:ext uri="{FF2B5EF4-FFF2-40B4-BE49-F238E27FC236}">
                <a16:creationId xmlns:a16="http://schemas.microsoft.com/office/drawing/2014/main" xmlns="" id="{8673E167-173D-A149-B490-C8DDF192AE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591588"/>
            <a:ext cx="11449050" cy="48981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Zástupný text</a:t>
            </a:r>
          </a:p>
        </p:txBody>
      </p:sp>
    </p:spTree>
    <p:extLst>
      <p:ext uri="{BB962C8B-B14F-4D97-AF65-F5344CB8AC3E}">
        <p14:creationId xmlns:p14="http://schemas.microsoft.com/office/powerpoint/2010/main" val="338674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ojslou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7">
            <a:extLst>
              <a:ext uri="{FF2B5EF4-FFF2-40B4-BE49-F238E27FC236}">
                <a16:creationId xmlns:a16="http://schemas.microsoft.com/office/drawing/2014/main" xmlns="" id="{36492C4B-787C-DB4F-B78F-2ECDA06B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591588"/>
            <a:ext cx="11449050" cy="4898113"/>
          </a:xfrm>
          <a:prstGeom prst="rect">
            <a:avLst/>
          </a:prstGeom>
        </p:spPr>
        <p:txBody>
          <a:bodyPr lIns="0" tIns="0" rIns="0" bIns="0" numCol="2" spcCol="180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>
                <a:effectLst/>
              </a:rPr>
              <a:t>Zástupný text do dvojsloupce</a:t>
            </a:r>
          </a:p>
        </p:txBody>
      </p:sp>
      <p:sp>
        <p:nvSpPr>
          <p:cNvPr id="5" name="Zástupný text 7">
            <a:extLst>
              <a:ext uri="{FF2B5EF4-FFF2-40B4-BE49-F238E27FC236}">
                <a16:creationId xmlns:a16="http://schemas.microsoft.com/office/drawing/2014/main" xmlns="" id="{2608E2DD-7BA2-F246-A230-0A3C71D795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951249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19614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ojslou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7">
            <a:extLst>
              <a:ext uri="{FF2B5EF4-FFF2-40B4-BE49-F238E27FC236}">
                <a16:creationId xmlns:a16="http://schemas.microsoft.com/office/drawing/2014/main" xmlns="" id="{60640CCD-627D-3347-B638-2A87207F3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591722"/>
            <a:ext cx="11449050" cy="4897979"/>
          </a:xfrm>
          <a:prstGeom prst="rect">
            <a:avLst/>
          </a:prstGeom>
        </p:spPr>
        <p:txBody>
          <a:bodyPr lIns="0" tIns="0" rIns="0" bIns="0" numCol="3" spcCol="180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>
                <a:effectLst/>
              </a:rPr>
              <a:t>Zástupný text do </a:t>
            </a:r>
            <a:r>
              <a:rPr lang="cs-CZ" dirty="0" err="1">
                <a:effectLst/>
              </a:rPr>
              <a:t>trojsloupce</a:t>
            </a:r>
            <a:endParaRPr lang="cs-CZ" dirty="0">
              <a:effectLst/>
            </a:endParaRPr>
          </a:p>
        </p:txBody>
      </p:sp>
      <p:sp>
        <p:nvSpPr>
          <p:cNvPr id="5" name="Zástupný text 7">
            <a:extLst>
              <a:ext uri="{FF2B5EF4-FFF2-40B4-BE49-F238E27FC236}">
                <a16:creationId xmlns:a16="http://schemas.microsoft.com/office/drawing/2014/main" xmlns="" id="{D12FF89E-908C-AD45-98DB-8EC5FE42D4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951383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25818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+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xmlns="" id="{A485977C-F0A6-954D-94BC-8D9EF343CD9A}"/>
              </a:ext>
            </a:extLst>
          </p:cNvPr>
          <p:cNvSpPr/>
          <p:nvPr userDrawn="1"/>
        </p:nvSpPr>
        <p:spPr>
          <a:xfrm>
            <a:off x="0" y="1560443"/>
            <a:ext cx="4079875" cy="52975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6" name="Zástupný text 7">
            <a:extLst>
              <a:ext uri="{FF2B5EF4-FFF2-40B4-BE49-F238E27FC236}">
                <a16:creationId xmlns:a16="http://schemas.microsoft.com/office/drawing/2014/main" xmlns="" id="{2AF57368-2759-2544-9F5A-CF262E373F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29409"/>
            <a:ext cx="3529013" cy="4939679"/>
          </a:xfrm>
          <a:prstGeom prst="rect">
            <a:avLst/>
          </a:prstGeom>
        </p:spPr>
        <p:txBody>
          <a:bodyPr lIns="0" tIns="0" rIns="0" bIns="0" numCol="1" spcCol="180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>
                <a:effectLst/>
              </a:rPr>
              <a:t>Krátký textový obsah.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xmlns="" id="{B96D5A09-BEA1-8542-B5E1-C32FA6B0E5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79874" y="1560442"/>
            <a:ext cx="7740651" cy="49292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cs-CZ" dirty="0"/>
              <a:t>Sem vložíte obsah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xmlns="" id="{714FAC64-4D3E-2C43-9A3E-BDE504E1E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4" y="951383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16074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bsah +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xmlns="" id="{A485977C-F0A6-954D-94BC-8D9EF343CD9A}"/>
              </a:ext>
            </a:extLst>
          </p:cNvPr>
          <p:cNvSpPr/>
          <p:nvPr userDrawn="1"/>
        </p:nvSpPr>
        <p:spPr>
          <a:xfrm>
            <a:off x="0" y="1560443"/>
            <a:ext cx="8112125" cy="52975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sp>
        <p:nvSpPr>
          <p:cNvPr id="9" name="Zástupný text 7">
            <a:extLst>
              <a:ext uri="{FF2B5EF4-FFF2-40B4-BE49-F238E27FC236}">
                <a16:creationId xmlns:a16="http://schemas.microsoft.com/office/drawing/2014/main" xmlns="" id="{19EB06EF-3E34-594B-B6A7-05A110BB2A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29409"/>
            <a:ext cx="7561263" cy="47602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Textový obsah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xmlns="" id="{924043AD-9E2A-C942-BCF7-34E0430D4CC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2124" y="1560443"/>
            <a:ext cx="3708401" cy="492925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/>
              <a:t>Obrázek</a:t>
            </a:r>
          </a:p>
        </p:txBody>
      </p:sp>
      <p:sp>
        <p:nvSpPr>
          <p:cNvPr id="6" name="Zástupný text 7">
            <a:extLst>
              <a:ext uri="{FF2B5EF4-FFF2-40B4-BE49-F238E27FC236}">
                <a16:creationId xmlns:a16="http://schemas.microsoft.com/office/drawing/2014/main" xmlns="" id="{97444883-A883-904F-91A6-56FFA55CDF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4" y="951383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7887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bsah +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sah 3">
            <a:extLst>
              <a:ext uri="{FF2B5EF4-FFF2-40B4-BE49-F238E27FC236}">
                <a16:creationId xmlns:a16="http://schemas.microsoft.com/office/drawing/2014/main" xmlns="" id="{B96D5A09-BEA1-8542-B5E1-C32FA6B0E5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5" y="1016001"/>
            <a:ext cx="11449050" cy="547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cs-CZ" dirty="0"/>
              <a:t>Sem vložíte obsah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5020BB1-F6EB-C840-9A38-EA0097B75F39}"/>
              </a:ext>
            </a:extLst>
          </p:cNvPr>
          <p:cNvSpPr txBox="1"/>
          <p:nvPr userDrawn="1"/>
        </p:nvSpPr>
        <p:spPr>
          <a:xfrm>
            <a:off x="5515897" y="5604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16524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+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xmlns="" id="{924043AD-9E2A-C942-BCF7-34E0430D4CC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1475" y="1709530"/>
            <a:ext cx="11449050" cy="478017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/>
              <a:t>Obrázek</a:t>
            </a:r>
          </a:p>
        </p:txBody>
      </p:sp>
      <p:sp>
        <p:nvSpPr>
          <p:cNvPr id="5" name="Zástupný text 7">
            <a:extLst>
              <a:ext uri="{FF2B5EF4-FFF2-40B4-BE49-F238E27FC236}">
                <a16:creationId xmlns:a16="http://schemas.microsoft.com/office/drawing/2014/main" xmlns="" id="{355F2D1F-15F3-7749-A701-913DFBB07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054114"/>
            <a:ext cx="11449050" cy="458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Nadpis </a:t>
            </a:r>
            <a:r>
              <a:rPr lang="cs-CZ" dirty="0" err="1"/>
              <a:t>slidu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54303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+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xmlns="" id="{924043AD-9E2A-C942-BCF7-34E0430D4CC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1475" y="1016000"/>
            <a:ext cx="11449050" cy="54737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/>
              <a:t>Obrázek</a:t>
            </a:r>
          </a:p>
        </p:txBody>
      </p:sp>
      <p:sp>
        <p:nvSpPr>
          <p:cNvPr id="6" name="Zástupný text 7">
            <a:extLst>
              <a:ext uri="{FF2B5EF4-FFF2-40B4-BE49-F238E27FC236}">
                <a16:creationId xmlns:a16="http://schemas.microsoft.com/office/drawing/2014/main" xmlns="" id="{78E07299-F14C-2847-B737-7A4A54AC7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198" y="6082748"/>
            <a:ext cx="11048585" cy="21810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Titulek obrázku</a:t>
            </a:r>
          </a:p>
        </p:txBody>
      </p:sp>
    </p:spTree>
    <p:extLst>
      <p:ext uri="{BB962C8B-B14F-4D97-AF65-F5344CB8AC3E}">
        <p14:creationId xmlns:p14="http://schemas.microsoft.com/office/powerpoint/2010/main" val="18654630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xmlns="" id="{656AD93C-C0FE-254D-914C-A827CF495AA3}"/>
              </a:ext>
            </a:extLst>
          </p:cNvPr>
          <p:cNvSpPr/>
          <p:nvPr userDrawn="1"/>
        </p:nvSpPr>
        <p:spPr>
          <a:xfrm>
            <a:off x="4079874" y="2276476"/>
            <a:ext cx="8112125" cy="45815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xmlns="" id="{CE71DB83-7A92-734D-94B9-CB4917B089DB}"/>
              </a:ext>
            </a:extLst>
          </p:cNvPr>
          <p:cNvSpPr/>
          <p:nvPr userDrawn="1"/>
        </p:nvSpPr>
        <p:spPr>
          <a:xfrm>
            <a:off x="0" y="2276475"/>
            <a:ext cx="4079875" cy="45815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xmlns="" id="{C4F84E02-8C4B-F544-BF08-02C8B899BA14}"/>
              </a:ext>
            </a:extLst>
          </p:cNvPr>
          <p:cNvSpPr/>
          <p:nvPr userDrawn="1"/>
        </p:nvSpPr>
        <p:spPr>
          <a:xfrm>
            <a:off x="4079875" y="0"/>
            <a:ext cx="8112125" cy="2276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pic>
        <p:nvPicPr>
          <p:cNvPr id="19" name="Obrázek 18" descr="Obsah obrázku podepsat, kreslení&#10;&#10;Popis byl vytvořen automaticky">
            <a:extLst>
              <a:ext uri="{FF2B5EF4-FFF2-40B4-BE49-F238E27FC236}">
                <a16:creationId xmlns:a16="http://schemas.microsoft.com/office/drawing/2014/main" xmlns="" id="{B601120F-0679-734E-BF0E-8C56FFFD6E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475" y="368300"/>
            <a:ext cx="1564625" cy="906708"/>
          </a:xfrm>
          <a:prstGeom prst="rect">
            <a:avLst/>
          </a:prstGeom>
        </p:spPr>
      </p:pic>
      <p:sp>
        <p:nvSpPr>
          <p:cNvPr id="22" name="Zástupný text 13">
            <a:extLst>
              <a:ext uri="{FF2B5EF4-FFF2-40B4-BE49-F238E27FC236}">
                <a16:creationId xmlns:a16="http://schemas.microsoft.com/office/drawing/2014/main" xmlns="" id="{44F10031-1D10-FB46-887F-0F892B91F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3" y="2457450"/>
            <a:ext cx="7740650" cy="177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Děkujeme za zhlédnutí.</a:t>
            </a:r>
          </a:p>
        </p:txBody>
      </p:sp>
      <p:sp>
        <p:nvSpPr>
          <p:cNvPr id="24" name="Zástupný text 4">
            <a:extLst>
              <a:ext uri="{FF2B5EF4-FFF2-40B4-BE49-F238E27FC236}">
                <a16:creationId xmlns:a16="http://schemas.microsoft.com/office/drawing/2014/main" xmlns="" id="{E7BC8E4D-2896-D743-B1FE-8F21A9BA27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9263" y="4760913"/>
            <a:ext cx="3673475" cy="54113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 kontaktní údaje autora prezentace.</a:t>
            </a: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xmlns="" id="{FA6E950D-E2D7-1043-A065-10A38D2E3FF5}"/>
              </a:ext>
            </a:extLst>
          </p:cNvPr>
          <p:cNvSpPr/>
          <p:nvPr userDrawn="1"/>
        </p:nvSpPr>
        <p:spPr>
          <a:xfrm>
            <a:off x="371475" y="6181923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www.mou.cz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xmlns="" id="{4AE0CAA5-1447-9342-9D54-DC9B66FF5D0B}"/>
              </a:ext>
            </a:extLst>
          </p:cNvPr>
          <p:cNvSpPr/>
          <p:nvPr userDrawn="1"/>
        </p:nvSpPr>
        <p:spPr>
          <a:xfrm>
            <a:off x="4259264" y="6181923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xmlns="" id="{EF579B28-C02B-8C49-BAB9-6D1C2CA2370A}"/>
              </a:ext>
            </a:extLst>
          </p:cNvPr>
          <p:cNvSpPr/>
          <p:nvPr userDrawn="1"/>
        </p:nvSpPr>
        <p:spPr>
          <a:xfrm>
            <a:off x="8291513" y="6028035"/>
            <a:ext cx="352901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Poskytovatel zdravotních služeb akreditovaný Organizací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evropských onkologických ústavů (OECI) a Českou společností pro akreditaci ve zdravotnictví.</a:t>
            </a:r>
          </a:p>
        </p:txBody>
      </p:sp>
      <p:sp>
        <p:nvSpPr>
          <p:cNvPr id="15" name="Zástupný text 4">
            <a:extLst>
              <a:ext uri="{FF2B5EF4-FFF2-40B4-BE49-F238E27FC236}">
                <a16:creationId xmlns:a16="http://schemas.microsoft.com/office/drawing/2014/main" xmlns="" id="{C7258736-07B0-9A4D-9627-3955D9D9F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1" y="6193498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xmlns="" id="{774178F4-1BA4-7E46-A931-5E7E7EB37E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1" y="6362400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xmlns="" id="{ED0C9FB4-6DFE-2F44-9983-B73B4A2BD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4167" r="8403"/>
          <a:stretch/>
        </p:blipFill>
        <p:spPr>
          <a:xfrm>
            <a:off x="5910263" y="-1"/>
            <a:ext cx="6281736" cy="177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10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83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4" r:id="rId2"/>
    <p:sldLayoutId id="214748368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234" userDrawn="1">
          <p15:clr>
            <a:srgbClr val="F26B43"/>
          </p15:clr>
        </p15:guide>
        <p15:guide id="14" pos="7446" userDrawn="1">
          <p15:clr>
            <a:srgbClr val="F26B43"/>
          </p15:clr>
        </p15:guide>
        <p15:guide id="15" orient="horz" pos="232" userDrawn="1">
          <p15:clr>
            <a:srgbClr val="F26B43"/>
          </p15:clr>
        </p15:guide>
        <p15:guide id="16" orient="horz" pos="40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xmlns="" id="{FA2AF0DD-CE8A-DF4B-AD30-C0EE1BC9D62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xmlns="" id="{09D24814-AA93-8A4C-9D2F-1355CD243169}"/>
              </a:ext>
            </a:extLst>
          </p:cNvPr>
          <p:cNvSpPr/>
          <p:nvPr userDrawn="1"/>
        </p:nvSpPr>
        <p:spPr>
          <a:xfrm>
            <a:off x="4259263" y="368300"/>
            <a:ext cx="3673475" cy="153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ProstaPaper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xmlns="" id="{4DACDBE5-A910-4643-9E76-B21FE2E2FAF8}"/>
              </a:ext>
            </a:extLst>
          </p:cNvPr>
          <p:cNvSpPr/>
          <p:nvPr userDrawn="1"/>
        </p:nvSpPr>
        <p:spPr>
          <a:xfrm>
            <a:off x="8291513" y="368300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4" name="Zástupný text 4">
            <a:extLst>
              <a:ext uri="{FF2B5EF4-FFF2-40B4-BE49-F238E27FC236}">
                <a16:creationId xmlns:a16="http://schemas.microsoft.com/office/drawing/2014/main" xmlns="" id="{B2BAE818-1DBF-5643-B928-1318B58D3DF6}"/>
              </a:ext>
            </a:extLst>
          </p:cNvPr>
          <p:cNvSpPr txBox="1">
            <a:spLocks/>
          </p:cNvSpPr>
          <p:nvPr userDrawn="1"/>
        </p:nvSpPr>
        <p:spPr>
          <a:xfrm>
            <a:off x="8614726" y="353285"/>
            <a:ext cx="3042105" cy="16890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543136008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xmlns="" id="{460D81E7-646F-A943-AF3C-CDAF049B9B57}"/>
              </a:ext>
            </a:extLst>
          </p:cNvPr>
          <p:cNvSpPr txBox="1">
            <a:spLocks/>
          </p:cNvSpPr>
          <p:nvPr userDrawn="1"/>
        </p:nvSpPr>
        <p:spPr>
          <a:xfrm>
            <a:off x="8614726" y="522188"/>
            <a:ext cx="3042105" cy="127299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Michal.standara@mou.cz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xmlns="" id="{CC63E273-B11A-7847-A5E1-AC5B89BDC8DD}"/>
              </a:ext>
            </a:extLst>
          </p:cNvPr>
          <p:cNvSpPr/>
          <p:nvPr userDrawn="1"/>
        </p:nvSpPr>
        <p:spPr>
          <a:xfrm>
            <a:off x="11303775" y="368300"/>
            <a:ext cx="5167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r"/>
            <a:fld id="{9DF95F3C-09ED-3447-B910-0D0B83E88D2E}" type="slidenum">
              <a:rPr lang="cs-CZ" sz="1000" b="0" i="0" u="none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Obrázek 7" descr="Obsah obrázku kreslení&#10;&#10;Popis byl vytvořen automaticky">
            <a:extLst>
              <a:ext uri="{FF2B5EF4-FFF2-40B4-BE49-F238E27FC236}">
                <a16:creationId xmlns:a16="http://schemas.microsoft.com/office/drawing/2014/main" xmlns="" id="{4957CC45-FDA4-884F-84D2-17536A59B7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1475" y="368300"/>
            <a:ext cx="275013" cy="27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5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3" orient="horz" pos="232" userDrawn="1">
          <p15:clr>
            <a:srgbClr val="F26B43"/>
          </p15:clr>
        </p15:guide>
        <p15:guide id="14" orient="horz" pos="4088" userDrawn="1">
          <p15:clr>
            <a:srgbClr val="F26B43"/>
          </p15:clr>
        </p15:guide>
        <p15:guide id="15" pos="234" userDrawn="1">
          <p15:clr>
            <a:srgbClr val="F26B43"/>
          </p15:clr>
        </p15:guide>
        <p15:guide id="16" pos="744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>
            <a:extLst>
              <a:ext uri="{FF2B5EF4-FFF2-40B4-BE49-F238E27FC236}">
                <a16:creationId xmlns:a16="http://schemas.microsoft.com/office/drawing/2014/main" xmlns="" id="{02758B5B-19FB-104B-BA5E-42BC566B4B8A}"/>
              </a:ext>
            </a:extLst>
          </p:cNvPr>
          <p:cNvSpPr/>
          <p:nvPr userDrawn="1"/>
        </p:nvSpPr>
        <p:spPr>
          <a:xfrm>
            <a:off x="4259263" y="368300"/>
            <a:ext cx="3673475" cy="1538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ProstaPaper</a:t>
            </a:r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xmlns="" id="{898059D2-9145-8942-89C4-7495C648742F}"/>
              </a:ext>
            </a:extLst>
          </p:cNvPr>
          <p:cNvSpPr/>
          <p:nvPr userDrawn="1"/>
        </p:nvSpPr>
        <p:spPr>
          <a:xfrm>
            <a:off x="8291513" y="368300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8" name="Zástupný text 4">
            <a:extLst>
              <a:ext uri="{FF2B5EF4-FFF2-40B4-BE49-F238E27FC236}">
                <a16:creationId xmlns:a16="http://schemas.microsoft.com/office/drawing/2014/main" xmlns="" id="{1C664F0D-3A02-F149-9648-D82732F715AA}"/>
              </a:ext>
            </a:extLst>
          </p:cNvPr>
          <p:cNvSpPr txBox="1">
            <a:spLocks/>
          </p:cNvSpPr>
          <p:nvPr userDrawn="1"/>
        </p:nvSpPr>
        <p:spPr>
          <a:xfrm>
            <a:off x="8614726" y="353285"/>
            <a:ext cx="3042105" cy="16890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543136008</a:t>
            </a:r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xmlns="" id="{BE6322A7-A9B5-3D43-838E-96652739698E}"/>
              </a:ext>
            </a:extLst>
          </p:cNvPr>
          <p:cNvSpPr txBox="1">
            <a:spLocks/>
          </p:cNvSpPr>
          <p:nvPr userDrawn="1"/>
        </p:nvSpPr>
        <p:spPr>
          <a:xfrm>
            <a:off x="8614726" y="522188"/>
            <a:ext cx="3042105" cy="127299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michal.standara@mou.cz</a:t>
            </a:r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xmlns="" id="{0C75CBE4-455B-8844-995D-4EDA1148DDD9}"/>
              </a:ext>
            </a:extLst>
          </p:cNvPr>
          <p:cNvSpPr/>
          <p:nvPr userDrawn="1"/>
        </p:nvSpPr>
        <p:spPr>
          <a:xfrm>
            <a:off x="11303775" y="368300"/>
            <a:ext cx="5167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r"/>
            <a:fld id="{9DF95F3C-09ED-3447-B910-0D0B83E88D2E}" type="slidenum">
              <a:rPr lang="cs-CZ" sz="1000" b="0" i="0" u="non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rázek 10" descr="Obsah obrázku kreslení&#10;&#10;Popis byl vytvořen automaticky">
            <a:extLst>
              <a:ext uri="{FF2B5EF4-FFF2-40B4-BE49-F238E27FC236}">
                <a16:creationId xmlns:a16="http://schemas.microsoft.com/office/drawing/2014/main" xmlns="" id="{7550A134-BB5B-C344-B8A7-BE127B0F9B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1476" y="368301"/>
            <a:ext cx="275012" cy="27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0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3" orient="horz" pos="232" userDrawn="1">
          <p15:clr>
            <a:srgbClr val="F26B43"/>
          </p15:clr>
        </p15:guide>
        <p15:guide id="14" orient="horz" pos="4088" userDrawn="1">
          <p15:clr>
            <a:srgbClr val="F26B43"/>
          </p15:clr>
        </p15:guide>
        <p15:guide id="15" pos="234" userDrawn="1">
          <p15:clr>
            <a:srgbClr val="F26B43"/>
          </p15:clr>
        </p15:guide>
        <p15:guide id="16" pos="744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xmlns="" id="{21F7F22C-6E79-F745-AB1F-D78BFAE3AC74}"/>
              </a:ext>
            </a:extLst>
          </p:cNvPr>
          <p:cNvSpPr/>
          <p:nvPr userDrawn="1"/>
        </p:nvSpPr>
        <p:spPr>
          <a:xfrm>
            <a:off x="11303775" y="368300"/>
            <a:ext cx="5167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r"/>
            <a:fld id="{9DF95F3C-09ED-3447-B910-0D0B83E88D2E}" type="slidenum">
              <a:rPr lang="cs-CZ" sz="1000" b="0" i="0" u="non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cs-CZ" sz="1000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xmlns="" id="{B81A16A4-ACC6-9A4D-9968-4C99C9E40C5B}"/>
              </a:ext>
            </a:extLst>
          </p:cNvPr>
          <p:cNvSpPr/>
          <p:nvPr userDrawn="1"/>
        </p:nvSpPr>
        <p:spPr>
          <a:xfrm>
            <a:off x="4259263" y="368300"/>
            <a:ext cx="3673475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cs-CZ" sz="1000" b="0" i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ProstaPaper</a:t>
            </a:r>
            <a:endParaRPr lang="cs-CZ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cs-CZ" sz="1000" b="0" i="0" dirty="0">
              <a:solidFill>
                <a:schemeClr val="tx1"/>
              </a:solidFill>
              <a:latin typeface="Matter" pitchFamily="2" charset="0"/>
            </a:endParaRPr>
          </a:p>
        </p:txBody>
      </p:sp>
      <p:pic>
        <p:nvPicPr>
          <p:cNvPr id="7" name="Obrázek 6" descr="Obsah obrázku kreslení&#10;&#10;Popis byl vytvořen automaticky">
            <a:extLst>
              <a:ext uri="{FF2B5EF4-FFF2-40B4-BE49-F238E27FC236}">
                <a16:creationId xmlns:a16="http://schemas.microsoft.com/office/drawing/2014/main" xmlns="" id="{E6CC66F5-868B-F94F-890A-6489D6EACB5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71476" y="368301"/>
            <a:ext cx="275012" cy="278062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xmlns="" id="{4BBD8C2D-1A72-4146-8156-46A19ECF229A}"/>
              </a:ext>
            </a:extLst>
          </p:cNvPr>
          <p:cNvSpPr/>
          <p:nvPr userDrawn="1"/>
        </p:nvSpPr>
        <p:spPr>
          <a:xfrm>
            <a:off x="8291513" y="368300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0" name="Zástupný text 4">
            <a:extLst>
              <a:ext uri="{FF2B5EF4-FFF2-40B4-BE49-F238E27FC236}">
                <a16:creationId xmlns:a16="http://schemas.microsoft.com/office/drawing/2014/main" xmlns="" id="{0026D69D-C4AA-1E45-919A-0DAF89089FF3}"/>
              </a:ext>
            </a:extLst>
          </p:cNvPr>
          <p:cNvSpPr txBox="1">
            <a:spLocks/>
          </p:cNvSpPr>
          <p:nvPr userDrawn="1"/>
        </p:nvSpPr>
        <p:spPr>
          <a:xfrm>
            <a:off x="8778420" y="379875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>
                <a:solidFill>
                  <a:schemeClr val="tx1"/>
                </a:solidFill>
              </a:rPr>
              <a:t>543136008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11" name="Zástupný text 4">
            <a:extLst>
              <a:ext uri="{FF2B5EF4-FFF2-40B4-BE49-F238E27FC236}">
                <a16:creationId xmlns:a16="http://schemas.microsoft.com/office/drawing/2014/main" xmlns="" id="{01B600BD-E1A2-6C45-B39D-D09A40572072}"/>
              </a:ext>
            </a:extLst>
          </p:cNvPr>
          <p:cNvSpPr txBox="1">
            <a:spLocks/>
          </p:cNvSpPr>
          <p:nvPr userDrawn="1"/>
        </p:nvSpPr>
        <p:spPr>
          <a:xfrm>
            <a:off x="8778420" y="548777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>
                <a:solidFill>
                  <a:schemeClr val="tx1"/>
                </a:solidFill>
              </a:rPr>
              <a:t>michal.standara@mou.cz</a:t>
            </a:r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3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63" r:id="rId3"/>
    <p:sldLayoutId id="2147483660" r:id="rId4"/>
    <p:sldLayoutId id="2147483686" r:id="rId5"/>
    <p:sldLayoutId id="2147483659" r:id="rId6"/>
    <p:sldLayoutId id="2147483687" r:id="rId7"/>
    <p:sldLayoutId id="2147483690" r:id="rId8"/>
    <p:sldLayoutId id="2147483661" r:id="rId9"/>
    <p:sldLayoutId id="214748366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1" orient="horz" pos="640" userDrawn="1">
          <p15:clr>
            <a:srgbClr val="F26B43"/>
          </p15:clr>
        </p15:guide>
        <p15:guide id="13" pos="234" userDrawn="1">
          <p15:clr>
            <a:srgbClr val="F26B43"/>
          </p15:clr>
        </p15:guide>
        <p15:guide id="14" pos="7446" userDrawn="1">
          <p15:clr>
            <a:srgbClr val="F26B43"/>
          </p15:clr>
        </p15:guide>
        <p15:guide id="16" orient="horz" pos="408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90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0" userDrawn="1">
          <p15:clr>
            <a:srgbClr val="F26B43"/>
          </p15:clr>
        </p15:guide>
        <p15:guide id="2" pos="5110" userDrawn="1">
          <p15:clr>
            <a:srgbClr val="F26B43"/>
          </p15:clr>
        </p15:guide>
        <p15:guide id="3" orient="horz" pos="1434" userDrawn="1">
          <p15:clr>
            <a:srgbClr val="F26B43"/>
          </p15:clr>
        </p15:guide>
        <p15:guide id="4" orient="horz" pos="2886" userDrawn="1">
          <p15:clr>
            <a:srgbClr val="F26B43"/>
          </p15:clr>
        </p15:guide>
        <p15:guide id="5" pos="2457" userDrawn="1">
          <p15:clr>
            <a:srgbClr val="F26B43"/>
          </p15:clr>
        </p15:guide>
        <p15:guide id="6" pos="2683" userDrawn="1">
          <p15:clr>
            <a:srgbClr val="F26B43"/>
          </p15:clr>
        </p15:guide>
        <p15:guide id="7" pos="4997" userDrawn="1">
          <p15:clr>
            <a:srgbClr val="F26B43"/>
          </p15:clr>
        </p15:guide>
        <p15:guide id="8" pos="5223" userDrawn="1">
          <p15:clr>
            <a:srgbClr val="F26B43"/>
          </p15:clr>
        </p15:guide>
        <p15:guide id="9" orient="horz" pos="1321" userDrawn="1">
          <p15:clr>
            <a:srgbClr val="F26B43"/>
          </p15:clr>
        </p15:guide>
        <p15:guide id="10" orient="horz" pos="1548" userDrawn="1">
          <p15:clr>
            <a:srgbClr val="F26B43"/>
          </p15:clr>
        </p15:guide>
        <p15:guide id="11" orient="horz" pos="2772" userDrawn="1">
          <p15:clr>
            <a:srgbClr val="F26B43"/>
          </p15:clr>
        </p15:guide>
        <p15:guide id="12" orient="horz" pos="2999" userDrawn="1">
          <p15:clr>
            <a:srgbClr val="F26B43"/>
          </p15:clr>
        </p15:guide>
        <p15:guide id="13" orient="horz" pos="4088" userDrawn="1">
          <p15:clr>
            <a:srgbClr val="F26B43"/>
          </p15:clr>
        </p15:guide>
        <p15:guide id="14" orient="horz" pos="232" userDrawn="1">
          <p15:clr>
            <a:srgbClr val="F26B43"/>
          </p15:clr>
        </p15:guide>
        <p15:guide id="15" pos="234" userDrawn="1">
          <p15:clr>
            <a:srgbClr val="F26B43"/>
          </p15:clr>
        </p15:guide>
        <p15:guide id="16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err="1" smtClean="0"/>
              <a:t>ProstaPaper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 smtClean="0"/>
              <a:t>Prostata z papíru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cs-CZ" dirty="0" smtClean="0"/>
              <a:t>Michal Standara</a:t>
            </a:r>
            <a:endParaRPr lang="cs-CZ" dirty="0"/>
          </a:p>
        </p:txBody>
      </p:sp>
      <p:sp>
        <p:nvSpPr>
          <p:cNvPr id="6" name="Zástupný symbol pro tex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smtClean="0"/>
              <a:t>543136008</a:t>
            </a:r>
            <a:endParaRPr lang="cs-CZ" dirty="0"/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 smtClean="0"/>
              <a:t>michal.standara@mou.cz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0723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text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Co je to prostata?</a:t>
            </a:r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346" y="1284844"/>
            <a:ext cx="3970120" cy="4898979"/>
          </a:xfrm>
          <a:prstGeom prst="rect">
            <a:avLst/>
          </a:prstGeom>
        </p:spPr>
      </p:pic>
      <p:pic>
        <p:nvPicPr>
          <p:cNvPr id="1028" name="Picture 4" descr="https://upload.wikimedia.org/wikipedia/commons/a/a1/Prostatelead.jpg?utm_source=en.wikipedia.org&amp;utm_campaign=parser&amp;utm_content=thumbnail_unsca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138" y="1052978"/>
            <a:ext cx="2831465" cy="540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ástupný symbol pro text 10"/>
          <p:cNvSpPr>
            <a:spLocks noGrp="1"/>
          </p:cNvSpPr>
          <p:nvPr>
            <p:ph type="body" sz="quarter" idx="11"/>
          </p:nvPr>
        </p:nvSpPr>
        <p:spPr>
          <a:xfrm>
            <a:off x="371475" y="1981200"/>
            <a:ext cx="4086225" cy="4508500"/>
          </a:xfrm>
        </p:spPr>
        <p:txBody>
          <a:bodyPr/>
          <a:lstStyle/>
          <a:p>
            <a:r>
              <a:rPr lang="cs-CZ" sz="3200" dirty="0" smtClean="0"/>
              <a:t>orgán pod měchýřem</a:t>
            </a:r>
          </a:p>
          <a:p>
            <a:endParaRPr lang="cs-CZ" dirty="0"/>
          </a:p>
        </p:txBody>
      </p:sp>
      <p:pic>
        <p:nvPicPr>
          <p:cNvPr id="14" name="Obrázek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1" y="3017403"/>
            <a:ext cx="2354992" cy="31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0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text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Jak vidí prostatu radiolog</a:t>
            </a:r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2"/>
          <a:srcRect l="9159" t="11222" r="10542" b="14778"/>
          <a:stretch/>
        </p:blipFill>
        <p:spPr>
          <a:xfrm>
            <a:off x="371475" y="1813560"/>
            <a:ext cx="5301031" cy="4676140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3"/>
          <a:srcRect l="6494" t="8565" r="8047" b="4797"/>
          <a:stretch/>
        </p:blipFill>
        <p:spPr>
          <a:xfrm>
            <a:off x="6911340" y="1725854"/>
            <a:ext cx="4909185" cy="4763846"/>
          </a:xfrm>
          <a:prstGeom prst="rect">
            <a:avLst/>
          </a:prstGeom>
        </p:spPr>
      </p:pic>
      <p:sp>
        <p:nvSpPr>
          <p:cNvPr id="5" name="Volný tvar 4"/>
          <p:cNvSpPr/>
          <p:nvPr/>
        </p:nvSpPr>
        <p:spPr>
          <a:xfrm>
            <a:off x="2232660" y="3627120"/>
            <a:ext cx="1608367" cy="1584960"/>
          </a:xfrm>
          <a:custGeom>
            <a:avLst/>
            <a:gdLst>
              <a:gd name="connsiteX0" fmla="*/ 800100 w 1608367"/>
              <a:gd name="connsiteY0" fmla="*/ 502920 h 1584960"/>
              <a:gd name="connsiteX1" fmla="*/ 838200 w 1608367"/>
              <a:gd name="connsiteY1" fmla="*/ 487680 h 1584960"/>
              <a:gd name="connsiteX2" fmla="*/ 868680 w 1608367"/>
              <a:gd name="connsiteY2" fmla="*/ 441960 h 1584960"/>
              <a:gd name="connsiteX3" fmla="*/ 883920 w 1608367"/>
              <a:gd name="connsiteY3" fmla="*/ 419100 h 1584960"/>
              <a:gd name="connsiteX4" fmla="*/ 891540 w 1608367"/>
              <a:gd name="connsiteY4" fmla="*/ 396240 h 1584960"/>
              <a:gd name="connsiteX5" fmla="*/ 906780 w 1608367"/>
              <a:gd name="connsiteY5" fmla="*/ 373380 h 1584960"/>
              <a:gd name="connsiteX6" fmla="*/ 914400 w 1608367"/>
              <a:gd name="connsiteY6" fmla="*/ 350520 h 1584960"/>
              <a:gd name="connsiteX7" fmla="*/ 944880 w 1608367"/>
              <a:gd name="connsiteY7" fmla="*/ 304800 h 1584960"/>
              <a:gd name="connsiteX8" fmla="*/ 960120 w 1608367"/>
              <a:gd name="connsiteY8" fmla="*/ 281940 h 1584960"/>
              <a:gd name="connsiteX9" fmla="*/ 975360 w 1608367"/>
              <a:gd name="connsiteY9" fmla="*/ 259080 h 1584960"/>
              <a:gd name="connsiteX10" fmla="*/ 998220 w 1608367"/>
              <a:gd name="connsiteY10" fmla="*/ 251460 h 1584960"/>
              <a:gd name="connsiteX11" fmla="*/ 1013460 w 1608367"/>
              <a:gd name="connsiteY11" fmla="*/ 228600 h 1584960"/>
              <a:gd name="connsiteX12" fmla="*/ 1036320 w 1608367"/>
              <a:gd name="connsiteY12" fmla="*/ 220980 h 1584960"/>
              <a:gd name="connsiteX13" fmla="*/ 1059180 w 1608367"/>
              <a:gd name="connsiteY13" fmla="*/ 205740 h 1584960"/>
              <a:gd name="connsiteX14" fmla="*/ 1104900 w 1608367"/>
              <a:gd name="connsiteY14" fmla="*/ 190500 h 1584960"/>
              <a:gd name="connsiteX15" fmla="*/ 1127760 w 1608367"/>
              <a:gd name="connsiteY15" fmla="*/ 182880 h 1584960"/>
              <a:gd name="connsiteX16" fmla="*/ 1203960 w 1608367"/>
              <a:gd name="connsiteY16" fmla="*/ 167640 h 1584960"/>
              <a:gd name="connsiteX17" fmla="*/ 1409700 w 1608367"/>
              <a:gd name="connsiteY17" fmla="*/ 190500 h 1584960"/>
              <a:gd name="connsiteX18" fmla="*/ 1455420 w 1608367"/>
              <a:gd name="connsiteY18" fmla="*/ 213360 h 1584960"/>
              <a:gd name="connsiteX19" fmla="*/ 1501140 w 1608367"/>
              <a:gd name="connsiteY19" fmla="*/ 228600 h 1584960"/>
              <a:gd name="connsiteX20" fmla="*/ 1516380 w 1608367"/>
              <a:gd name="connsiteY20" fmla="*/ 251460 h 1584960"/>
              <a:gd name="connsiteX21" fmla="*/ 1554480 w 1608367"/>
              <a:gd name="connsiteY21" fmla="*/ 281940 h 1584960"/>
              <a:gd name="connsiteX22" fmla="*/ 1569720 w 1608367"/>
              <a:gd name="connsiteY22" fmla="*/ 327660 h 1584960"/>
              <a:gd name="connsiteX23" fmla="*/ 1577340 w 1608367"/>
              <a:gd name="connsiteY23" fmla="*/ 350520 h 1584960"/>
              <a:gd name="connsiteX24" fmla="*/ 1584960 w 1608367"/>
              <a:gd name="connsiteY24" fmla="*/ 373380 h 1584960"/>
              <a:gd name="connsiteX25" fmla="*/ 1600200 w 1608367"/>
              <a:gd name="connsiteY25" fmla="*/ 426720 h 1584960"/>
              <a:gd name="connsiteX26" fmla="*/ 1600200 w 1608367"/>
              <a:gd name="connsiteY26" fmla="*/ 586740 h 1584960"/>
              <a:gd name="connsiteX27" fmla="*/ 1584960 w 1608367"/>
              <a:gd name="connsiteY27" fmla="*/ 632460 h 1584960"/>
              <a:gd name="connsiteX28" fmla="*/ 1577340 w 1608367"/>
              <a:gd name="connsiteY28" fmla="*/ 655320 h 1584960"/>
              <a:gd name="connsiteX29" fmla="*/ 1562100 w 1608367"/>
              <a:gd name="connsiteY29" fmla="*/ 678180 h 1584960"/>
              <a:gd name="connsiteX30" fmla="*/ 1554480 w 1608367"/>
              <a:gd name="connsiteY30" fmla="*/ 701040 h 1584960"/>
              <a:gd name="connsiteX31" fmla="*/ 1524000 w 1608367"/>
              <a:gd name="connsiteY31" fmla="*/ 746760 h 1584960"/>
              <a:gd name="connsiteX32" fmla="*/ 1493520 w 1608367"/>
              <a:gd name="connsiteY32" fmla="*/ 792480 h 1584960"/>
              <a:gd name="connsiteX33" fmla="*/ 1478280 w 1608367"/>
              <a:gd name="connsiteY33" fmla="*/ 815340 h 1584960"/>
              <a:gd name="connsiteX34" fmla="*/ 1455420 w 1608367"/>
              <a:gd name="connsiteY34" fmla="*/ 861060 h 1584960"/>
              <a:gd name="connsiteX35" fmla="*/ 1440180 w 1608367"/>
              <a:gd name="connsiteY35" fmla="*/ 906780 h 1584960"/>
              <a:gd name="connsiteX36" fmla="*/ 1424940 w 1608367"/>
              <a:gd name="connsiteY36" fmla="*/ 929640 h 1584960"/>
              <a:gd name="connsiteX37" fmla="*/ 1417320 w 1608367"/>
              <a:gd name="connsiteY37" fmla="*/ 952500 h 1584960"/>
              <a:gd name="connsiteX38" fmla="*/ 1402080 w 1608367"/>
              <a:gd name="connsiteY38" fmla="*/ 975360 h 1584960"/>
              <a:gd name="connsiteX39" fmla="*/ 1394460 w 1608367"/>
              <a:gd name="connsiteY39" fmla="*/ 998220 h 1584960"/>
              <a:gd name="connsiteX40" fmla="*/ 1371600 w 1608367"/>
              <a:gd name="connsiteY40" fmla="*/ 1021080 h 1584960"/>
              <a:gd name="connsiteX41" fmla="*/ 1341120 w 1608367"/>
              <a:gd name="connsiteY41" fmla="*/ 1059180 h 1584960"/>
              <a:gd name="connsiteX42" fmla="*/ 1303020 w 1608367"/>
              <a:gd name="connsiteY42" fmla="*/ 1089660 h 1584960"/>
              <a:gd name="connsiteX43" fmla="*/ 1272540 w 1608367"/>
              <a:gd name="connsiteY43" fmla="*/ 1135380 h 1584960"/>
              <a:gd name="connsiteX44" fmla="*/ 1257300 w 1608367"/>
              <a:gd name="connsiteY44" fmla="*/ 1158240 h 1584960"/>
              <a:gd name="connsiteX45" fmla="*/ 1234440 w 1608367"/>
              <a:gd name="connsiteY45" fmla="*/ 1165860 h 1584960"/>
              <a:gd name="connsiteX46" fmla="*/ 1203960 w 1608367"/>
              <a:gd name="connsiteY46" fmla="*/ 1203960 h 1584960"/>
              <a:gd name="connsiteX47" fmla="*/ 1196340 w 1608367"/>
              <a:gd name="connsiteY47" fmla="*/ 1226820 h 1584960"/>
              <a:gd name="connsiteX48" fmla="*/ 1158240 w 1608367"/>
              <a:gd name="connsiteY48" fmla="*/ 1264920 h 1584960"/>
              <a:gd name="connsiteX49" fmla="*/ 1143000 w 1608367"/>
              <a:gd name="connsiteY49" fmla="*/ 1287780 h 1584960"/>
              <a:gd name="connsiteX50" fmla="*/ 1097280 w 1608367"/>
              <a:gd name="connsiteY50" fmla="*/ 1318260 h 1584960"/>
              <a:gd name="connsiteX51" fmla="*/ 1059180 w 1608367"/>
              <a:gd name="connsiteY51" fmla="*/ 1348740 h 1584960"/>
              <a:gd name="connsiteX52" fmla="*/ 1043940 w 1608367"/>
              <a:gd name="connsiteY52" fmla="*/ 1371600 h 1584960"/>
              <a:gd name="connsiteX53" fmla="*/ 1021080 w 1608367"/>
              <a:gd name="connsiteY53" fmla="*/ 1386840 h 1584960"/>
              <a:gd name="connsiteX54" fmla="*/ 982980 w 1608367"/>
              <a:gd name="connsiteY54" fmla="*/ 1417320 h 1584960"/>
              <a:gd name="connsiteX55" fmla="*/ 967740 w 1608367"/>
              <a:gd name="connsiteY55" fmla="*/ 1440180 h 1584960"/>
              <a:gd name="connsiteX56" fmla="*/ 922020 w 1608367"/>
              <a:gd name="connsiteY56" fmla="*/ 1470660 h 1584960"/>
              <a:gd name="connsiteX57" fmla="*/ 868680 w 1608367"/>
              <a:gd name="connsiteY57" fmla="*/ 1531620 h 1584960"/>
              <a:gd name="connsiteX58" fmla="*/ 830580 w 1608367"/>
              <a:gd name="connsiteY58" fmla="*/ 1562100 h 1584960"/>
              <a:gd name="connsiteX59" fmla="*/ 815340 w 1608367"/>
              <a:gd name="connsiteY59" fmla="*/ 1584960 h 1584960"/>
              <a:gd name="connsiteX60" fmla="*/ 792480 w 1608367"/>
              <a:gd name="connsiteY60" fmla="*/ 1569720 h 1584960"/>
              <a:gd name="connsiteX61" fmla="*/ 784860 w 1608367"/>
              <a:gd name="connsiteY61" fmla="*/ 1524000 h 1584960"/>
              <a:gd name="connsiteX62" fmla="*/ 762000 w 1608367"/>
              <a:gd name="connsiteY62" fmla="*/ 1440180 h 1584960"/>
              <a:gd name="connsiteX63" fmla="*/ 754380 w 1608367"/>
              <a:gd name="connsiteY63" fmla="*/ 1417320 h 1584960"/>
              <a:gd name="connsiteX64" fmla="*/ 731520 w 1608367"/>
              <a:gd name="connsiteY64" fmla="*/ 1402080 h 1584960"/>
              <a:gd name="connsiteX65" fmla="*/ 693420 w 1608367"/>
              <a:gd name="connsiteY65" fmla="*/ 1363980 h 1584960"/>
              <a:gd name="connsiteX66" fmla="*/ 647700 w 1608367"/>
              <a:gd name="connsiteY66" fmla="*/ 1325880 h 1584960"/>
              <a:gd name="connsiteX67" fmla="*/ 640080 w 1608367"/>
              <a:gd name="connsiteY67" fmla="*/ 1303020 h 1584960"/>
              <a:gd name="connsiteX68" fmla="*/ 617220 w 1608367"/>
              <a:gd name="connsiteY68" fmla="*/ 1295400 h 1584960"/>
              <a:gd name="connsiteX69" fmla="*/ 594360 w 1608367"/>
              <a:gd name="connsiteY69" fmla="*/ 1280160 h 1584960"/>
              <a:gd name="connsiteX70" fmla="*/ 548640 w 1608367"/>
              <a:gd name="connsiteY70" fmla="*/ 1234440 h 1584960"/>
              <a:gd name="connsiteX71" fmla="*/ 518160 w 1608367"/>
              <a:gd name="connsiteY71" fmla="*/ 1211580 h 1584960"/>
              <a:gd name="connsiteX72" fmla="*/ 495300 w 1608367"/>
              <a:gd name="connsiteY72" fmla="*/ 1196340 h 1584960"/>
              <a:gd name="connsiteX73" fmla="*/ 472440 w 1608367"/>
              <a:gd name="connsiteY73" fmla="*/ 1165860 h 1584960"/>
              <a:gd name="connsiteX74" fmla="*/ 426720 w 1608367"/>
              <a:gd name="connsiteY74" fmla="*/ 1127760 h 1584960"/>
              <a:gd name="connsiteX75" fmla="*/ 403860 w 1608367"/>
              <a:gd name="connsiteY75" fmla="*/ 1104900 h 1584960"/>
              <a:gd name="connsiteX76" fmla="*/ 381000 w 1608367"/>
              <a:gd name="connsiteY76" fmla="*/ 1089660 h 1584960"/>
              <a:gd name="connsiteX77" fmla="*/ 335280 w 1608367"/>
              <a:gd name="connsiteY77" fmla="*/ 1051560 h 1584960"/>
              <a:gd name="connsiteX78" fmla="*/ 274320 w 1608367"/>
              <a:gd name="connsiteY78" fmla="*/ 998220 h 1584960"/>
              <a:gd name="connsiteX79" fmla="*/ 251460 w 1608367"/>
              <a:gd name="connsiteY79" fmla="*/ 975360 h 1584960"/>
              <a:gd name="connsiteX80" fmla="*/ 220980 w 1608367"/>
              <a:gd name="connsiteY80" fmla="*/ 929640 h 1584960"/>
              <a:gd name="connsiteX81" fmla="*/ 198120 w 1608367"/>
              <a:gd name="connsiteY81" fmla="*/ 914400 h 1584960"/>
              <a:gd name="connsiteX82" fmla="*/ 167640 w 1608367"/>
              <a:gd name="connsiteY82" fmla="*/ 876300 h 1584960"/>
              <a:gd name="connsiteX83" fmla="*/ 160020 w 1608367"/>
              <a:gd name="connsiteY83" fmla="*/ 853440 h 1584960"/>
              <a:gd name="connsiteX84" fmla="*/ 129540 w 1608367"/>
              <a:gd name="connsiteY84" fmla="*/ 807720 h 1584960"/>
              <a:gd name="connsiteX85" fmla="*/ 83820 w 1608367"/>
              <a:gd name="connsiteY85" fmla="*/ 739140 h 1584960"/>
              <a:gd name="connsiteX86" fmla="*/ 68580 w 1608367"/>
              <a:gd name="connsiteY86" fmla="*/ 716280 h 1584960"/>
              <a:gd name="connsiteX87" fmla="*/ 53340 w 1608367"/>
              <a:gd name="connsiteY87" fmla="*/ 662940 h 1584960"/>
              <a:gd name="connsiteX88" fmla="*/ 45720 w 1608367"/>
              <a:gd name="connsiteY88" fmla="*/ 640080 h 1584960"/>
              <a:gd name="connsiteX89" fmla="*/ 38100 w 1608367"/>
              <a:gd name="connsiteY89" fmla="*/ 609600 h 1584960"/>
              <a:gd name="connsiteX90" fmla="*/ 15240 w 1608367"/>
              <a:gd name="connsiteY90" fmla="*/ 541020 h 1584960"/>
              <a:gd name="connsiteX91" fmla="*/ 7620 w 1608367"/>
              <a:gd name="connsiteY91" fmla="*/ 518160 h 1584960"/>
              <a:gd name="connsiteX92" fmla="*/ 0 w 1608367"/>
              <a:gd name="connsiteY92" fmla="*/ 472440 h 1584960"/>
              <a:gd name="connsiteX93" fmla="*/ 7620 w 1608367"/>
              <a:gd name="connsiteY93" fmla="*/ 281940 h 1584960"/>
              <a:gd name="connsiteX94" fmla="*/ 15240 w 1608367"/>
              <a:gd name="connsiteY94" fmla="*/ 259080 h 1584960"/>
              <a:gd name="connsiteX95" fmla="*/ 30480 w 1608367"/>
              <a:gd name="connsiteY95" fmla="*/ 236220 h 1584960"/>
              <a:gd name="connsiteX96" fmla="*/ 53340 w 1608367"/>
              <a:gd name="connsiteY96" fmla="*/ 220980 h 1584960"/>
              <a:gd name="connsiteX97" fmla="*/ 60960 w 1608367"/>
              <a:gd name="connsiteY97" fmla="*/ 198120 h 1584960"/>
              <a:gd name="connsiteX98" fmla="*/ 129540 w 1608367"/>
              <a:gd name="connsiteY98" fmla="*/ 144780 h 1584960"/>
              <a:gd name="connsiteX99" fmla="*/ 182880 w 1608367"/>
              <a:gd name="connsiteY99" fmla="*/ 106680 h 1584960"/>
              <a:gd name="connsiteX100" fmla="*/ 228600 w 1608367"/>
              <a:gd name="connsiteY100" fmla="*/ 76200 h 1584960"/>
              <a:gd name="connsiteX101" fmla="*/ 251460 w 1608367"/>
              <a:gd name="connsiteY101" fmla="*/ 68580 h 1584960"/>
              <a:gd name="connsiteX102" fmla="*/ 297180 w 1608367"/>
              <a:gd name="connsiteY102" fmla="*/ 38100 h 1584960"/>
              <a:gd name="connsiteX103" fmla="*/ 342900 w 1608367"/>
              <a:gd name="connsiteY103" fmla="*/ 15240 h 1584960"/>
              <a:gd name="connsiteX104" fmla="*/ 388620 w 1608367"/>
              <a:gd name="connsiteY104" fmla="*/ 0 h 1584960"/>
              <a:gd name="connsiteX105" fmla="*/ 518160 w 1608367"/>
              <a:gd name="connsiteY105" fmla="*/ 15240 h 1584960"/>
              <a:gd name="connsiteX106" fmla="*/ 541020 w 1608367"/>
              <a:gd name="connsiteY106" fmla="*/ 30480 h 1584960"/>
              <a:gd name="connsiteX107" fmla="*/ 563880 w 1608367"/>
              <a:gd name="connsiteY107" fmla="*/ 38100 h 1584960"/>
              <a:gd name="connsiteX108" fmla="*/ 609600 w 1608367"/>
              <a:gd name="connsiteY108" fmla="*/ 68580 h 1584960"/>
              <a:gd name="connsiteX109" fmla="*/ 632460 w 1608367"/>
              <a:gd name="connsiteY109" fmla="*/ 83820 h 1584960"/>
              <a:gd name="connsiteX110" fmla="*/ 670560 w 1608367"/>
              <a:gd name="connsiteY110" fmla="*/ 129540 h 1584960"/>
              <a:gd name="connsiteX111" fmla="*/ 685800 w 1608367"/>
              <a:gd name="connsiteY111" fmla="*/ 152400 h 1584960"/>
              <a:gd name="connsiteX112" fmla="*/ 731520 w 1608367"/>
              <a:gd name="connsiteY112" fmla="*/ 182880 h 1584960"/>
              <a:gd name="connsiteX113" fmla="*/ 784860 w 1608367"/>
              <a:gd name="connsiteY113" fmla="*/ 243840 h 1584960"/>
              <a:gd name="connsiteX114" fmla="*/ 815340 w 1608367"/>
              <a:gd name="connsiteY114" fmla="*/ 289560 h 1584960"/>
              <a:gd name="connsiteX115" fmla="*/ 830580 w 1608367"/>
              <a:gd name="connsiteY115" fmla="*/ 312420 h 1584960"/>
              <a:gd name="connsiteX116" fmla="*/ 861060 w 1608367"/>
              <a:gd name="connsiteY116" fmla="*/ 381000 h 1584960"/>
              <a:gd name="connsiteX117" fmla="*/ 861060 w 1608367"/>
              <a:gd name="connsiteY117" fmla="*/ 472440 h 15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608367" h="1584960">
                <a:moveTo>
                  <a:pt x="800100" y="502920"/>
                </a:moveTo>
                <a:cubicBezTo>
                  <a:pt x="812800" y="497840"/>
                  <a:pt x="827977" y="496767"/>
                  <a:pt x="838200" y="487680"/>
                </a:cubicBezTo>
                <a:cubicBezTo>
                  <a:pt x="851890" y="475511"/>
                  <a:pt x="858520" y="457200"/>
                  <a:pt x="868680" y="441960"/>
                </a:cubicBezTo>
                <a:cubicBezTo>
                  <a:pt x="873760" y="434340"/>
                  <a:pt x="881024" y="427788"/>
                  <a:pt x="883920" y="419100"/>
                </a:cubicBezTo>
                <a:cubicBezTo>
                  <a:pt x="886460" y="411480"/>
                  <a:pt x="887948" y="403424"/>
                  <a:pt x="891540" y="396240"/>
                </a:cubicBezTo>
                <a:cubicBezTo>
                  <a:pt x="895636" y="388049"/>
                  <a:pt x="902684" y="381571"/>
                  <a:pt x="906780" y="373380"/>
                </a:cubicBezTo>
                <a:cubicBezTo>
                  <a:pt x="910372" y="366196"/>
                  <a:pt x="910499" y="357541"/>
                  <a:pt x="914400" y="350520"/>
                </a:cubicBezTo>
                <a:cubicBezTo>
                  <a:pt x="923295" y="334509"/>
                  <a:pt x="934720" y="320040"/>
                  <a:pt x="944880" y="304800"/>
                </a:cubicBezTo>
                <a:lnTo>
                  <a:pt x="960120" y="281940"/>
                </a:lnTo>
                <a:cubicBezTo>
                  <a:pt x="965200" y="274320"/>
                  <a:pt x="966672" y="261976"/>
                  <a:pt x="975360" y="259080"/>
                </a:cubicBezTo>
                <a:lnTo>
                  <a:pt x="998220" y="251460"/>
                </a:lnTo>
                <a:cubicBezTo>
                  <a:pt x="1003300" y="243840"/>
                  <a:pt x="1006309" y="234321"/>
                  <a:pt x="1013460" y="228600"/>
                </a:cubicBezTo>
                <a:cubicBezTo>
                  <a:pt x="1019732" y="223582"/>
                  <a:pt x="1029136" y="224572"/>
                  <a:pt x="1036320" y="220980"/>
                </a:cubicBezTo>
                <a:cubicBezTo>
                  <a:pt x="1044511" y="216884"/>
                  <a:pt x="1050811" y="209459"/>
                  <a:pt x="1059180" y="205740"/>
                </a:cubicBezTo>
                <a:cubicBezTo>
                  <a:pt x="1073860" y="199216"/>
                  <a:pt x="1089660" y="195580"/>
                  <a:pt x="1104900" y="190500"/>
                </a:cubicBezTo>
                <a:cubicBezTo>
                  <a:pt x="1112520" y="187960"/>
                  <a:pt x="1119884" y="184455"/>
                  <a:pt x="1127760" y="182880"/>
                </a:cubicBezTo>
                <a:lnTo>
                  <a:pt x="1203960" y="167640"/>
                </a:lnTo>
                <a:cubicBezTo>
                  <a:pt x="1380026" y="176024"/>
                  <a:pt x="1313320" y="158373"/>
                  <a:pt x="1409700" y="190500"/>
                </a:cubicBezTo>
                <a:cubicBezTo>
                  <a:pt x="1493070" y="218290"/>
                  <a:pt x="1366790" y="173969"/>
                  <a:pt x="1455420" y="213360"/>
                </a:cubicBezTo>
                <a:cubicBezTo>
                  <a:pt x="1470100" y="219884"/>
                  <a:pt x="1501140" y="228600"/>
                  <a:pt x="1501140" y="228600"/>
                </a:cubicBezTo>
                <a:cubicBezTo>
                  <a:pt x="1506220" y="236220"/>
                  <a:pt x="1509229" y="245739"/>
                  <a:pt x="1516380" y="251460"/>
                </a:cubicBezTo>
                <a:cubicBezTo>
                  <a:pt x="1549147" y="277673"/>
                  <a:pt x="1533395" y="234499"/>
                  <a:pt x="1554480" y="281940"/>
                </a:cubicBezTo>
                <a:cubicBezTo>
                  <a:pt x="1561004" y="296620"/>
                  <a:pt x="1564640" y="312420"/>
                  <a:pt x="1569720" y="327660"/>
                </a:cubicBezTo>
                <a:lnTo>
                  <a:pt x="1577340" y="350520"/>
                </a:lnTo>
                <a:cubicBezTo>
                  <a:pt x="1579880" y="358140"/>
                  <a:pt x="1583012" y="365588"/>
                  <a:pt x="1584960" y="373380"/>
                </a:cubicBezTo>
                <a:cubicBezTo>
                  <a:pt x="1594528" y="411652"/>
                  <a:pt x="1589268" y="393925"/>
                  <a:pt x="1600200" y="426720"/>
                </a:cubicBezTo>
                <a:cubicBezTo>
                  <a:pt x="1608331" y="499898"/>
                  <a:pt x="1613542" y="506687"/>
                  <a:pt x="1600200" y="586740"/>
                </a:cubicBezTo>
                <a:cubicBezTo>
                  <a:pt x="1597559" y="602586"/>
                  <a:pt x="1590040" y="617220"/>
                  <a:pt x="1584960" y="632460"/>
                </a:cubicBezTo>
                <a:cubicBezTo>
                  <a:pt x="1582420" y="640080"/>
                  <a:pt x="1581795" y="648637"/>
                  <a:pt x="1577340" y="655320"/>
                </a:cubicBezTo>
                <a:cubicBezTo>
                  <a:pt x="1572260" y="662940"/>
                  <a:pt x="1566196" y="669989"/>
                  <a:pt x="1562100" y="678180"/>
                </a:cubicBezTo>
                <a:cubicBezTo>
                  <a:pt x="1558508" y="685364"/>
                  <a:pt x="1558381" y="694019"/>
                  <a:pt x="1554480" y="701040"/>
                </a:cubicBezTo>
                <a:cubicBezTo>
                  <a:pt x="1545585" y="717051"/>
                  <a:pt x="1534160" y="731520"/>
                  <a:pt x="1524000" y="746760"/>
                </a:cubicBezTo>
                <a:lnTo>
                  <a:pt x="1493520" y="792480"/>
                </a:lnTo>
                <a:cubicBezTo>
                  <a:pt x="1488440" y="800100"/>
                  <a:pt x="1481176" y="806652"/>
                  <a:pt x="1478280" y="815340"/>
                </a:cubicBezTo>
                <a:cubicBezTo>
                  <a:pt x="1450490" y="898710"/>
                  <a:pt x="1494811" y="772430"/>
                  <a:pt x="1455420" y="861060"/>
                </a:cubicBezTo>
                <a:cubicBezTo>
                  <a:pt x="1448896" y="875740"/>
                  <a:pt x="1449091" y="893414"/>
                  <a:pt x="1440180" y="906780"/>
                </a:cubicBezTo>
                <a:cubicBezTo>
                  <a:pt x="1435100" y="914400"/>
                  <a:pt x="1429036" y="921449"/>
                  <a:pt x="1424940" y="929640"/>
                </a:cubicBezTo>
                <a:cubicBezTo>
                  <a:pt x="1421348" y="936824"/>
                  <a:pt x="1420912" y="945316"/>
                  <a:pt x="1417320" y="952500"/>
                </a:cubicBezTo>
                <a:cubicBezTo>
                  <a:pt x="1413224" y="960691"/>
                  <a:pt x="1406176" y="967169"/>
                  <a:pt x="1402080" y="975360"/>
                </a:cubicBezTo>
                <a:cubicBezTo>
                  <a:pt x="1398488" y="982544"/>
                  <a:pt x="1398915" y="991537"/>
                  <a:pt x="1394460" y="998220"/>
                </a:cubicBezTo>
                <a:cubicBezTo>
                  <a:pt x="1388482" y="1007186"/>
                  <a:pt x="1379220" y="1013460"/>
                  <a:pt x="1371600" y="1021080"/>
                </a:cubicBezTo>
                <a:cubicBezTo>
                  <a:pt x="1356765" y="1065584"/>
                  <a:pt x="1375587" y="1024713"/>
                  <a:pt x="1341120" y="1059180"/>
                </a:cubicBezTo>
                <a:cubicBezTo>
                  <a:pt x="1306653" y="1093647"/>
                  <a:pt x="1347524" y="1074825"/>
                  <a:pt x="1303020" y="1089660"/>
                </a:cubicBezTo>
                <a:lnTo>
                  <a:pt x="1272540" y="1135380"/>
                </a:lnTo>
                <a:cubicBezTo>
                  <a:pt x="1267460" y="1143000"/>
                  <a:pt x="1265988" y="1155344"/>
                  <a:pt x="1257300" y="1158240"/>
                </a:cubicBezTo>
                <a:lnTo>
                  <a:pt x="1234440" y="1165860"/>
                </a:lnTo>
                <a:cubicBezTo>
                  <a:pt x="1215287" y="1223319"/>
                  <a:pt x="1243351" y="1154721"/>
                  <a:pt x="1203960" y="1203960"/>
                </a:cubicBezTo>
                <a:cubicBezTo>
                  <a:pt x="1198942" y="1210232"/>
                  <a:pt x="1199932" y="1219636"/>
                  <a:pt x="1196340" y="1226820"/>
                </a:cubicBezTo>
                <a:cubicBezTo>
                  <a:pt x="1183640" y="1252220"/>
                  <a:pt x="1181100" y="1249680"/>
                  <a:pt x="1158240" y="1264920"/>
                </a:cubicBezTo>
                <a:cubicBezTo>
                  <a:pt x="1153160" y="1272540"/>
                  <a:pt x="1149892" y="1281749"/>
                  <a:pt x="1143000" y="1287780"/>
                </a:cubicBezTo>
                <a:cubicBezTo>
                  <a:pt x="1129216" y="1299841"/>
                  <a:pt x="1097280" y="1318260"/>
                  <a:pt x="1097280" y="1318260"/>
                </a:cubicBezTo>
                <a:cubicBezTo>
                  <a:pt x="1053604" y="1383774"/>
                  <a:pt x="1111760" y="1306676"/>
                  <a:pt x="1059180" y="1348740"/>
                </a:cubicBezTo>
                <a:cubicBezTo>
                  <a:pt x="1052029" y="1354461"/>
                  <a:pt x="1050416" y="1365124"/>
                  <a:pt x="1043940" y="1371600"/>
                </a:cubicBezTo>
                <a:cubicBezTo>
                  <a:pt x="1037464" y="1378076"/>
                  <a:pt x="1028700" y="1381760"/>
                  <a:pt x="1021080" y="1386840"/>
                </a:cubicBezTo>
                <a:cubicBezTo>
                  <a:pt x="977404" y="1452354"/>
                  <a:pt x="1035560" y="1375256"/>
                  <a:pt x="982980" y="1417320"/>
                </a:cubicBezTo>
                <a:cubicBezTo>
                  <a:pt x="975829" y="1423041"/>
                  <a:pt x="974632" y="1434149"/>
                  <a:pt x="967740" y="1440180"/>
                </a:cubicBezTo>
                <a:cubicBezTo>
                  <a:pt x="953956" y="1452241"/>
                  <a:pt x="922020" y="1470660"/>
                  <a:pt x="922020" y="1470660"/>
                </a:cubicBezTo>
                <a:cubicBezTo>
                  <a:pt x="886460" y="1524000"/>
                  <a:pt x="906780" y="1506220"/>
                  <a:pt x="868680" y="1531620"/>
                </a:cubicBezTo>
                <a:cubicBezTo>
                  <a:pt x="825004" y="1597134"/>
                  <a:pt x="883160" y="1520036"/>
                  <a:pt x="830580" y="1562100"/>
                </a:cubicBezTo>
                <a:cubicBezTo>
                  <a:pt x="823429" y="1567821"/>
                  <a:pt x="820420" y="1577340"/>
                  <a:pt x="815340" y="1584960"/>
                </a:cubicBezTo>
                <a:cubicBezTo>
                  <a:pt x="807720" y="1579880"/>
                  <a:pt x="796576" y="1577911"/>
                  <a:pt x="792480" y="1569720"/>
                </a:cubicBezTo>
                <a:cubicBezTo>
                  <a:pt x="785570" y="1555901"/>
                  <a:pt x="787624" y="1539201"/>
                  <a:pt x="784860" y="1524000"/>
                </a:cubicBezTo>
                <a:cubicBezTo>
                  <a:pt x="776244" y="1476610"/>
                  <a:pt x="778664" y="1490171"/>
                  <a:pt x="762000" y="1440180"/>
                </a:cubicBezTo>
                <a:cubicBezTo>
                  <a:pt x="759460" y="1432560"/>
                  <a:pt x="761063" y="1421775"/>
                  <a:pt x="754380" y="1417320"/>
                </a:cubicBezTo>
                <a:lnTo>
                  <a:pt x="731520" y="1402080"/>
                </a:lnTo>
                <a:cubicBezTo>
                  <a:pt x="703580" y="1360170"/>
                  <a:pt x="731520" y="1395730"/>
                  <a:pt x="693420" y="1363980"/>
                </a:cubicBezTo>
                <a:cubicBezTo>
                  <a:pt x="634748" y="1315087"/>
                  <a:pt x="704457" y="1363718"/>
                  <a:pt x="647700" y="1325880"/>
                </a:cubicBezTo>
                <a:cubicBezTo>
                  <a:pt x="645160" y="1318260"/>
                  <a:pt x="645760" y="1308700"/>
                  <a:pt x="640080" y="1303020"/>
                </a:cubicBezTo>
                <a:cubicBezTo>
                  <a:pt x="634400" y="1297340"/>
                  <a:pt x="624404" y="1298992"/>
                  <a:pt x="617220" y="1295400"/>
                </a:cubicBezTo>
                <a:cubicBezTo>
                  <a:pt x="609029" y="1291304"/>
                  <a:pt x="601205" y="1286244"/>
                  <a:pt x="594360" y="1280160"/>
                </a:cubicBezTo>
                <a:cubicBezTo>
                  <a:pt x="578251" y="1265841"/>
                  <a:pt x="565882" y="1247372"/>
                  <a:pt x="548640" y="1234440"/>
                </a:cubicBezTo>
                <a:cubicBezTo>
                  <a:pt x="538480" y="1226820"/>
                  <a:pt x="528494" y="1218962"/>
                  <a:pt x="518160" y="1211580"/>
                </a:cubicBezTo>
                <a:cubicBezTo>
                  <a:pt x="510708" y="1206257"/>
                  <a:pt x="501776" y="1202816"/>
                  <a:pt x="495300" y="1196340"/>
                </a:cubicBezTo>
                <a:cubicBezTo>
                  <a:pt x="486320" y="1187360"/>
                  <a:pt x="480705" y="1175503"/>
                  <a:pt x="472440" y="1165860"/>
                </a:cubicBezTo>
                <a:cubicBezTo>
                  <a:pt x="439047" y="1126902"/>
                  <a:pt x="461994" y="1157155"/>
                  <a:pt x="426720" y="1127760"/>
                </a:cubicBezTo>
                <a:cubicBezTo>
                  <a:pt x="418441" y="1120861"/>
                  <a:pt x="412139" y="1111799"/>
                  <a:pt x="403860" y="1104900"/>
                </a:cubicBezTo>
                <a:cubicBezTo>
                  <a:pt x="396825" y="1099037"/>
                  <a:pt x="388035" y="1095523"/>
                  <a:pt x="381000" y="1089660"/>
                </a:cubicBezTo>
                <a:cubicBezTo>
                  <a:pt x="322328" y="1040767"/>
                  <a:pt x="392037" y="1089398"/>
                  <a:pt x="335280" y="1051560"/>
                </a:cubicBezTo>
                <a:cubicBezTo>
                  <a:pt x="292100" y="986790"/>
                  <a:pt x="363220" y="1087120"/>
                  <a:pt x="274320" y="998220"/>
                </a:cubicBezTo>
                <a:cubicBezTo>
                  <a:pt x="266700" y="990600"/>
                  <a:pt x="258076" y="983866"/>
                  <a:pt x="251460" y="975360"/>
                </a:cubicBezTo>
                <a:cubicBezTo>
                  <a:pt x="240215" y="960902"/>
                  <a:pt x="236220" y="939800"/>
                  <a:pt x="220980" y="929640"/>
                </a:cubicBezTo>
                <a:lnTo>
                  <a:pt x="198120" y="914400"/>
                </a:lnTo>
                <a:cubicBezTo>
                  <a:pt x="178967" y="856941"/>
                  <a:pt x="207031" y="925539"/>
                  <a:pt x="167640" y="876300"/>
                </a:cubicBezTo>
                <a:cubicBezTo>
                  <a:pt x="162622" y="870028"/>
                  <a:pt x="163921" y="860461"/>
                  <a:pt x="160020" y="853440"/>
                </a:cubicBezTo>
                <a:cubicBezTo>
                  <a:pt x="151125" y="837429"/>
                  <a:pt x="139700" y="822960"/>
                  <a:pt x="129540" y="807720"/>
                </a:cubicBezTo>
                <a:lnTo>
                  <a:pt x="83820" y="739140"/>
                </a:lnTo>
                <a:cubicBezTo>
                  <a:pt x="78740" y="731520"/>
                  <a:pt x="71476" y="724968"/>
                  <a:pt x="68580" y="716280"/>
                </a:cubicBezTo>
                <a:cubicBezTo>
                  <a:pt x="50310" y="661470"/>
                  <a:pt x="72476" y="729917"/>
                  <a:pt x="53340" y="662940"/>
                </a:cubicBezTo>
                <a:cubicBezTo>
                  <a:pt x="51133" y="655217"/>
                  <a:pt x="47927" y="647803"/>
                  <a:pt x="45720" y="640080"/>
                </a:cubicBezTo>
                <a:cubicBezTo>
                  <a:pt x="42843" y="630010"/>
                  <a:pt x="41109" y="619631"/>
                  <a:pt x="38100" y="609600"/>
                </a:cubicBezTo>
                <a:lnTo>
                  <a:pt x="15240" y="541020"/>
                </a:lnTo>
                <a:cubicBezTo>
                  <a:pt x="12700" y="533400"/>
                  <a:pt x="8940" y="526083"/>
                  <a:pt x="7620" y="518160"/>
                </a:cubicBezTo>
                <a:lnTo>
                  <a:pt x="0" y="472440"/>
                </a:lnTo>
                <a:cubicBezTo>
                  <a:pt x="2540" y="408940"/>
                  <a:pt x="3092" y="345329"/>
                  <a:pt x="7620" y="281940"/>
                </a:cubicBezTo>
                <a:cubicBezTo>
                  <a:pt x="8192" y="273928"/>
                  <a:pt x="11648" y="266264"/>
                  <a:pt x="15240" y="259080"/>
                </a:cubicBezTo>
                <a:cubicBezTo>
                  <a:pt x="19336" y="250889"/>
                  <a:pt x="24004" y="242696"/>
                  <a:pt x="30480" y="236220"/>
                </a:cubicBezTo>
                <a:cubicBezTo>
                  <a:pt x="36956" y="229744"/>
                  <a:pt x="45720" y="226060"/>
                  <a:pt x="53340" y="220980"/>
                </a:cubicBezTo>
                <a:cubicBezTo>
                  <a:pt x="55880" y="213360"/>
                  <a:pt x="56505" y="204803"/>
                  <a:pt x="60960" y="198120"/>
                </a:cubicBezTo>
                <a:cubicBezTo>
                  <a:pt x="75285" y="176633"/>
                  <a:pt x="111374" y="156890"/>
                  <a:pt x="129540" y="144780"/>
                </a:cubicBezTo>
                <a:cubicBezTo>
                  <a:pt x="203861" y="95233"/>
                  <a:pt x="88364" y="172841"/>
                  <a:pt x="182880" y="106680"/>
                </a:cubicBezTo>
                <a:cubicBezTo>
                  <a:pt x="197885" y="96176"/>
                  <a:pt x="211224" y="81992"/>
                  <a:pt x="228600" y="76200"/>
                </a:cubicBezTo>
                <a:cubicBezTo>
                  <a:pt x="236220" y="73660"/>
                  <a:pt x="244439" y="72481"/>
                  <a:pt x="251460" y="68580"/>
                </a:cubicBezTo>
                <a:cubicBezTo>
                  <a:pt x="267471" y="59685"/>
                  <a:pt x="279804" y="43892"/>
                  <a:pt x="297180" y="38100"/>
                </a:cubicBezTo>
                <a:cubicBezTo>
                  <a:pt x="380550" y="10310"/>
                  <a:pt x="254270" y="54631"/>
                  <a:pt x="342900" y="15240"/>
                </a:cubicBezTo>
                <a:cubicBezTo>
                  <a:pt x="357580" y="8716"/>
                  <a:pt x="388620" y="0"/>
                  <a:pt x="388620" y="0"/>
                </a:cubicBezTo>
                <a:cubicBezTo>
                  <a:pt x="405476" y="1204"/>
                  <a:pt x="483522" y="-2079"/>
                  <a:pt x="518160" y="15240"/>
                </a:cubicBezTo>
                <a:cubicBezTo>
                  <a:pt x="526351" y="19336"/>
                  <a:pt x="532829" y="26384"/>
                  <a:pt x="541020" y="30480"/>
                </a:cubicBezTo>
                <a:cubicBezTo>
                  <a:pt x="548204" y="34072"/>
                  <a:pt x="556859" y="34199"/>
                  <a:pt x="563880" y="38100"/>
                </a:cubicBezTo>
                <a:cubicBezTo>
                  <a:pt x="579891" y="46995"/>
                  <a:pt x="594360" y="58420"/>
                  <a:pt x="609600" y="68580"/>
                </a:cubicBezTo>
                <a:lnTo>
                  <a:pt x="632460" y="83820"/>
                </a:lnTo>
                <a:cubicBezTo>
                  <a:pt x="670298" y="140577"/>
                  <a:pt x="621667" y="70868"/>
                  <a:pt x="670560" y="129540"/>
                </a:cubicBezTo>
                <a:cubicBezTo>
                  <a:pt x="676423" y="136575"/>
                  <a:pt x="678908" y="146369"/>
                  <a:pt x="685800" y="152400"/>
                </a:cubicBezTo>
                <a:cubicBezTo>
                  <a:pt x="699584" y="164461"/>
                  <a:pt x="731520" y="182880"/>
                  <a:pt x="731520" y="182880"/>
                </a:cubicBezTo>
                <a:cubicBezTo>
                  <a:pt x="767080" y="236220"/>
                  <a:pt x="746760" y="218440"/>
                  <a:pt x="784860" y="243840"/>
                </a:cubicBezTo>
                <a:lnTo>
                  <a:pt x="815340" y="289560"/>
                </a:lnTo>
                <a:lnTo>
                  <a:pt x="830580" y="312420"/>
                </a:lnTo>
                <a:cubicBezTo>
                  <a:pt x="844392" y="333138"/>
                  <a:pt x="861060" y="353796"/>
                  <a:pt x="861060" y="381000"/>
                </a:cubicBezTo>
                <a:lnTo>
                  <a:pt x="861060" y="472440"/>
                </a:lnTo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Volný tvar 5"/>
          <p:cNvSpPr/>
          <p:nvPr/>
        </p:nvSpPr>
        <p:spPr>
          <a:xfrm>
            <a:off x="8442960" y="3329795"/>
            <a:ext cx="2057400" cy="1333645"/>
          </a:xfrm>
          <a:custGeom>
            <a:avLst/>
            <a:gdLst>
              <a:gd name="connsiteX0" fmla="*/ 845820 w 2057400"/>
              <a:gd name="connsiteY0" fmla="*/ 7765 h 1333645"/>
              <a:gd name="connsiteX1" fmla="*/ 807720 w 2057400"/>
              <a:gd name="connsiteY1" fmla="*/ 145 h 1333645"/>
              <a:gd name="connsiteX2" fmla="*/ 762000 w 2057400"/>
              <a:gd name="connsiteY2" fmla="*/ 15385 h 1333645"/>
              <a:gd name="connsiteX3" fmla="*/ 739140 w 2057400"/>
              <a:gd name="connsiteY3" fmla="*/ 23005 h 1333645"/>
              <a:gd name="connsiteX4" fmla="*/ 716280 w 2057400"/>
              <a:gd name="connsiteY4" fmla="*/ 38245 h 1333645"/>
              <a:gd name="connsiteX5" fmla="*/ 693420 w 2057400"/>
              <a:gd name="connsiteY5" fmla="*/ 45865 h 1333645"/>
              <a:gd name="connsiteX6" fmla="*/ 670560 w 2057400"/>
              <a:gd name="connsiteY6" fmla="*/ 61105 h 1333645"/>
              <a:gd name="connsiteX7" fmla="*/ 624840 w 2057400"/>
              <a:gd name="connsiteY7" fmla="*/ 76345 h 1333645"/>
              <a:gd name="connsiteX8" fmla="*/ 601980 w 2057400"/>
              <a:gd name="connsiteY8" fmla="*/ 83965 h 1333645"/>
              <a:gd name="connsiteX9" fmla="*/ 579120 w 2057400"/>
              <a:gd name="connsiteY9" fmla="*/ 99205 h 1333645"/>
              <a:gd name="connsiteX10" fmla="*/ 533400 w 2057400"/>
              <a:gd name="connsiteY10" fmla="*/ 114445 h 1333645"/>
              <a:gd name="connsiteX11" fmla="*/ 510540 w 2057400"/>
              <a:gd name="connsiteY11" fmla="*/ 129685 h 1333645"/>
              <a:gd name="connsiteX12" fmla="*/ 487680 w 2057400"/>
              <a:gd name="connsiteY12" fmla="*/ 137305 h 1333645"/>
              <a:gd name="connsiteX13" fmla="*/ 419100 w 2057400"/>
              <a:gd name="connsiteY13" fmla="*/ 183025 h 1333645"/>
              <a:gd name="connsiteX14" fmla="*/ 396240 w 2057400"/>
              <a:gd name="connsiteY14" fmla="*/ 198265 h 1333645"/>
              <a:gd name="connsiteX15" fmla="*/ 373380 w 2057400"/>
              <a:gd name="connsiteY15" fmla="*/ 213505 h 1333645"/>
              <a:gd name="connsiteX16" fmla="*/ 335280 w 2057400"/>
              <a:gd name="connsiteY16" fmla="*/ 243985 h 1333645"/>
              <a:gd name="connsiteX17" fmla="*/ 289560 w 2057400"/>
              <a:gd name="connsiteY17" fmla="*/ 274465 h 1333645"/>
              <a:gd name="connsiteX18" fmla="*/ 274320 w 2057400"/>
              <a:gd name="connsiteY18" fmla="*/ 297325 h 1333645"/>
              <a:gd name="connsiteX19" fmla="*/ 251460 w 2057400"/>
              <a:gd name="connsiteY19" fmla="*/ 304945 h 1333645"/>
              <a:gd name="connsiteX20" fmla="*/ 220980 w 2057400"/>
              <a:gd name="connsiteY20" fmla="*/ 335425 h 1333645"/>
              <a:gd name="connsiteX21" fmla="*/ 190500 w 2057400"/>
              <a:gd name="connsiteY21" fmla="*/ 381145 h 1333645"/>
              <a:gd name="connsiteX22" fmla="*/ 182880 w 2057400"/>
              <a:gd name="connsiteY22" fmla="*/ 404005 h 1333645"/>
              <a:gd name="connsiteX23" fmla="*/ 167640 w 2057400"/>
              <a:gd name="connsiteY23" fmla="*/ 426865 h 1333645"/>
              <a:gd name="connsiteX24" fmla="*/ 160020 w 2057400"/>
              <a:gd name="connsiteY24" fmla="*/ 449725 h 1333645"/>
              <a:gd name="connsiteX25" fmla="*/ 144780 w 2057400"/>
              <a:gd name="connsiteY25" fmla="*/ 472585 h 1333645"/>
              <a:gd name="connsiteX26" fmla="*/ 129540 w 2057400"/>
              <a:gd name="connsiteY26" fmla="*/ 518305 h 1333645"/>
              <a:gd name="connsiteX27" fmla="*/ 114300 w 2057400"/>
              <a:gd name="connsiteY27" fmla="*/ 564025 h 1333645"/>
              <a:gd name="connsiteX28" fmla="*/ 106680 w 2057400"/>
              <a:gd name="connsiteY28" fmla="*/ 586885 h 1333645"/>
              <a:gd name="connsiteX29" fmla="*/ 91440 w 2057400"/>
              <a:gd name="connsiteY29" fmla="*/ 655465 h 1333645"/>
              <a:gd name="connsiteX30" fmla="*/ 83820 w 2057400"/>
              <a:gd name="connsiteY30" fmla="*/ 678325 h 1333645"/>
              <a:gd name="connsiteX31" fmla="*/ 68580 w 2057400"/>
              <a:gd name="connsiteY31" fmla="*/ 701185 h 1333645"/>
              <a:gd name="connsiteX32" fmla="*/ 60960 w 2057400"/>
              <a:gd name="connsiteY32" fmla="*/ 724045 h 1333645"/>
              <a:gd name="connsiteX33" fmla="*/ 30480 w 2057400"/>
              <a:gd name="connsiteY33" fmla="*/ 769765 h 1333645"/>
              <a:gd name="connsiteX34" fmla="*/ 15240 w 2057400"/>
              <a:gd name="connsiteY34" fmla="*/ 792625 h 1333645"/>
              <a:gd name="connsiteX35" fmla="*/ 0 w 2057400"/>
              <a:gd name="connsiteY35" fmla="*/ 838345 h 1333645"/>
              <a:gd name="connsiteX36" fmla="*/ 7620 w 2057400"/>
              <a:gd name="connsiteY36" fmla="*/ 906925 h 1333645"/>
              <a:gd name="connsiteX37" fmla="*/ 53340 w 2057400"/>
              <a:gd name="connsiteY37" fmla="*/ 998365 h 1333645"/>
              <a:gd name="connsiteX38" fmla="*/ 91440 w 2057400"/>
              <a:gd name="connsiteY38" fmla="*/ 1028845 h 1333645"/>
              <a:gd name="connsiteX39" fmla="*/ 121920 w 2057400"/>
              <a:gd name="connsiteY39" fmla="*/ 1059325 h 1333645"/>
              <a:gd name="connsiteX40" fmla="*/ 167640 w 2057400"/>
              <a:gd name="connsiteY40" fmla="*/ 1089805 h 1333645"/>
              <a:gd name="connsiteX41" fmla="*/ 190500 w 2057400"/>
              <a:gd name="connsiteY41" fmla="*/ 1105045 h 1333645"/>
              <a:gd name="connsiteX42" fmla="*/ 236220 w 2057400"/>
              <a:gd name="connsiteY42" fmla="*/ 1120285 h 1333645"/>
              <a:gd name="connsiteX43" fmla="*/ 304800 w 2057400"/>
              <a:gd name="connsiteY43" fmla="*/ 1166005 h 1333645"/>
              <a:gd name="connsiteX44" fmla="*/ 327660 w 2057400"/>
              <a:gd name="connsiteY44" fmla="*/ 1181245 h 1333645"/>
              <a:gd name="connsiteX45" fmla="*/ 365760 w 2057400"/>
              <a:gd name="connsiteY45" fmla="*/ 1211725 h 1333645"/>
              <a:gd name="connsiteX46" fmla="*/ 388620 w 2057400"/>
              <a:gd name="connsiteY46" fmla="*/ 1226965 h 1333645"/>
              <a:gd name="connsiteX47" fmla="*/ 434340 w 2057400"/>
              <a:gd name="connsiteY47" fmla="*/ 1242205 h 1333645"/>
              <a:gd name="connsiteX48" fmla="*/ 502920 w 2057400"/>
              <a:gd name="connsiteY48" fmla="*/ 1287925 h 1333645"/>
              <a:gd name="connsiteX49" fmla="*/ 525780 w 2057400"/>
              <a:gd name="connsiteY49" fmla="*/ 1303165 h 1333645"/>
              <a:gd name="connsiteX50" fmla="*/ 548640 w 2057400"/>
              <a:gd name="connsiteY50" fmla="*/ 1318405 h 1333645"/>
              <a:gd name="connsiteX51" fmla="*/ 594360 w 2057400"/>
              <a:gd name="connsiteY51" fmla="*/ 1333645 h 1333645"/>
              <a:gd name="connsiteX52" fmla="*/ 640080 w 2057400"/>
              <a:gd name="connsiteY52" fmla="*/ 1318405 h 1333645"/>
              <a:gd name="connsiteX53" fmla="*/ 662940 w 2057400"/>
              <a:gd name="connsiteY53" fmla="*/ 1310785 h 1333645"/>
              <a:gd name="connsiteX54" fmla="*/ 678180 w 2057400"/>
              <a:gd name="connsiteY54" fmla="*/ 1287925 h 1333645"/>
              <a:gd name="connsiteX55" fmla="*/ 723900 w 2057400"/>
              <a:gd name="connsiteY55" fmla="*/ 1257445 h 1333645"/>
              <a:gd name="connsiteX56" fmla="*/ 777240 w 2057400"/>
              <a:gd name="connsiteY56" fmla="*/ 1242205 h 1333645"/>
              <a:gd name="connsiteX57" fmla="*/ 952500 w 2057400"/>
              <a:gd name="connsiteY57" fmla="*/ 1234585 h 1333645"/>
              <a:gd name="connsiteX58" fmla="*/ 1226820 w 2057400"/>
              <a:gd name="connsiteY58" fmla="*/ 1242205 h 1333645"/>
              <a:gd name="connsiteX59" fmla="*/ 1249680 w 2057400"/>
              <a:gd name="connsiteY59" fmla="*/ 1249825 h 1333645"/>
              <a:gd name="connsiteX60" fmla="*/ 1325880 w 2057400"/>
              <a:gd name="connsiteY60" fmla="*/ 1295545 h 1333645"/>
              <a:gd name="connsiteX61" fmla="*/ 1348740 w 2057400"/>
              <a:gd name="connsiteY61" fmla="*/ 1310785 h 1333645"/>
              <a:gd name="connsiteX62" fmla="*/ 1432560 w 2057400"/>
              <a:gd name="connsiteY62" fmla="*/ 1303165 h 1333645"/>
              <a:gd name="connsiteX63" fmla="*/ 1508760 w 2057400"/>
              <a:gd name="connsiteY63" fmla="*/ 1272685 h 1333645"/>
              <a:gd name="connsiteX64" fmla="*/ 1562100 w 2057400"/>
              <a:gd name="connsiteY64" fmla="*/ 1257445 h 1333645"/>
              <a:gd name="connsiteX65" fmla="*/ 1577340 w 2057400"/>
              <a:gd name="connsiteY65" fmla="*/ 1234585 h 1333645"/>
              <a:gd name="connsiteX66" fmla="*/ 1638300 w 2057400"/>
              <a:gd name="connsiteY66" fmla="*/ 1173625 h 1333645"/>
              <a:gd name="connsiteX67" fmla="*/ 1668780 w 2057400"/>
              <a:gd name="connsiteY67" fmla="*/ 1112665 h 1333645"/>
              <a:gd name="connsiteX68" fmla="*/ 1722120 w 2057400"/>
              <a:gd name="connsiteY68" fmla="*/ 1059325 h 1333645"/>
              <a:gd name="connsiteX69" fmla="*/ 1744980 w 2057400"/>
              <a:gd name="connsiteY69" fmla="*/ 1036465 h 1333645"/>
              <a:gd name="connsiteX70" fmla="*/ 1767840 w 2057400"/>
              <a:gd name="connsiteY70" fmla="*/ 1021225 h 1333645"/>
              <a:gd name="connsiteX71" fmla="*/ 1790700 w 2057400"/>
              <a:gd name="connsiteY71" fmla="*/ 998365 h 1333645"/>
              <a:gd name="connsiteX72" fmla="*/ 1844040 w 2057400"/>
              <a:gd name="connsiteY72" fmla="*/ 960265 h 1333645"/>
              <a:gd name="connsiteX73" fmla="*/ 1882140 w 2057400"/>
              <a:gd name="connsiteY73" fmla="*/ 914545 h 1333645"/>
              <a:gd name="connsiteX74" fmla="*/ 1905000 w 2057400"/>
              <a:gd name="connsiteY74" fmla="*/ 899305 h 1333645"/>
              <a:gd name="connsiteX75" fmla="*/ 1920240 w 2057400"/>
              <a:gd name="connsiteY75" fmla="*/ 876445 h 1333645"/>
              <a:gd name="connsiteX76" fmla="*/ 1943100 w 2057400"/>
              <a:gd name="connsiteY76" fmla="*/ 845965 h 1333645"/>
              <a:gd name="connsiteX77" fmla="*/ 1973580 w 2057400"/>
              <a:gd name="connsiteY77" fmla="*/ 785005 h 1333645"/>
              <a:gd name="connsiteX78" fmla="*/ 1988820 w 2057400"/>
              <a:gd name="connsiteY78" fmla="*/ 754525 h 1333645"/>
              <a:gd name="connsiteX79" fmla="*/ 2034540 w 2057400"/>
              <a:gd name="connsiteY79" fmla="*/ 685945 h 1333645"/>
              <a:gd name="connsiteX80" fmla="*/ 2057400 w 2057400"/>
              <a:gd name="connsiteY80" fmla="*/ 594505 h 1333645"/>
              <a:gd name="connsiteX81" fmla="*/ 2049780 w 2057400"/>
              <a:gd name="connsiteY81" fmla="*/ 495445 h 1333645"/>
              <a:gd name="connsiteX82" fmla="*/ 2026920 w 2057400"/>
              <a:gd name="connsiteY82" fmla="*/ 472585 h 1333645"/>
              <a:gd name="connsiteX83" fmla="*/ 1981200 w 2057400"/>
              <a:gd name="connsiteY83" fmla="*/ 442105 h 1333645"/>
              <a:gd name="connsiteX84" fmla="*/ 1958340 w 2057400"/>
              <a:gd name="connsiteY84" fmla="*/ 419245 h 1333645"/>
              <a:gd name="connsiteX85" fmla="*/ 1943100 w 2057400"/>
              <a:gd name="connsiteY85" fmla="*/ 396385 h 1333645"/>
              <a:gd name="connsiteX86" fmla="*/ 1920240 w 2057400"/>
              <a:gd name="connsiteY86" fmla="*/ 381145 h 1333645"/>
              <a:gd name="connsiteX87" fmla="*/ 1828800 w 2057400"/>
              <a:gd name="connsiteY87" fmla="*/ 297325 h 1333645"/>
              <a:gd name="connsiteX88" fmla="*/ 1760220 w 2057400"/>
              <a:gd name="connsiteY88" fmla="*/ 251605 h 1333645"/>
              <a:gd name="connsiteX89" fmla="*/ 1737360 w 2057400"/>
              <a:gd name="connsiteY89" fmla="*/ 243985 h 1333645"/>
              <a:gd name="connsiteX90" fmla="*/ 1699260 w 2057400"/>
              <a:gd name="connsiteY90" fmla="*/ 236365 h 1333645"/>
              <a:gd name="connsiteX91" fmla="*/ 1676400 w 2057400"/>
              <a:gd name="connsiteY91" fmla="*/ 228745 h 1333645"/>
              <a:gd name="connsiteX92" fmla="*/ 1615440 w 2057400"/>
              <a:gd name="connsiteY92" fmla="*/ 213505 h 1333645"/>
              <a:gd name="connsiteX93" fmla="*/ 1592580 w 2057400"/>
              <a:gd name="connsiteY93" fmla="*/ 205885 h 1333645"/>
              <a:gd name="connsiteX94" fmla="*/ 1485900 w 2057400"/>
              <a:gd name="connsiteY94" fmla="*/ 190645 h 1333645"/>
              <a:gd name="connsiteX95" fmla="*/ 1447800 w 2057400"/>
              <a:gd name="connsiteY95" fmla="*/ 175405 h 1333645"/>
              <a:gd name="connsiteX96" fmla="*/ 1363980 w 2057400"/>
              <a:gd name="connsiteY96" fmla="*/ 137305 h 1333645"/>
              <a:gd name="connsiteX97" fmla="*/ 1333500 w 2057400"/>
              <a:gd name="connsiteY97" fmla="*/ 114445 h 1333645"/>
              <a:gd name="connsiteX98" fmla="*/ 1272540 w 2057400"/>
              <a:gd name="connsiteY98" fmla="*/ 76345 h 1333645"/>
              <a:gd name="connsiteX99" fmla="*/ 1249680 w 2057400"/>
              <a:gd name="connsiteY99" fmla="*/ 53485 h 1333645"/>
              <a:gd name="connsiteX100" fmla="*/ 1219200 w 2057400"/>
              <a:gd name="connsiteY100" fmla="*/ 45865 h 1333645"/>
              <a:gd name="connsiteX101" fmla="*/ 1196340 w 2057400"/>
              <a:gd name="connsiteY101" fmla="*/ 38245 h 1333645"/>
              <a:gd name="connsiteX102" fmla="*/ 1165860 w 2057400"/>
              <a:gd name="connsiteY102" fmla="*/ 30625 h 1333645"/>
              <a:gd name="connsiteX103" fmla="*/ 1143000 w 2057400"/>
              <a:gd name="connsiteY103" fmla="*/ 23005 h 1333645"/>
              <a:gd name="connsiteX104" fmla="*/ 1097280 w 2057400"/>
              <a:gd name="connsiteY104" fmla="*/ 15385 h 1333645"/>
              <a:gd name="connsiteX105" fmla="*/ 1028700 w 2057400"/>
              <a:gd name="connsiteY105" fmla="*/ 145 h 1333645"/>
              <a:gd name="connsiteX106" fmla="*/ 845820 w 2057400"/>
              <a:gd name="connsiteY106" fmla="*/ 7765 h 133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57400" h="1333645">
                <a:moveTo>
                  <a:pt x="845820" y="7765"/>
                </a:moveTo>
                <a:cubicBezTo>
                  <a:pt x="833120" y="5225"/>
                  <a:pt x="820618" y="-1028"/>
                  <a:pt x="807720" y="145"/>
                </a:cubicBezTo>
                <a:cubicBezTo>
                  <a:pt x="791722" y="1599"/>
                  <a:pt x="777240" y="10305"/>
                  <a:pt x="762000" y="15385"/>
                </a:cubicBezTo>
                <a:cubicBezTo>
                  <a:pt x="754380" y="17925"/>
                  <a:pt x="745823" y="18550"/>
                  <a:pt x="739140" y="23005"/>
                </a:cubicBezTo>
                <a:cubicBezTo>
                  <a:pt x="731520" y="28085"/>
                  <a:pt x="724471" y="34149"/>
                  <a:pt x="716280" y="38245"/>
                </a:cubicBezTo>
                <a:cubicBezTo>
                  <a:pt x="709096" y="41837"/>
                  <a:pt x="700604" y="42273"/>
                  <a:pt x="693420" y="45865"/>
                </a:cubicBezTo>
                <a:cubicBezTo>
                  <a:pt x="685229" y="49961"/>
                  <a:pt x="678929" y="57386"/>
                  <a:pt x="670560" y="61105"/>
                </a:cubicBezTo>
                <a:cubicBezTo>
                  <a:pt x="655880" y="67629"/>
                  <a:pt x="640080" y="71265"/>
                  <a:pt x="624840" y="76345"/>
                </a:cubicBezTo>
                <a:cubicBezTo>
                  <a:pt x="617220" y="78885"/>
                  <a:pt x="608663" y="79510"/>
                  <a:pt x="601980" y="83965"/>
                </a:cubicBezTo>
                <a:cubicBezTo>
                  <a:pt x="594360" y="89045"/>
                  <a:pt x="587489" y="95486"/>
                  <a:pt x="579120" y="99205"/>
                </a:cubicBezTo>
                <a:cubicBezTo>
                  <a:pt x="564440" y="105729"/>
                  <a:pt x="546766" y="105534"/>
                  <a:pt x="533400" y="114445"/>
                </a:cubicBezTo>
                <a:cubicBezTo>
                  <a:pt x="525780" y="119525"/>
                  <a:pt x="518731" y="125589"/>
                  <a:pt x="510540" y="129685"/>
                </a:cubicBezTo>
                <a:cubicBezTo>
                  <a:pt x="503356" y="133277"/>
                  <a:pt x="494701" y="133404"/>
                  <a:pt x="487680" y="137305"/>
                </a:cubicBezTo>
                <a:lnTo>
                  <a:pt x="419100" y="183025"/>
                </a:lnTo>
                <a:lnTo>
                  <a:pt x="396240" y="198265"/>
                </a:lnTo>
                <a:lnTo>
                  <a:pt x="373380" y="213505"/>
                </a:lnTo>
                <a:cubicBezTo>
                  <a:pt x="345221" y="255744"/>
                  <a:pt x="374251" y="222334"/>
                  <a:pt x="335280" y="243985"/>
                </a:cubicBezTo>
                <a:cubicBezTo>
                  <a:pt x="319269" y="252880"/>
                  <a:pt x="289560" y="274465"/>
                  <a:pt x="289560" y="274465"/>
                </a:cubicBezTo>
                <a:cubicBezTo>
                  <a:pt x="284480" y="282085"/>
                  <a:pt x="281471" y="291604"/>
                  <a:pt x="274320" y="297325"/>
                </a:cubicBezTo>
                <a:cubicBezTo>
                  <a:pt x="268048" y="302343"/>
                  <a:pt x="257140" y="299265"/>
                  <a:pt x="251460" y="304945"/>
                </a:cubicBezTo>
                <a:cubicBezTo>
                  <a:pt x="210820" y="345585"/>
                  <a:pt x="281940" y="315105"/>
                  <a:pt x="220980" y="335425"/>
                </a:cubicBezTo>
                <a:cubicBezTo>
                  <a:pt x="210820" y="350665"/>
                  <a:pt x="196292" y="363769"/>
                  <a:pt x="190500" y="381145"/>
                </a:cubicBezTo>
                <a:cubicBezTo>
                  <a:pt x="187960" y="388765"/>
                  <a:pt x="186472" y="396821"/>
                  <a:pt x="182880" y="404005"/>
                </a:cubicBezTo>
                <a:cubicBezTo>
                  <a:pt x="178784" y="412196"/>
                  <a:pt x="171736" y="418674"/>
                  <a:pt x="167640" y="426865"/>
                </a:cubicBezTo>
                <a:cubicBezTo>
                  <a:pt x="164048" y="434049"/>
                  <a:pt x="163612" y="442541"/>
                  <a:pt x="160020" y="449725"/>
                </a:cubicBezTo>
                <a:cubicBezTo>
                  <a:pt x="155924" y="457916"/>
                  <a:pt x="148499" y="464216"/>
                  <a:pt x="144780" y="472585"/>
                </a:cubicBezTo>
                <a:cubicBezTo>
                  <a:pt x="138256" y="487265"/>
                  <a:pt x="134620" y="503065"/>
                  <a:pt x="129540" y="518305"/>
                </a:cubicBezTo>
                <a:lnTo>
                  <a:pt x="114300" y="564025"/>
                </a:lnTo>
                <a:cubicBezTo>
                  <a:pt x="111760" y="571645"/>
                  <a:pt x="108255" y="579009"/>
                  <a:pt x="106680" y="586885"/>
                </a:cubicBezTo>
                <a:cubicBezTo>
                  <a:pt x="101442" y="613074"/>
                  <a:pt x="98614" y="630356"/>
                  <a:pt x="91440" y="655465"/>
                </a:cubicBezTo>
                <a:cubicBezTo>
                  <a:pt x="89233" y="663188"/>
                  <a:pt x="87412" y="671141"/>
                  <a:pt x="83820" y="678325"/>
                </a:cubicBezTo>
                <a:cubicBezTo>
                  <a:pt x="79724" y="686516"/>
                  <a:pt x="72676" y="692994"/>
                  <a:pt x="68580" y="701185"/>
                </a:cubicBezTo>
                <a:cubicBezTo>
                  <a:pt x="64988" y="708369"/>
                  <a:pt x="64861" y="717024"/>
                  <a:pt x="60960" y="724045"/>
                </a:cubicBezTo>
                <a:cubicBezTo>
                  <a:pt x="52065" y="740056"/>
                  <a:pt x="40640" y="754525"/>
                  <a:pt x="30480" y="769765"/>
                </a:cubicBezTo>
                <a:cubicBezTo>
                  <a:pt x="25400" y="777385"/>
                  <a:pt x="18136" y="783937"/>
                  <a:pt x="15240" y="792625"/>
                </a:cubicBezTo>
                <a:lnTo>
                  <a:pt x="0" y="838345"/>
                </a:lnTo>
                <a:cubicBezTo>
                  <a:pt x="2540" y="861205"/>
                  <a:pt x="3109" y="884371"/>
                  <a:pt x="7620" y="906925"/>
                </a:cubicBezTo>
                <a:cubicBezTo>
                  <a:pt x="16634" y="951994"/>
                  <a:pt x="27652" y="959833"/>
                  <a:pt x="53340" y="998365"/>
                </a:cubicBezTo>
                <a:cubicBezTo>
                  <a:pt x="73035" y="1027908"/>
                  <a:pt x="59892" y="1018329"/>
                  <a:pt x="91440" y="1028845"/>
                </a:cubicBezTo>
                <a:cubicBezTo>
                  <a:pt x="104371" y="1067638"/>
                  <a:pt x="88669" y="1040852"/>
                  <a:pt x="121920" y="1059325"/>
                </a:cubicBezTo>
                <a:cubicBezTo>
                  <a:pt x="137931" y="1068220"/>
                  <a:pt x="152400" y="1079645"/>
                  <a:pt x="167640" y="1089805"/>
                </a:cubicBezTo>
                <a:cubicBezTo>
                  <a:pt x="175260" y="1094885"/>
                  <a:pt x="181812" y="1102149"/>
                  <a:pt x="190500" y="1105045"/>
                </a:cubicBezTo>
                <a:cubicBezTo>
                  <a:pt x="205740" y="1110125"/>
                  <a:pt x="222854" y="1111374"/>
                  <a:pt x="236220" y="1120285"/>
                </a:cubicBezTo>
                <a:lnTo>
                  <a:pt x="304800" y="1166005"/>
                </a:lnTo>
                <a:lnTo>
                  <a:pt x="327660" y="1181245"/>
                </a:lnTo>
                <a:cubicBezTo>
                  <a:pt x="353351" y="1219781"/>
                  <a:pt x="328954" y="1193322"/>
                  <a:pt x="365760" y="1211725"/>
                </a:cubicBezTo>
                <a:cubicBezTo>
                  <a:pt x="373951" y="1215821"/>
                  <a:pt x="380251" y="1223246"/>
                  <a:pt x="388620" y="1226965"/>
                </a:cubicBezTo>
                <a:cubicBezTo>
                  <a:pt x="403300" y="1233489"/>
                  <a:pt x="420974" y="1233294"/>
                  <a:pt x="434340" y="1242205"/>
                </a:cubicBezTo>
                <a:lnTo>
                  <a:pt x="502920" y="1287925"/>
                </a:lnTo>
                <a:lnTo>
                  <a:pt x="525780" y="1303165"/>
                </a:lnTo>
                <a:cubicBezTo>
                  <a:pt x="533400" y="1308245"/>
                  <a:pt x="539952" y="1315509"/>
                  <a:pt x="548640" y="1318405"/>
                </a:cubicBezTo>
                <a:lnTo>
                  <a:pt x="594360" y="1333645"/>
                </a:lnTo>
                <a:lnTo>
                  <a:pt x="640080" y="1318405"/>
                </a:lnTo>
                <a:lnTo>
                  <a:pt x="662940" y="1310785"/>
                </a:lnTo>
                <a:cubicBezTo>
                  <a:pt x="668020" y="1303165"/>
                  <a:pt x="671288" y="1293956"/>
                  <a:pt x="678180" y="1287925"/>
                </a:cubicBezTo>
                <a:cubicBezTo>
                  <a:pt x="691964" y="1275864"/>
                  <a:pt x="706524" y="1263237"/>
                  <a:pt x="723900" y="1257445"/>
                </a:cubicBezTo>
                <a:cubicBezTo>
                  <a:pt x="736777" y="1253153"/>
                  <a:pt x="764938" y="1243116"/>
                  <a:pt x="777240" y="1242205"/>
                </a:cubicBezTo>
                <a:cubicBezTo>
                  <a:pt x="835555" y="1237885"/>
                  <a:pt x="894080" y="1237125"/>
                  <a:pt x="952500" y="1234585"/>
                </a:cubicBezTo>
                <a:cubicBezTo>
                  <a:pt x="1043940" y="1237125"/>
                  <a:pt x="1135465" y="1237520"/>
                  <a:pt x="1226820" y="1242205"/>
                </a:cubicBezTo>
                <a:cubicBezTo>
                  <a:pt x="1234842" y="1242616"/>
                  <a:pt x="1242297" y="1246661"/>
                  <a:pt x="1249680" y="1249825"/>
                </a:cubicBezTo>
                <a:cubicBezTo>
                  <a:pt x="1282484" y="1263884"/>
                  <a:pt x="1293378" y="1273877"/>
                  <a:pt x="1325880" y="1295545"/>
                </a:cubicBezTo>
                <a:lnTo>
                  <a:pt x="1348740" y="1310785"/>
                </a:lnTo>
                <a:cubicBezTo>
                  <a:pt x="1376680" y="1308245"/>
                  <a:pt x="1404932" y="1308041"/>
                  <a:pt x="1432560" y="1303165"/>
                </a:cubicBezTo>
                <a:cubicBezTo>
                  <a:pt x="1471874" y="1296227"/>
                  <a:pt x="1476062" y="1286699"/>
                  <a:pt x="1508760" y="1272685"/>
                </a:cubicBezTo>
                <a:cubicBezTo>
                  <a:pt x="1524064" y="1266126"/>
                  <a:pt x="1546633" y="1261312"/>
                  <a:pt x="1562100" y="1257445"/>
                </a:cubicBezTo>
                <a:cubicBezTo>
                  <a:pt x="1567180" y="1249825"/>
                  <a:pt x="1571180" y="1241361"/>
                  <a:pt x="1577340" y="1234585"/>
                </a:cubicBezTo>
                <a:cubicBezTo>
                  <a:pt x="1596670" y="1213321"/>
                  <a:pt x="1625449" y="1199328"/>
                  <a:pt x="1638300" y="1173625"/>
                </a:cubicBezTo>
                <a:cubicBezTo>
                  <a:pt x="1648460" y="1153305"/>
                  <a:pt x="1652716" y="1128729"/>
                  <a:pt x="1668780" y="1112665"/>
                </a:cubicBezTo>
                <a:lnTo>
                  <a:pt x="1722120" y="1059325"/>
                </a:lnTo>
                <a:cubicBezTo>
                  <a:pt x="1729740" y="1051705"/>
                  <a:pt x="1736014" y="1042443"/>
                  <a:pt x="1744980" y="1036465"/>
                </a:cubicBezTo>
                <a:cubicBezTo>
                  <a:pt x="1752600" y="1031385"/>
                  <a:pt x="1760805" y="1027088"/>
                  <a:pt x="1767840" y="1021225"/>
                </a:cubicBezTo>
                <a:cubicBezTo>
                  <a:pt x="1776119" y="1014326"/>
                  <a:pt x="1782518" y="1005378"/>
                  <a:pt x="1790700" y="998365"/>
                </a:cubicBezTo>
                <a:cubicBezTo>
                  <a:pt x="1807240" y="984188"/>
                  <a:pt x="1825948" y="972326"/>
                  <a:pt x="1844040" y="960265"/>
                </a:cubicBezTo>
                <a:cubicBezTo>
                  <a:pt x="1859025" y="937788"/>
                  <a:pt x="1860138" y="932880"/>
                  <a:pt x="1882140" y="914545"/>
                </a:cubicBezTo>
                <a:cubicBezTo>
                  <a:pt x="1889175" y="908682"/>
                  <a:pt x="1897380" y="904385"/>
                  <a:pt x="1905000" y="899305"/>
                </a:cubicBezTo>
                <a:cubicBezTo>
                  <a:pt x="1910080" y="891685"/>
                  <a:pt x="1914917" y="883897"/>
                  <a:pt x="1920240" y="876445"/>
                </a:cubicBezTo>
                <a:cubicBezTo>
                  <a:pt x="1927622" y="866111"/>
                  <a:pt x="1936701" y="856935"/>
                  <a:pt x="1943100" y="845965"/>
                </a:cubicBezTo>
                <a:cubicBezTo>
                  <a:pt x="1954547" y="826341"/>
                  <a:pt x="1963420" y="805325"/>
                  <a:pt x="1973580" y="785005"/>
                </a:cubicBezTo>
                <a:cubicBezTo>
                  <a:pt x="1978660" y="774845"/>
                  <a:pt x="1982004" y="763612"/>
                  <a:pt x="1988820" y="754525"/>
                </a:cubicBezTo>
                <a:cubicBezTo>
                  <a:pt x="2005055" y="732878"/>
                  <a:pt x="2023235" y="710817"/>
                  <a:pt x="2034540" y="685945"/>
                </a:cubicBezTo>
                <a:cubicBezTo>
                  <a:pt x="2050429" y="650990"/>
                  <a:pt x="2051214" y="631621"/>
                  <a:pt x="2057400" y="594505"/>
                </a:cubicBezTo>
                <a:cubicBezTo>
                  <a:pt x="2054860" y="561485"/>
                  <a:pt x="2057812" y="527574"/>
                  <a:pt x="2049780" y="495445"/>
                </a:cubicBezTo>
                <a:cubicBezTo>
                  <a:pt x="2047166" y="484990"/>
                  <a:pt x="2035426" y="479201"/>
                  <a:pt x="2026920" y="472585"/>
                </a:cubicBezTo>
                <a:cubicBezTo>
                  <a:pt x="2012462" y="461340"/>
                  <a:pt x="1994152" y="455057"/>
                  <a:pt x="1981200" y="442105"/>
                </a:cubicBezTo>
                <a:cubicBezTo>
                  <a:pt x="1973580" y="434485"/>
                  <a:pt x="1965239" y="427524"/>
                  <a:pt x="1958340" y="419245"/>
                </a:cubicBezTo>
                <a:cubicBezTo>
                  <a:pt x="1952477" y="412210"/>
                  <a:pt x="1949576" y="402861"/>
                  <a:pt x="1943100" y="396385"/>
                </a:cubicBezTo>
                <a:cubicBezTo>
                  <a:pt x="1936624" y="389909"/>
                  <a:pt x="1926991" y="387333"/>
                  <a:pt x="1920240" y="381145"/>
                </a:cubicBezTo>
                <a:cubicBezTo>
                  <a:pt x="1772948" y="246128"/>
                  <a:pt x="1899022" y="347484"/>
                  <a:pt x="1828800" y="297325"/>
                </a:cubicBezTo>
                <a:cubicBezTo>
                  <a:pt x="1799021" y="276054"/>
                  <a:pt x="1794575" y="268783"/>
                  <a:pt x="1760220" y="251605"/>
                </a:cubicBezTo>
                <a:cubicBezTo>
                  <a:pt x="1753036" y="248013"/>
                  <a:pt x="1745152" y="245933"/>
                  <a:pt x="1737360" y="243985"/>
                </a:cubicBezTo>
                <a:cubicBezTo>
                  <a:pt x="1724795" y="240844"/>
                  <a:pt x="1711825" y="239506"/>
                  <a:pt x="1699260" y="236365"/>
                </a:cubicBezTo>
                <a:cubicBezTo>
                  <a:pt x="1691468" y="234417"/>
                  <a:pt x="1684149" y="230858"/>
                  <a:pt x="1676400" y="228745"/>
                </a:cubicBezTo>
                <a:cubicBezTo>
                  <a:pt x="1656193" y="223234"/>
                  <a:pt x="1635311" y="220129"/>
                  <a:pt x="1615440" y="213505"/>
                </a:cubicBezTo>
                <a:cubicBezTo>
                  <a:pt x="1607820" y="210965"/>
                  <a:pt x="1600490" y="207281"/>
                  <a:pt x="1592580" y="205885"/>
                </a:cubicBezTo>
                <a:cubicBezTo>
                  <a:pt x="1557206" y="199642"/>
                  <a:pt x="1485900" y="190645"/>
                  <a:pt x="1485900" y="190645"/>
                </a:cubicBezTo>
                <a:cubicBezTo>
                  <a:pt x="1473200" y="185565"/>
                  <a:pt x="1460607" y="180208"/>
                  <a:pt x="1447800" y="175405"/>
                </a:cubicBezTo>
                <a:cubicBezTo>
                  <a:pt x="1414514" y="162923"/>
                  <a:pt x="1400652" y="164809"/>
                  <a:pt x="1363980" y="137305"/>
                </a:cubicBezTo>
                <a:cubicBezTo>
                  <a:pt x="1353820" y="129685"/>
                  <a:pt x="1344067" y="121490"/>
                  <a:pt x="1333500" y="114445"/>
                </a:cubicBezTo>
                <a:cubicBezTo>
                  <a:pt x="1326065" y="109488"/>
                  <a:pt x="1283906" y="85817"/>
                  <a:pt x="1272540" y="76345"/>
                </a:cubicBezTo>
                <a:cubicBezTo>
                  <a:pt x="1264261" y="69446"/>
                  <a:pt x="1259036" y="58832"/>
                  <a:pt x="1249680" y="53485"/>
                </a:cubicBezTo>
                <a:cubicBezTo>
                  <a:pt x="1240587" y="48289"/>
                  <a:pt x="1229270" y="48742"/>
                  <a:pt x="1219200" y="45865"/>
                </a:cubicBezTo>
                <a:cubicBezTo>
                  <a:pt x="1211477" y="43658"/>
                  <a:pt x="1204063" y="40452"/>
                  <a:pt x="1196340" y="38245"/>
                </a:cubicBezTo>
                <a:cubicBezTo>
                  <a:pt x="1186270" y="35368"/>
                  <a:pt x="1175930" y="33502"/>
                  <a:pt x="1165860" y="30625"/>
                </a:cubicBezTo>
                <a:cubicBezTo>
                  <a:pt x="1158137" y="28418"/>
                  <a:pt x="1150841" y="24747"/>
                  <a:pt x="1143000" y="23005"/>
                </a:cubicBezTo>
                <a:cubicBezTo>
                  <a:pt x="1127918" y="19653"/>
                  <a:pt x="1112481" y="18149"/>
                  <a:pt x="1097280" y="15385"/>
                </a:cubicBezTo>
                <a:cubicBezTo>
                  <a:pt x="1061809" y="8936"/>
                  <a:pt x="1061315" y="8299"/>
                  <a:pt x="1028700" y="145"/>
                </a:cubicBezTo>
                <a:lnTo>
                  <a:pt x="845820" y="776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Volný tvar 7"/>
          <p:cNvSpPr/>
          <p:nvPr/>
        </p:nvSpPr>
        <p:spPr>
          <a:xfrm>
            <a:off x="8776596" y="3611880"/>
            <a:ext cx="1411344" cy="769620"/>
          </a:xfrm>
          <a:custGeom>
            <a:avLst/>
            <a:gdLst>
              <a:gd name="connsiteX0" fmla="*/ 32124 w 1411344"/>
              <a:gd name="connsiteY0" fmla="*/ 76200 h 769620"/>
              <a:gd name="connsiteX1" fmla="*/ 24504 w 1411344"/>
              <a:gd name="connsiteY1" fmla="*/ 114300 h 769620"/>
              <a:gd name="connsiteX2" fmla="*/ 9264 w 1411344"/>
              <a:gd name="connsiteY2" fmla="*/ 160020 h 769620"/>
              <a:gd name="connsiteX3" fmla="*/ 9264 w 1411344"/>
              <a:gd name="connsiteY3" fmla="*/ 350520 h 769620"/>
              <a:gd name="connsiteX4" fmla="*/ 32124 w 1411344"/>
              <a:gd name="connsiteY4" fmla="*/ 419100 h 769620"/>
              <a:gd name="connsiteX5" fmla="*/ 54984 w 1411344"/>
              <a:gd name="connsiteY5" fmla="*/ 495300 h 769620"/>
              <a:gd name="connsiteX6" fmla="*/ 62604 w 1411344"/>
              <a:gd name="connsiteY6" fmla="*/ 518160 h 769620"/>
              <a:gd name="connsiteX7" fmla="*/ 93084 w 1411344"/>
              <a:gd name="connsiteY7" fmla="*/ 563880 h 769620"/>
              <a:gd name="connsiteX8" fmla="*/ 108324 w 1411344"/>
              <a:gd name="connsiteY8" fmla="*/ 586740 h 769620"/>
              <a:gd name="connsiteX9" fmla="*/ 131184 w 1411344"/>
              <a:gd name="connsiteY9" fmla="*/ 632460 h 769620"/>
              <a:gd name="connsiteX10" fmla="*/ 154044 w 1411344"/>
              <a:gd name="connsiteY10" fmla="*/ 647700 h 769620"/>
              <a:gd name="connsiteX11" fmla="*/ 176904 w 1411344"/>
              <a:gd name="connsiteY11" fmla="*/ 670560 h 769620"/>
              <a:gd name="connsiteX12" fmla="*/ 222624 w 1411344"/>
              <a:gd name="connsiteY12" fmla="*/ 701040 h 769620"/>
              <a:gd name="connsiteX13" fmla="*/ 314064 w 1411344"/>
              <a:gd name="connsiteY13" fmla="*/ 716280 h 769620"/>
              <a:gd name="connsiteX14" fmla="*/ 359784 w 1411344"/>
              <a:gd name="connsiteY14" fmla="*/ 723900 h 769620"/>
              <a:gd name="connsiteX15" fmla="*/ 435984 w 1411344"/>
              <a:gd name="connsiteY15" fmla="*/ 731520 h 769620"/>
              <a:gd name="connsiteX16" fmla="*/ 527424 w 1411344"/>
              <a:gd name="connsiteY16" fmla="*/ 746760 h 769620"/>
              <a:gd name="connsiteX17" fmla="*/ 550284 w 1411344"/>
              <a:gd name="connsiteY17" fmla="*/ 754380 h 769620"/>
              <a:gd name="connsiteX18" fmla="*/ 626484 w 1411344"/>
              <a:gd name="connsiteY18" fmla="*/ 762000 h 769620"/>
              <a:gd name="connsiteX19" fmla="*/ 672204 w 1411344"/>
              <a:gd name="connsiteY19" fmla="*/ 769620 h 769620"/>
              <a:gd name="connsiteX20" fmla="*/ 771264 w 1411344"/>
              <a:gd name="connsiteY20" fmla="*/ 762000 h 769620"/>
              <a:gd name="connsiteX21" fmla="*/ 847464 w 1411344"/>
              <a:gd name="connsiteY21" fmla="*/ 739140 h 769620"/>
              <a:gd name="connsiteX22" fmla="*/ 870324 w 1411344"/>
              <a:gd name="connsiteY22" fmla="*/ 723900 h 769620"/>
              <a:gd name="connsiteX23" fmla="*/ 916044 w 1411344"/>
              <a:gd name="connsiteY23" fmla="*/ 708660 h 769620"/>
              <a:gd name="connsiteX24" fmla="*/ 938904 w 1411344"/>
              <a:gd name="connsiteY24" fmla="*/ 693420 h 769620"/>
              <a:gd name="connsiteX25" fmla="*/ 984624 w 1411344"/>
              <a:gd name="connsiteY25" fmla="*/ 678180 h 769620"/>
              <a:gd name="connsiteX26" fmla="*/ 1030344 w 1411344"/>
              <a:gd name="connsiteY26" fmla="*/ 647700 h 769620"/>
              <a:gd name="connsiteX27" fmla="*/ 1053204 w 1411344"/>
              <a:gd name="connsiteY27" fmla="*/ 640080 h 769620"/>
              <a:gd name="connsiteX28" fmla="*/ 1098924 w 1411344"/>
              <a:gd name="connsiteY28" fmla="*/ 609600 h 769620"/>
              <a:gd name="connsiteX29" fmla="*/ 1121784 w 1411344"/>
              <a:gd name="connsiteY29" fmla="*/ 594360 h 769620"/>
              <a:gd name="connsiteX30" fmla="*/ 1144644 w 1411344"/>
              <a:gd name="connsiteY30" fmla="*/ 579120 h 769620"/>
              <a:gd name="connsiteX31" fmla="*/ 1205604 w 1411344"/>
              <a:gd name="connsiteY31" fmla="*/ 525780 h 769620"/>
              <a:gd name="connsiteX32" fmla="*/ 1228464 w 1411344"/>
              <a:gd name="connsiteY32" fmla="*/ 510540 h 769620"/>
              <a:gd name="connsiteX33" fmla="*/ 1243704 w 1411344"/>
              <a:gd name="connsiteY33" fmla="*/ 487680 h 769620"/>
              <a:gd name="connsiteX34" fmla="*/ 1297044 w 1411344"/>
              <a:gd name="connsiteY34" fmla="*/ 449580 h 769620"/>
              <a:gd name="connsiteX35" fmla="*/ 1312284 w 1411344"/>
              <a:gd name="connsiteY35" fmla="*/ 426720 h 769620"/>
              <a:gd name="connsiteX36" fmla="*/ 1319904 w 1411344"/>
              <a:gd name="connsiteY36" fmla="*/ 403860 h 769620"/>
              <a:gd name="connsiteX37" fmla="*/ 1342764 w 1411344"/>
              <a:gd name="connsiteY37" fmla="*/ 388620 h 769620"/>
              <a:gd name="connsiteX38" fmla="*/ 1373244 w 1411344"/>
              <a:gd name="connsiteY38" fmla="*/ 342900 h 769620"/>
              <a:gd name="connsiteX39" fmla="*/ 1380864 w 1411344"/>
              <a:gd name="connsiteY39" fmla="*/ 320040 h 769620"/>
              <a:gd name="connsiteX40" fmla="*/ 1396104 w 1411344"/>
              <a:gd name="connsiteY40" fmla="*/ 297180 h 769620"/>
              <a:gd name="connsiteX41" fmla="*/ 1411344 w 1411344"/>
              <a:gd name="connsiteY41" fmla="*/ 251460 h 769620"/>
              <a:gd name="connsiteX42" fmla="*/ 1388484 w 1411344"/>
              <a:gd name="connsiteY42" fmla="*/ 68580 h 769620"/>
              <a:gd name="connsiteX43" fmla="*/ 1373244 w 1411344"/>
              <a:gd name="connsiteY43" fmla="*/ 45720 h 769620"/>
              <a:gd name="connsiteX44" fmla="*/ 1365624 w 1411344"/>
              <a:gd name="connsiteY44" fmla="*/ 22860 h 769620"/>
              <a:gd name="connsiteX45" fmla="*/ 1342764 w 1411344"/>
              <a:gd name="connsiteY45" fmla="*/ 0 h 76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411344" h="769620">
                <a:moveTo>
                  <a:pt x="32124" y="76200"/>
                </a:moveTo>
                <a:cubicBezTo>
                  <a:pt x="29584" y="88900"/>
                  <a:pt x="27912" y="101805"/>
                  <a:pt x="24504" y="114300"/>
                </a:cubicBezTo>
                <a:cubicBezTo>
                  <a:pt x="20277" y="129798"/>
                  <a:pt x="9264" y="160020"/>
                  <a:pt x="9264" y="160020"/>
                </a:cubicBezTo>
                <a:cubicBezTo>
                  <a:pt x="-1233" y="243994"/>
                  <a:pt x="-4814" y="242585"/>
                  <a:pt x="9264" y="350520"/>
                </a:cubicBezTo>
                <a:cubicBezTo>
                  <a:pt x="11342" y="366453"/>
                  <a:pt x="27275" y="399704"/>
                  <a:pt x="32124" y="419100"/>
                </a:cubicBezTo>
                <a:cubicBezTo>
                  <a:pt x="43640" y="465165"/>
                  <a:pt x="36432" y="439645"/>
                  <a:pt x="54984" y="495300"/>
                </a:cubicBezTo>
                <a:cubicBezTo>
                  <a:pt x="57524" y="502920"/>
                  <a:pt x="58149" y="511477"/>
                  <a:pt x="62604" y="518160"/>
                </a:cubicBezTo>
                <a:lnTo>
                  <a:pt x="93084" y="563880"/>
                </a:lnTo>
                <a:cubicBezTo>
                  <a:pt x="98164" y="571500"/>
                  <a:pt x="105428" y="578052"/>
                  <a:pt x="108324" y="586740"/>
                </a:cubicBezTo>
                <a:cubicBezTo>
                  <a:pt x="114522" y="605333"/>
                  <a:pt x="116412" y="617688"/>
                  <a:pt x="131184" y="632460"/>
                </a:cubicBezTo>
                <a:cubicBezTo>
                  <a:pt x="137660" y="638936"/>
                  <a:pt x="147009" y="641837"/>
                  <a:pt x="154044" y="647700"/>
                </a:cubicBezTo>
                <a:cubicBezTo>
                  <a:pt x="162323" y="654599"/>
                  <a:pt x="168398" y="663944"/>
                  <a:pt x="176904" y="670560"/>
                </a:cubicBezTo>
                <a:cubicBezTo>
                  <a:pt x="191362" y="681805"/>
                  <a:pt x="204663" y="697448"/>
                  <a:pt x="222624" y="701040"/>
                </a:cubicBezTo>
                <a:cubicBezTo>
                  <a:pt x="289695" y="714454"/>
                  <a:pt x="232150" y="703678"/>
                  <a:pt x="314064" y="716280"/>
                </a:cubicBezTo>
                <a:cubicBezTo>
                  <a:pt x="329335" y="718629"/>
                  <a:pt x="344453" y="721984"/>
                  <a:pt x="359784" y="723900"/>
                </a:cubicBezTo>
                <a:cubicBezTo>
                  <a:pt x="385114" y="727066"/>
                  <a:pt x="410632" y="728537"/>
                  <a:pt x="435984" y="731520"/>
                </a:cubicBezTo>
                <a:cubicBezTo>
                  <a:pt x="460357" y="734387"/>
                  <a:pt x="501846" y="740366"/>
                  <a:pt x="527424" y="746760"/>
                </a:cubicBezTo>
                <a:cubicBezTo>
                  <a:pt x="535216" y="748708"/>
                  <a:pt x="542345" y="753159"/>
                  <a:pt x="550284" y="754380"/>
                </a:cubicBezTo>
                <a:cubicBezTo>
                  <a:pt x="575514" y="758262"/>
                  <a:pt x="601154" y="758834"/>
                  <a:pt x="626484" y="762000"/>
                </a:cubicBezTo>
                <a:cubicBezTo>
                  <a:pt x="641815" y="763916"/>
                  <a:pt x="656964" y="767080"/>
                  <a:pt x="672204" y="769620"/>
                </a:cubicBezTo>
                <a:cubicBezTo>
                  <a:pt x="705224" y="767080"/>
                  <a:pt x="738373" y="765869"/>
                  <a:pt x="771264" y="762000"/>
                </a:cubicBezTo>
                <a:cubicBezTo>
                  <a:pt x="784195" y="760479"/>
                  <a:pt x="842634" y="742360"/>
                  <a:pt x="847464" y="739140"/>
                </a:cubicBezTo>
                <a:cubicBezTo>
                  <a:pt x="855084" y="734060"/>
                  <a:pt x="861955" y="727619"/>
                  <a:pt x="870324" y="723900"/>
                </a:cubicBezTo>
                <a:cubicBezTo>
                  <a:pt x="885004" y="717376"/>
                  <a:pt x="902678" y="717571"/>
                  <a:pt x="916044" y="708660"/>
                </a:cubicBezTo>
                <a:cubicBezTo>
                  <a:pt x="923664" y="703580"/>
                  <a:pt x="930535" y="697139"/>
                  <a:pt x="938904" y="693420"/>
                </a:cubicBezTo>
                <a:cubicBezTo>
                  <a:pt x="953584" y="686896"/>
                  <a:pt x="971258" y="687091"/>
                  <a:pt x="984624" y="678180"/>
                </a:cubicBezTo>
                <a:cubicBezTo>
                  <a:pt x="999864" y="668020"/>
                  <a:pt x="1012968" y="653492"/>
                  <a:pt x="1030344" y="647700"/>
                </a:cubicBezTo>
                <a:cubicBezTo>
                  <a:pt x="1037964" y="645160"/>
                  <a:pt x="1046183" y="643981"/>
                  <a:pt x="1053204" y="640080"/>
                </a:cubicBezTo>
                <a:cubicBezTo>
                  <a:pt x="1069215" y="631185"/>
                  <a:pt x="1083684" y="619760"/>
                  <a:pt x="1098924" y="609600"/>
                </a:cubicBezTo>
                <a:lnTo>
                  <a:pt x="1121784" y="594360"/>
                </a:lnTo>
                <a:lnTo>
                  <a:pt x="1144644" y="579120"/>
                </a:lnTo>
                <a:cubicBezTo>
                  <a:pt x="1170044" y="541020"/>
                  <a:pt x="1152264" y="561340"/>
                  <a:pt x="1205604" y="525780"/>
                </a:cubicBezTo>
                <a:lnTo>
                  <a:pt x="1228464" y="510540"/>
                </a:lnTo>
                <a:cubicBezTo>
                  <a:pt x="1233544" y="502920"/>
                  <a:pt x="1237228" y="494156"/>
                  <a:pt x="1243704" y="487680"/>
                </a:cubicBezTo>
                <a:cubicBezTo>
                  <a:pt x="1253156" y="478228"/>
                  <a:pt x="1284064" y="458233"/>
                  <a:pt x="1297044" y="449580"/>
                </a:cubicBezTo>
                <a:cubicBezTo>
                  <a:pt x="1302124" y="441960"/>
                  <a:pt x="1308188" y="434911"/>
                  <a:pt x="1312284" y="426720"/>
                </a:cubicBezTo>
                <a:cubicBezTo>
                  <a:pt x="1315876" y="419536"/>
                  <a:pt x="1314886" y="410132"/>
                  <a:pt x="1319904" y="403860"/>
                </a:cubicBezTo>
                <a:cubicBezTo>
                  <a:pt x="1325625" y="396709"/>
                  <a:pt x="1335144" y="393700"/>
                  <a:pt x="1342764" y="388620"/>
                </a:cubicBezTo>
                <a:cubicBezTo>
                  <a:pt x="1360882" y="334265"/>
                  <a:pt x="1335191" y="399979"/>
                  <a:pt x="1373244" y="342900"/>
                </a:cubicBezTo>
                <a:cubicBezTo>
                  <a:pt x="1377699" y="336217"/>
                  <a:pt x="1377272" y="327224"/>
                  <a:pt x="1380864" y="320040"/>
                </a:cubicBezTo>
                <a:cubicBezTo>
                  <a:pt x="1384960" y="311849"/>
                  <a:pt x="1392385" y="305549"/>
                  <a:pt x="1396104" y="297180"/>
                </a:cubicBezTo>
                <a:cubicBezTo>
                  <a:pt x="1402628" y="282500"/>
                  <a:pt x="1411344" y="251460"/>
                  <a:pt x="1411344" y="251460"/>
                </a:cubicBezTo>
                <a:cubicBezTo>
                  <a:pt x="1410534" y="236886"/>
                  <a:pt x="1415502" y="109108"/>
                  <a:pt x="1388484" y="68580"/>
                </a:cubicBezTo>
                <a:cubicBezTo>
                  <a:pt x="1383404" y="60960"/>
                  <a:pt x="1377340" y="53911"/>
                  <a:pt x="1373244" y="45720"/>
                </a:cubicBezTo>
                <a:cubicBezTo>
                  <a:pt x="1369652" y="38536"/>
                  <a:pt x="1370642" y="29132"/>
                  <a:pt x="1365624" y="22860"/>
                </a:cubicBezTo>
                <a:cubicBezTo>
                  <a:pt x="1340651" y="-8357"/>
                  <a:pt x="1342764" y="20818"/>
                  <a:pt x="134276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947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text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Jak vidí prostatu patolog</a:t>
            </a:r>
            <a:endParaRPr lang="cs-CZ" dirty="0"/>
          </a:p>
        </p:txBody>
      </p:sp>
      <p:pic>
        <p:nvPicPr>
          <p:cNvPr id="9" name="Zástupný symbol pro obsah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96729" y="646485"/>
            <a:ext cx="4917962" cy="6768467"/>
          </a:xfrm>
          <a:prstGeom prst="rect">
            <a:avLst/>
          </a:prstGeom>
        </p:spPr>
      </p:pic>
      <p:pic>
        <p:nvPicPr>
          <p:cNvPr id="10" name="Picture 5" descr="gleason 4"/>
          <p:cNvPicPr>
            <a:picLocks noChangeAspect="1" noChangeArrowheads="1"/>
          </p:cNvPicPr>
          <p:nvPr/>
        </p:nvPicPr>
        <p:blipFill rotWithShape="1">
          <a:blip r:embed="rId3" cstate="print"/>
          <a:srcRect l="31884"/>
          <a:stretch/>
        </p:blipFill>
        <p:spPr bwMode="auto">
          <a:xfrm>
            <a:off x="7353300" y="1571736"/>
            <a:ext cx="4467225" cy="4917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1961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text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Rakovina prostaty pro </a:t>
            </a:r>
            <a:r>
              <a:rPr lang="cs-CZ" dirty="0" err="1" smtClean="0"/>
              <a:t>ajťáky</a:t>
            </a:r>
            <a:endParaRPr lang="cs-CZ" dirty="0"/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smtClean="0"/>
              <a:t>urolog =&gt; odběry (PSA) =&gt; zobrazování (MR) =&gt; vzorky tkáně =&gt; operace</a:t>
            </a:r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cs-CZ" dirty="0" smtClean="0"/>
              <a:t>po operaci histologie (patolog popíše rozsah) </a:t>
            </a:r>
            <a:endParaRPr lang="cs-CZ" dirty="0"/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cs-CZ" dirty="0" smtClean="0"/>
              <a:t>nádorová ložiska mohou být různě závažná (př. </a:t>
            </a:r>
            <a:r>
              <a:rPr lang="cs-CZ" dirty="0" err="1" smtClean="0"/>
              <a:t>Gleason</a:t>
            </a:r>
            <a:r>
              <a:rPr lang="cs-CZ" dirty="0" smtClean="0"/>
              <a:t> skóre 3+4)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smtClean="0"/>
              <a:t>nádorová ložiska jsou rozptýlena po prostatě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smtClean="0"/>
              <a:t>MR vidí spíše ta závažná – vyšší skóre </a:t>
            </a:r>
            <a:endParaRPr lang="cs-CZ" dirty="0"/>
          </a:p>
        </p:txBody>
      </p:sp>
      <p:pic>
        <p:nvPicPr>
          <p:cNvPr id="12" name="Obrázek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4" y="4037073"/>
            <a:ext cx="3255271" cy="256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5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A kde je problém?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343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text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Každý vidíme nádor jinýma očima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sz="2800" dirty="0" smtClean="0"/>
              <a:t>Každý potřebuje zpětnou vazbu:</a:t>
            </a:r>
          </a:p>
          <a:p>
            <a:endParaRPr lang="cs-CZ" sz="2800" dirty="0" smtClean="0"/>
          </a:p>
          <a:p>
            <a:r>
              <a:rPr lang="cs-CZ" sz="2800" dirty="0" smtClean="0"/>
              <a:t>Radiolog – popisuje z MR realitu?</a:t>
            </a:r>
          </a:p>
          <a:p>
            <a:r>
              <a:rPr lang="cs-CZ" sz="2800" dirty="0" smtClean="0"/>
              <a:t>Urolog – rozhodl se správně operovat? Nenechal tam kus nádoru?</a:t>
            </a:r>
          </a:p>
          <a:p>
            <a:r>
              <a:rPr lang="cs-CZ" sz="2800" dirty="0" smtClean="0"/>
              <a:t>Patolog – byla první biopsie popsaná správně?</a:t>
            </a:r>
          </a:p>
          <a:p>
            <a:endParaRPr lang="cs-CZ" sz="2800" b="1" dirty="0" smtClean="0"/>
          </a:p>
          <a:p>
            <a:r>
              <a:rPr lang="cs-CZ" sz="2800" b="1" dirty="0" smtClean="0"/>
              <a:t>Všichni se chceme učit ze svých chyb a zlepšovat se.</a:t>
            </a:r>
          </a:p>
          <a:p>
            <a:endParaRPr lang="cs-CZ" sz="2800" b="1" dirty="0"/>
          </a:p>
          <a:p>
            <a:r>
              <a:rPr lang="cs-CZ" sz="4800" b="1" dirty="0" smtClean="0"/>
              <a:t>Data do registru a vyhodnotit!</a:t>
            </a:r>
            <a:endParaRPr lang="cs-CZ" sz="4800" b="1" dirty="0"/>
          </a:p>
        </p:txBody>
      </p:sp>
    </p:spTree>
    <p:extLst>
      <p:ext uri="{BB962C8B-B14F-4D97-AF65-F5344CB8AC3E}">
        <p14:creationId xmlns:p14="http://schemas.microsoft.com/office/powerpoint/2010/main" val="122218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Patolog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quarter" idx="11"/>
          </p:nvPr>
        </p:nvSpPr>
        <p:spPr>
          <a:xfrm>
            <a:off x="371476" y="1591588"/>
            <a:ext cx="5511164" cy="4898112"/>
          </a:xfrm>
        </p:spPr>
        <p:txBody>
          <a:bodyPr/>
          <a:lstStyle/>
          <a:p>
            <a:r>
              <a:rPr lang="cs-CZ" sz="2800" dirty="0" smtClean="0"/>
              <a:t>Sedí u mikroskopu </a:t>
            </a:r>
          </a:p>
          <a:p>
            <a:endParaRPr lang="cs-CZ" sz="2800" dirty="0" smtClean="0"/>
          </a:p>
          <a:p>
            <a:r>
              <a:rPr lang="cs-CZ" sz="2800" dirty="0" smtClean="0"/>
              <a:t>Elektronizace zákresu? – nepohodlná, nepraktická</a:t>
            </a:r>
          </a:p>
          <a:p>
            <a:endParaRPr lang="cs-CZ" sz="2800" dirty="0" smtClean="0"/>
          </a:p>
          <a:p>
            <a:r>
              <a:rPr lang="cs-CZ" sz="2800" dirty="0" smtClean="0"/>
              <a:t>Kreslí na papír</a:t>
            </a:r>
          </a:p>
          <a:p>
            <a:endParaRPr lang="cs-CZ" sz="2800" dirty="0" smtClean="0"/>
          </a:p>
          <a:p>
            <a:r>
              <a:rPr lang="cs-CZ" sz="2800" dirty="0" smtClean="0"/>
              <a:t>Napíše nález do NIS</a:t>
            </a:r>
          </a:p>
          <a:p>
            <a:r>
              <a:rPr lang="cs-CZ" sz="2800" dirty="0" smtClean="0"/>
              <a:t>Parametrizace</a:t>
            </a:r>
            <a:endParaRPr lang="cs-CZ" sz="280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b="9667"/>
          <a:stretch/>
        </p:blipFill>
        <p:spPr>
          <a:xfrm>
            <a:off x="5882640" y="1298868"/>
            <a:ext cx="4382646" cy="51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3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Radiolog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quarter" idx="11"/>
          </p:nvPr>
        </p:nvSpPr>
        <p:spPr>
          <a:xfrm>
            <a:off x="371476" y="1591588"/>
            <a:ext cx="3461384" cy="4898112"/>
          </a:xfrm>
        </p:spPr>
        <p:txBody>
          <a:bodyPr/>
          <a:lstStyle/>
          <a:p>
            <a:r>
              <a:rPr lang="cs-CZ" sz="2400" dirty="0" smtClean="0"/>
              <a:t>Sedí u monitoru</a:t>
            </a:r>
          </a:p>
          <a:p>
            <a:endParaRPr lang="cs-CZ" sz="2400" dirty="0" smtClean="0"/>
          </a:p>
          <a:p>
            <a:r>
              <a:rPr lang="cs-CZ" sz="2400" dirty="0" smtClean="0"/>
              <a:t>AI asistence </a:t>
            </a:r>
            <a:r>
              <a:rPr lang="cs-CZ" sz="2400" dirty="0" err="1" smtClean="0"/>
              <a:t>konturace</a:t>
            </a:r>
            <a:endParaRPr lang="cs-CZ" sz="2400" dirty="0"/>
          </a:p>
          <a:p>
            <a:r>
              <a:rPr lang="cs-CZ" sz="2400" dirty="0" smtClean="0"/>
              <a:t>AI asistence detekce</a:t>
            </a:r>
          </a:p>
          <a:p>
            <a:endParaRPr lang="cs-CZ" sz="2400" dirty="0" smtClean="0"/>
          </a:p>
          <a:p>
            <a:r>
              <a:rPr lang="cs-CZ" sz="2400" dirty="0" smtClean="0"/>
              <a:t>Strukturovaný popis </a:t>
            </a:r>
          </a:p>
          <a:p>
            <a:r>
              <a:rPr lang="cs-CZ" sz="2400" dirty="0" smtClean="0"/>
              <a:t>(</a:t>
            </a:r>
            <a:r>
              <a:rPr lang="cs-CZ" sz="2400" dirty="0" err="1" smtClean="0"/>
              <a:t>StructRep</a:t>
            </a:r>
            <a:r>
              <a:rPr lang="cs-CZ" sz="2400" dirty="0" smtClean="0"/>
              <a:t> </a:t>
            </a:r>
            <a:r>
              <a:rPr lang="cs-CZ" sz="2400" dirty="0" smtClean="0">
                <a:sym typeface="Wingdings" panose="05000000000000000000" pitchFamily="2" charset="2"/>
              </a:rPr>
              <a:t> </a:t>
            </a:r>
            <a:r>
              <a:rPr lang="cs-CZ" sz="2400" dirty="0" smtClean="0"/>
              <a:t>, </a:t>
            </a:r>
            <a:r>
              <a:rPr lang="cs-CZ" sz="2400" dirty="0" err="1" smtClean="0"/>
              <a:t>Radiobot</a:t>
            </a:r>
            <a:r>
              <a:rPr lang="cs-CZ" sz="2400" dirty="0" smtClean="0">
                <a:sym typeface="Wingdings" panose="05000000000000000000" pitchFamily="2" charset="2"/>
              </a:rPr>
              <a:t>, pcih.fr, </a:t>
            </a:r>
            <a:r>
              <a:rPr lang="cs-CZ" sz="2400" dirty="0" err="1" smtClean="0">
                <a:sym typeface="Wingdings" panose="05000000000000000000" pitchFamily="2" charset="2"/>
              </a:rPr>
              <a:t>SyngoVia</a:t>
            </a:r>
            <a:r>
              <a:rPr lang="cs-CZ" sz="2400" dirty="0" smtClean="0">
                <a:sym typeface="Wingdings" panose="05000000000000000000" pitchFamily="2" charset="2"/>
              </a:rPr>
              <a:t>, </a:t>
            </a:r>
            <a:r>
              <a:rPr lang="cs-CZ" sz="2400" dirty="0" err="1" smtClean="0">
                <a:sym typeface="Wingdings" panose="05000000000000000000" pitchFamily="2" charset="2"/>
              </a:rPr>
              <a:t>mint</a:t>
            </a:r>
            <a:r>
              <a:rPr lang="cs-CZ" sz="2400" dirty="0" smtClean="0">
                <a:sym typeface="Wingdings" panose="05000000000000000000" pitchFamily="2" charset="2"/>
              </a:rPr>
              <a:t>…)</a:t>
            </a:r>
            <a:endParaRPr lang="cs-CZ" sz="240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159" y="1534160"/>
            <a:ext cx="7761366" cy="401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Registr COMPARE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11"/>
          </p:nvPr>
        </p:nvSpPr>
        <p:spPr>
          <a:xfrm>
            <a:off x="371476" y="1591588"/>
            <a:ext cx="3552824" cy="4898112"/>
          </a:xfrm>
        </p:spPr>
        <p:txBody>
          <a:bodyPr/>
          <a:lstStyle/>
          <a:p>
            <a:r>
              <a:rPr lang="cs-CZ" dirty="0" smtClean="0"/>
              <a:t>Integrace všech záznamů</a:t>
            </a:r>
          </a:p>
          <a:p>
            <a:r>
              <a:rPr lang="cs-CZ" dirty="0" smtClean="0"/>
              <a:t>Podklad pro zpětnou vazbu</a:t>
            </a:r>
          </a:p>
          <a:p>
            <a:r>
              <a:rPr lang="cs-CZ" dirty="0" smtClean="0"/>
              <a:t>Data do klinických studií – „</a:t>
            </a:r>
            <a:r>
              <a:rPr lang="cs-CZ" dirty="0" err="1" smtClean="0"/>
              <a:t>ProstaPilot</a:t>
            </a:r>
            <a:r>
              <a:rPr lang="cs-CZ" dirty="0" smtClean="0"/>
              <a:t>“</a:t>
            </a:r>
            <a:endParaRPr lang="cs-CZ" dirty="0"/>
          </a:p>
          <a:p>
            <a:r>
              <a:rPr lang="cs-CZ" dirty="0" smtClean="0"/>
              <a:t>Data do projektů - PRAISE-U+ </a:t>
            </a:r>
          </a:p>
          <a:p>
            <a:r>
              <a:rPr lang="cs-CZ" dirty="0" smtClean="0"/>
              <a:t>Interní validace AI nástrojů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287" y="1406764"/>
            <a:ext cx="6893993" cy="48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6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 dirty="0" smtClean="0"/>
              <a:t>Zadání výzvy:</a:t>
            </a:r>
            <a:endParaRPr lang="cs-CZ" dirty="0"/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34598"/>
              </p:ext>
            </p:extLst>
          </p:nvPr>
        </p:nvGraphicFramePr>
        <p:xfrm>
          <a:off x="975360" y="1636808"/>
          <a:ext cx="10226040" cy="4351338"/>
        </p:xfrm>
        <a:graphic>
          <a:graphicData uri="http://schemas.openxmlformats.org/drawingml/2006/table">
            <a:tbl>
              <a:tblPr firstCol="1" bandRow="1">
                <a:tableStyleId>{7E9639D4-E3E2-4D34-9284-5A2195B3D0D7}</a:tableStyleId>
              </a:tblPr>
              <a:tblGrid>
                <a:gridCol w="1752600"/>
                <a:gridCol w="8473440"/>
              </a:tblGrid>
              <a:tr h="20202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</a:rPr>
                        <a:t>Požadavky na řešení</a:t>
                      </a:r>
                      <a:endParaRPr lang="cs-CZ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cs-CZ" sz="1600" dirty="0" smtClean="0">
                          <a:effectLst/>
                        </a:rPr>
                        <a:t>Nástroj </a:t>
                      </a:r>
                      <a:r>
                        <a:rPr lang="cs-CZ" sz="1600" dirty="0">
                          <a:effectLst/>
                        </a:rPr>
                        <a:t>přečte text popisu včetně extrakce a dovození v registru definovaných vlastností jednotlivých ložisek nádoru, s pomocí obrazového schématu ze </a:t>
                      </a:r>
                      <a:r>
                        <a:rPr lang="cs-CZ" sz="1600" dirty="0" err="1">
                          <a:effectLst/>
                        </a:rPr>
                        <a:t>skenu</a:t>
                      </a:r>
                      <a:r>
                        <a:rPr lang="cs-CZ" sz="1600" dirty="0">
                          <a:effectLst/>
                        </a:rPr>
                        <a:t> určí jejich výskyt v jednotlivých segmentech orgánu a údaje </a:t>
                      </a:r>
                      <a:r>
                        <a:rPr lang="cs-CZ" sz="1600" dirty="0" smtClean="0">
                          <a:effectLst/>
                        </a:rPr>
                        <a:t>uloží </a:t>
                      </a:r>
                      <a:r>
                        <a:rPr lang="cs-CZ" sz="1600" dirty="0">
                          <a:effectLst/>
                        </a:rPr>
                        <a:t>do registru v </a:t>
                      </a:r>
                      <a:r>
                        <a:rPr lang="cs-CZ" sz="1600" dirty="0" err="1">
                          <a:effectLst/>
                        </a:rPr>
                        <a:t>REDCap</a:t>
                      </a:r>
                      <a:r>
                        <a:rPr lang="cs-CZ" sz="1600" dirty="0">
                          <a:effectLst/>
                        </a:rPr>
                        <a:t>-u.</a:t>
                      </a:r>
                      <a:br>
                        <a:rPr lang="cs-CZ" sz="1600" dirty="0">
                          <a:effectLst/>
                        </a:rPr>
                      </a:br>
                      <a:endParaRPr lang="cs-CZ" sz="1600" dirty="0" smtClean="0">
                        <a:effectLst/>
                      </a:endParaRPr>
                    </a:p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cs-CZ" sz="1600" dirty="0" smtClean="0">
                          <a:effectLst/>
                        </a:rPr>
                        <a:t>Při </a:t>
                      </a:r>
                      <a:r>
                        <a:rPr lang="cs-CZ" sz="1600" dirty="0">
                          <a:effectLst/>
                        </a:rPr>
                        <a:t>vývoji se bude pracovat s bezvýznamovým identifikátorem pacienta, v ostrém provozu poté s číslem </a:t>
                      </a:r>
                      <a:r>
                        <a:rPr lang="cs-CZ" sz="1600" dirty="0" smtClean="0">
                          <a:effectLst/>
                        </a:rPr>
                        <a:t>pojištěnce.</a:t>
                      </a:r>
                      <a:endParaRPr lang="cs-CZ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</a:tr>
              <a:tr h="7770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</a:rPr>
                        <a:t>Úspěch </a:t>
                      </a:r>
                      <a:r>
                        <a:rPr lang="cs-CZ" sz="1600" dirty="0" smtClean="0">
                          <a:effectLst/>
                        </a:rPr>
                        <a:t/>
                      </a:r>
                      <a:br>
                        <a:rPr lang="cs-CZ" sz="1600" dirty="0" smtClean="0">
                          <a:effectLst/>
                        </a:rPr>
                      </a:br>
                      <a:r>
                        <a:rPr lang="cs-CZ" sz="1600" dirty="0" smtClean="0">
                          <a:effectLst/>
                        </a:rPr>
                        <a:t>v</a:t>
                      </a:r>
                      <a:r>
                        <a:rPr lang="cs-CZ" sz="1600" dirty="0">
                          <a:effectLst/>
                        </a:rPr>
                        <a:t> 48 hodinách</a:t>
                      </a:r>
                      <a:endParaRPr lang="cs-CZ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</a:rPr>
                        <a:t>Nástroj převede </a:t>
                      </a:r>
                      <a:r>
                        <a:rPr lang="cs-CZ" sz="1600" dirty="0" err="1">
                          <a:effectLst/>
                        </a:rPr>
                        <a:t>sken</a:t>
                      </a:r>
                      <a:r>
                        <a:rPr lang="cs-CZ" sz="1600" dirty="0">
                          <a:effectLst/>
                        </a:rPr>
                        <a:t> schématu rozsahu nádoru v kontextu s textovým popisem histologie do parametrické formy </a:t>
                      </a:r>
                      <a:r>
                        <a:rPr lang="cs-CZ" sz="1600" dirty="0" err="1">
                          <a:effectLst/>
                        </a:rPr>
                        <a:t>importovatelné</a:t>
                      </a:r>
                      <a:r>
                        <a:rPr lang="cs-CZ" sz="1600" dirty="0">
                          <a:effectLst/>
                        </a:rPr>
                        <a:t> do </a:t>
                      </a:r>
                      <a:r>
                        <a:rPr lang="cs-CZ" sz="1600" dirty="0" err="1">
                          <a:effectLst/>
                        </a:rPr>
                        <a:t>REDCap</a:t>
                      </a:r>
                      <a:r>
                        <a:rPr lang="cs-CZ" sz="1600" dirty="0">
                          <a:effectLst/>
                        </a:rPr>
                        <a:t> registru COMPARE.</a:t>
                      </a:r>
                      <a:endParaRPr lang="cs-CZ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</a:tr>
              <a:tr h="15540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>
                          <a:effectLst/>
                        </a:rPr>
                        <a:t>Vstupy/data</a:t>
                      </a:r>
                      <a:endParaRPr lang="cs-CZ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</a:rPr>
                        <a:t>Vstup: </a:t>
                      </a:r>
                      <a:r>
                        <a:rPr lang="cs-CZ" sz="1600" dirty="0" err="1">
                          <a:effectLst/>
                        </a:rPr>
                        <a:t>Sken</a:t>
                      </a:r>
                      <a:r>
                        <a:rPr lang="cs-CZ" sz="1600" dirty="0">
                          <a:effectLst/>
                        </a:rPr>
                        <a:t> v obrazovém </a:t>
                      </a:r>
                      <a:r>
                        <a:rPr lang="cs-CZ" sz="1600" dirty="0" smtClean="0">
                          <a:effectLst/>
                        </a:rPr>
                        <a:t>formátu</a:t>
                      </a:r>
                      <a:r>
                        <a:rPr lang="cs-CZ" sz="1600" dirty="0">
                          <a:effectLst/>
                        </a:rPr>
                        <a:t>. </a:t>
                      </a:r>
                      <a:r>
                        <a:rPr lang="cs-CZ" sz="1600" dirty="0" smtClean="0">
                          <a:effectLst/>
                        </a:rPr>
                        <a:t>Obrazový </a:t>
                      </a:r>
                      <a:r>
                        <a:rPr lang="cs-CZ" sz="1600" dirty="0">
                          <a:effectLst/>
                        </a:rPr>
                        <a:t>soubor a text obsahují jednotný identifikátor pacienta shodný s ID v registru. Bude poskytnut vzorek anonymních schémat a odpovídajících textů histologického nálezu.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cs-CZ" sz="16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 smtClean="0">
                          <a:effectLst/>
                        </a:rPr>
                        <a:t>Výstup</a:t>
                      </a:r>
                      <a:r>
                        <a:rPr lang="cs-CZ" sz="1600" dirty="0">
                          <a:effectLst/>
                        </a:rPr>
                        <a:t>: Registr COMPARE v </a:t>
                      </a:r>
                      <a:r>
                        <a:rPr lang="cs-CZ" sz="1600" dirty="0" err="1">
                          <a:effectLst/>
                        </a:rPr>
                        <a:t>REDCap</a:t>
                      </a:r>
                      <a:r>
                        <a:rPr lang="cs-CZ" sz="1600" dirty="0">
                          <a:effectLst/>
                        </a:rPr>
                        <a:t>, bude poskytnut přístup k testovací verzi registru. </a:t>
                      </a:r>
                      <a:endParaRPr lang="cs-CZ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11" marR="5941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84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Úvodní slidy">
  <a:themeElements>
    <a:clrScheme name="MOÚ colors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obecna-ilustrace_Arial" id="{0ED90AD3-2CB6-0245-A542-F1E813FF4898}" vid="{D7BE5B2D-4C4F-CB4D-A587-2B4D75C63A3D}"/>
    </a:ext>
  </a:extLst>
</a:theme>
</file>

<file path=ppt/theme/theme2.xml><?xml version="1.0" encoding="utf-8"?>
<a:theme xmlns:a="http://schemas.openxmlformats.org/drawingml/2006/main" name="Předěly, názvy kapitol">
  <a:themeElements>
    <a:clrScheme name="Vlastní 1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obecna-ilustrace_Arial" id="{0ED90AD3-2CB6-0245-A542-F1E813FF4898}" vid="{9FEB13C2-E279-0941-9A4C-8C0E8006AF19}"/>
    </a:ext>
  </a:extLst>
</a:theme>
</file>

<file path=ppt/theme/theme3.xml><?xml version="1.0" encoding="utf-8"?>
<a:theme xmlns:a="http://schemas.openxmlformats.org/drawingml/2006/main" name="1_Předěly, názvy kapitol">
  <a:themeElements>
    <a:clrScheme name="Vlastní 1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obecna-ilustrace_Arial" id="{0ED90AD3-2CB6-0245-A542-F1E813FF4898}" vid="{96D4FF03-4D6F-B641-B1CC-11AFE9E931C1}"/>
    </a:ext>
  </a:extLst>
</a:theme>
</file>

<file path=ppt/theme/theme4.xml><?xml version="1.0" encoding="utf-8"?>
<a:theme xmlns:a="http://schemas.openxmlformats.org/drawingml/2006/main" name="Obsah">
  <a:themeElements>
    <a:clrScheme name="MOÚ colors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obecna-ilustrace_Arial" id="{0ED90AD3-2CB6-0245-A542-F1E813FF4898}" vid="{27D96F84-AD92-274F-96A7-C6B9EE7CCEC3}"/>
    </a:ext>
  </a:extLst>
</a:theme>
</file>

<file path=ppt/theme/theme5.xml><?xml version="1.0" encoding="utf-8"?>
<a:theme xmlns:a="http://schemas.openxmlformats.org/drawingml/2006/main" name="Závěr">
  <a:themeElements>
    <a:clrScheme name="MOÚ colors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obecna-ilustrace_Arial" id="{0ED90AD3-2CB6-0245-A542-F1E813FF4898}" vid="{DA9F2E1C-4159-274F-BBA0-C72B71B6B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MOU_CZ-prezentace_obecna-ilustrace_Arial</Template>
  <TotalTime>106</TotalTime>
  <Words>236</Words>
  <Application>Microsoft Office PowerPoint</Application>
  <PresentationFormat>Širokoúhlá obrazovka</PresentationFormat>
  <Paragraphs>63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5</vt:i4>
      </vt:variant>
      <vt:variant>
        <vt:lpstr>Nadpisy snímků</vt:lpstr>
      </vt:variant>
      <vt:variant>
        <vt:i4>11</vt:i4>
      </vt:variant>
    </vt:vector>
  </HeadingPairs>
  <TitlesOfParts>
    <vt:vector size="21" baseType="lpstr">
      <vt:lpstr>Matter</vt:lpstr>
      <vt:lpstr>Calibri</vt:lpstr>
      <vt:lpstr>Times New Roman</vt:lpstr>
      <vt:lpstr>Arial</vt:lpstr>
      <vt:lpstr>Wingdings</vt:lpstr>
      <vt:lpstr>Úvodní slidy</vt:lpstr>
      <vt:lpstr>Předěly, názvy kapitol</vt:lpstr>
      <vt:lpstr>1_Předěly, názvy kapitol</vt:lpstr>
      <vt:lpstr>Obsah</vt:lpstr>
      <vt:lpstr>Závěr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Masaryk Memorial Cancer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MUDr. Michal Standara</dc:creator>
  <cp:lastModifiedBy>MUDr. Michal Standara</cp:lastModifiedBy>
  <cp:revision>11</cp:revision>
  <dcterms:created xsi:type="dcterms:W3CDTF">2026-10-15T17:43:27Z</dcterms:created>
  <dcterms:modified xsi:type="dcterms:W3CDTF">2026-10-15T19:30:02Z</dcterms:modified>
</cp:coreProperties>
</file>