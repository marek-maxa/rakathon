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 id="2147483662" r:id="rId2"/>
  </p:sldMasterIdLst>
  <p:notesMasterIdLst>
    <p:notesMasterId r:id="rId2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h764e33da3ef84b9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h764e33da3ef84b9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h764e33da3ef84b9d_1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h764e33da3ef84b9d_1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h764e33da3ef84b9d_1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3" name="Google Shape;113;h764e33da3ef84b9d_1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h764e33da3ef84b9d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h764e33da3ef84b9d_1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h764e33da3ef84b9d_1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5" name="Google Shape;125;h764e33da3ef84b9d_1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h4f7435ff701224e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1" name="Google Shape;131;h4f7435ff701224e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64e33da3ef84b9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h764e33da3ef84b9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64e33da3ef84b9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h764e33da3ef84b9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04834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64e33da3ef84b9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h764e33da3ef84b9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31179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64e33da3ef84b9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h764e33da3ef84b9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977976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64e33da3ef84b9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h764e33da3ef84b9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6218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64e33da3ef84b9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h764e33da3ef84b9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8424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64e33da3ef84b9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h764e33da3ef84b9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33776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64e33da3ef84b9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h764e33da3ef84b9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260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h764e33da3ef84b9d_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5" name="Google Shape;145;h764e33da3ef84b9d_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02497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h764e33da3ef84b9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h764e33da3ef84b9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13361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7.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Úvodní text_1" userDrawn="1">
  <p:cSld name="Úvodní text_1">
    <p:spTree>
      <p:nvGrpSpPr>
        <p:cNvPr id="1" name="Shape 6"/>
        <p:cNvGrpSpPr/>
        <p:nvPr/>
      </p:nvGrpSpPr>
      <p:grpSpPr>
        <a:xfrm>
          <a:off x="0" y="0"/>
          <a:ext cx="0" cy="0"/>
          <a:chOff x="0" y="0"/>
          <a:chExt cx="0" cy="0"/>
        </a:xfrm>
      </p:grpSpPr>
      <p:sp>
        <p:nvSpPr>
          <p:cNvPr id="7" name="Google Shape;7;p2"/>
          <p:cNvSpPr/>
          <p:nvPr/>
        </p:nvSpPr>
        <p:spPr>
          <a:xfrm>
            <a:off x="0" y="2276475"/>
            <a:ext cx="4079875" cy="458152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 name="Google Shape;8;p2"/>
          <p:cNvSpPr/>
          <p:nvPr/>
        </p:nvSpPr>
        <p:spPr>
          <a:xfrm>
            <a:off x="4079874" y="2276476"/>
            <a:ext cx="8112125" cy="4581524"/>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9" name="Google Shape;9;p2" descr="Obsah obrázku podepsat, kreslení&#10;&#10;Popis byl vytvořen automaticky"/>
          <p:cNvPicPr preferRelativeResize="0"/>
          <p:nvPr/>
        </p:nvPicPr>
        <p:blipFill rotWithShape="1">
          <a:blip r:embed="rId2">
            <a:alphaModFix/>
          </a:blip>
          <a:srcRect/>
          <a:stretch/>
        </p:blipFill>
        <p:spPr>
          <a:xfrm>
            <a:off x="371475" y="368300"/>
            <a:ext cx="1564625" cy="906708"/>
          </a:xfrm>
          <a:prstGeom prst="rect">
            <a:avLst/>
          </a:prstGeom>
          <a:noFill/>
          <a:ln>
            <a:noFill/>
          </a:ln>
        </p:spPr>
      </p:pic>
      <p:sp>
        <p:nvSpPr>
          <p:cNvPr id="10" name="Google Shape;10;p2"/>
          <p:cNvSpPr/>
          <p:nvPr/>
        </p:nvSpPr>
        <p:spPr>
          <a:xfrm>
            <a:off x="4079875" y="0"/>
            <a:ext cx="8112125" cy="2276475"/>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 name="Google Shape;11;p2"/>
          <p:cNvSpPr txBox="1">
            <a:spLocks noGrp="1"/>
          </p:cNvSpPr>
          <p:nvPr>
            <p:ph type="body" idx="1"/>
          </p:nvPr>
        </p:nvSpPr>
        <p:spPr>
          <a:xfrm>
            <a:off x="4259263" y="320948"/>
            <a:ext cx="7740650" cy="177614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body" idx="2"/>
          </p:nvPr>
        </p:nvSpPr>
        <p:spPr>
          <a:xfrm>
            <a:off x="4259263" y="2457450"/>
            <a:ext cx="7740650" cy="190214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 name="Google Shape;13;p2"/>
          <p:cNvSpPr txBox="1">
            <a:spLocks noGrp="1"/>
          </p:cNvSpPr>
          <p:nvPr>
            <p:ph type="body" idx="3"/>
          </p:nvPr>
        </p:nvSpPr>
        <p:spPr>
          <a:xfrm>
            <a:off x="4259263" y="4760913"/>
            <a:ext cx="3673475" cy="541132"/>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914400" marR="0" lvl="1"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 name="Google Shape;14;p2"/>
          <p:cNvSpPr/>
          <p:nvPr/>
        </p:nvSpPr>
        <p:spPr>
          <a:xfrm>
            <a:off x="371475" y="6181923"/>
            <a:ext cx="1567384" cy="307777"/>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cs-CZ" sz="1000" b="0" i="0" u="none" strike="noStrike" cap="none">
                <a:solidFill>
                  <a:schemeClr val="lt1"/>
                </a:solidFill>
                <a:latin typeface="Arial"/>
                <a:ea typeface="Arial"/>
                <a:cs typeface="Arial"/>
                <a:sym typeface="Arial"/>
              </a:rPr>
              <a:t>Žlutý kopec 7, 656 53 Brno</a:t>
            </a:r>
            <a:endParaRPr/>
          </a:p>
          <a:p>
            <a:pPr marL="0" marR="0" lvl="0" indent="0" algn="l" rtl="0">
              <a:spcBef>
                <a:spcPts val="0"/>
              </a:spcBef>
              <a:spcAft>
                <a:spcPts val="0"/>
              </a:spcAft>
              <a:buNone/>
            </a:pPr>
            <a:r>
              <a:rPr lang="cs-CZ" sz="1000" b="0" i="0" u="none" strike="noStrike" cap="none">
                <a:solidFill>
                  <a:schemeClr val="lt1"/>
                </a:solidFill>
                <a:latin typeface="Arial"/>
                <a:ea typeface="Arial"/>
                <a:cs typeface="Arial"/>
                <a:sym typeface="Arial"/>
              </a:rPr>
              <a:t>www.mou.cz</a:t>
            </a:r>
            <a:endParaRPr sz="1000" b="0" i="0" u="none" strike="noStrike" cap="none">
              <a:solidFill>
                <a:schemeClr val="lt1"/>
              </a:solidFill>
              <a:latin typeface="Arial"/>
              <a:ea typeface="Arial"/>
              <a:cs typeface="Arial"/>
              <a:sym typeface="Arial"/>
            </a:endParaRPr>
          </a:p>
        </p:txBody>
      </p:sp>
      <p:sp>
        <p:nvSpPr>
          <p:cNvPr id="16" name="Google Shape;16;p2"/>
          <p:cNvSpPr/>
          <p:nvPr/>
        </p:nvSpPr>
        <p:spPr>
          <a:xfrm>
            <a:off x="8291513" y="6028035"/>
            <a:ext cx="3529012" cy="46166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000"/>
              <a:buFont typeface="Arial"/>
              <a:buNone/>
            </a:pPr>
            <a:r>
              <a:rPr lang="cs-CZ" sz="1000" b="0" i="0" u="none" strike="noStrike" cap="none">
                <a:solidFill>
                  <a:schemeClr val="lt1"/>
                </a:solidFill>
                <a:latin typeface="Arial"/>
                <a:ea typeface="Arial"/>
                <a:cs typeface="Arial"/>
                <a:sym typeface="Arial"/>
              </a:rPr>
              <a:t>Poskytovatel zdravotních služeb akreditovaný Organizací </a:t>
            </a:r>
            <a:endParaRPr/>
          </a:p>
          <a:p>
            <a:pPr marL="0" marR="0" lvl="0" indent="0" algn="l" rtl="0">
              <a:lnSpc>
                <a:spcPct val="100000"/>
              </a:lnSpc>
              <a:spcBef>
                <a:spcPts val="0"/>
              </a:spcBef>
              <a:spcAft>
                <a:spcPts val="0"/>
              </a:spcAft>
              <a:buClr>
                <a:schemeClr val="lt1"/>
              </a:buClr>
              <a:buSzPts val="1000"/>
              <a:buFont typeface="Arial"/>
              <a:buNone/>
            </a:pPr>
            <a:r>
              <a:rPr lang="cs-CZ" sz="1000" b="0" i="0" u="none" strike="noStrike" cap="none">
                <a:solidFill>
                  <a:schemeClr val="lt1"/>
                </a:solidFill>
                <a:latin typeface="Arial"/>
                <a:ea typeface="Arial"/>
                <a:cs typeface="Arial"/>
                <a:sym typeface="Arial"/>
              </a:rPr>
              <a:t>evropských onkologických ústavů (OECI) a Českou společností pro akreditaci ve zdravotnictví.</a:t>
            </a:r>
            <a:endParaRPr/>
          </a:p>
        </p:txBody>
      </p:sp>
      <p:pic>
        <p:nvPicPr>
          <p:cNvPr id="19" name="Google Shape;19;p2"/>
          <p:cNvPicPr preferRelativeResize="0"/>
          <p:nvPr/>
        </p:nvPicPr>
        <p:blipFill rotWithShape="1">
          <a:blip r:embed="rId3">
            <a:alphaModFix/>
          </a:blip>
          <a:srcRect/>
          <a:stretch/>
        </p:blipFill>
        <p:spPr>
          <a:xfrm>
            <a:off x="1" y="1100583"/>
            <a:ext cx="4079873" cy="4079873"/>
          </a:xfrm>
          <a:prstGeom prst="rect">
            <a:avLst/>
          </a:prstGeom>
          <a:noFill/>
          <a:ln>
            <a:noFill/>
          </a:ln>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Úvodní text_2">
  <p:cSld name="Úvodní text_2">
    <p:spTree>
      <p:nvGrpSpPr>
        <p:cNvPr id="1" name="Shape 20"/>
        <p:cNvGrpSpPr/>
        <p:nvPr/>
      </p:nvGrpSpPr>
      <p:grpSpPr>
        <a:xfrm>
          <a:off x="0" y="0"/>
          <a:ext cx="0" cy="0"/>
          <a:chOff x="0" y="0"/>
          <a:chExt cx="0" cy="0"/>
        </a:xfrm>
      </p:grpSpPr>
      <p:sp>
        <p:nvSpPr>
          <p:cNvPr id="21" name="Google Shape;21;p3"/>
          <p:cNvSpPr/>
          <p:nvPr/>
        </p:nvSpPr>
        <p:spPr>
          <a:xfrm>
            <a:off x="0" y="4581524"/>
            <a:ext cx="12191999" cy="2276475"/>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2" name="Google Shape;22;p3" descr="Obsah obrázku podepsat, kreslení&#10;&#10;Popis byl vytvořen automaticky"/>
          <p:cNvPicPr preferRelativeResize="0"/>
          <p:nvPr/>
        </p:nvPicPr>
        <p:blipFill rotWithShape="1">
          <a:blip r:embed="rId2">
            <a:alphaModFix/>
          </a:blip>
          <a:srcRect/>
          <a:stretch/>
        </p:blipFill>
        <p:spPr>
          <a:xfrm>
            <a:off x="371475" y="368300"/>
            <a:ext cx="1564625" cy="906708"/>
          </a:xfrm>
          <a:prstGeom prst="rect">
            <a:avLst/>
          </a:prstGeom>
          <a:noFill/>
          <a:ln>
            <a:noFill/>
          </a:ln>
        </p:spPr>
      </p:pic>
      <p:sp>
        <p:nvSpPr>
          <p:cNvPr id="23" name="Google Shape;23;p3"/>
          <p:cNvSpPr/>
          <p:nvPr/>
        </p:nvSpPr>
        <p:spPr>
          <a:xfrm>
            <a:off x="4079875" y="0"/>
            <a:ext cx="8112125" cy="4581525"/>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3"/>
          <p:cNvSpPr txBox="1">
            <a:spLocks noGrp="1"/>
          </p:cNvSpPr>
          <p:nvPr>
            <p:ph type="body" idx="1"/>
          </p:nvPr>
        </p:nvSpPr>
        <p:spPr>
          <a:xfrm>
            <a:off x="4259263" y="320948"/>
            <a:ext cx="7740650" cy="4079602"/>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5" name="Google Shape;25;p3"/>
          <p:cNvSpPr txBox="1">
            <a:spLocks noGrp="1"/>
          </p:cNvSpPr>
          <p:nvPr>
            <p:ph type="body" idx="2"/>
          </p:nvPr>
        </p:nvSpPr>
        <p:spPr>
          <a:xfrm>
            <a:off x="4259263" y="4760913"/>
            <a:ext cx="3673475" cy="541132"/>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914400" marR="0" lvl="1"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6" name="Google Shape;26;p3"/>
          <p:cNvSpPr/>
          <p:nvPr/>
        </p:nvSpPr>
        <p:spPr>
          <a:xfrm>
            <a:off x="371475" y="6181923"/>
            <a:ext cx="1567384" cy="307777"/>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cs-CZ" sz="1000" b="0" i="0" u="none" strike="noStrike" cap="none">
                <a:solidFill>
                  <a:schemeClr val="lt1"/>
                </a:solidFill>
                <a:latin typeface="Arial"/>
                <a:ea typeface="Arial"/>
                <a:cs typeface="Arial"/>
                <a:sym typeface="Arial"/>
              </a:rPr>
              <a:t>Žlutý kopec 7, 656 53 Brno</a:t>
            </a:r>
            <a:endParaRPr/>
          </a:p>
          <a:p>
            <a:pPr marL="0" marR="0" lvl="0" indent="0" algn="l" rtl="0">
              <a:spcBef>
                <a:spcPts val="0"/>
              </a:spcBef>
              <a:spcAft>
                <a:spcPts val="0"/>
              </a:spcAft>
              <a:buNone/>
            </a:pPr>
            <a:r>
              <a:rPr lang="cs-CZ" sz="1000" b="0" i="0" u="none" strike="noStrike" cap="none">
                <a:solidFill>
                  <a:schemeClr val="lt1"/>
                </a:solidFill>
                <a:latin typeface="Arial"/>
                <a:ea typeface="Arial"/>
                <a:cs typeface="Arial"/>
                <a:sym typeface="Arial"/>
              </a:rPr>
              <a:t>www.mou.cz</a:t>
            </a:r>
            <a:endParaRPr sz="1000" b="0" i="0" u="none" strike="noStrike" cap="none">
              <a:solidFill>
                <a:schemeClr val="lt1"/>
              </a:solidFill>
              <a:latin typeface="Arial"/>
              <a:ea typeface="Arial"/>
              <a:cs typeface="Arial"/>
              <a:sym typeface="Arial"/>
            </a:endParaRPr>
          </a:p>
        </p:txBody>
      </p:sp>
      <p:sp>
        <p:nvSpPr>
          <p:cNvPr id="27" name="Google Shape;27;p3"/>
          <p:cNvSpPr/>
          <p:nvPr/>
        </p:nvSpPr>
        <p:spPr>
          <a:xfrm>
            <a:off x="4259264" y="6181923"/>
            <a:ext cx="220588" cy="30777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000"/>
              <a:buFont typeface="Arial"/>
              <a:buNone/>
            </a:pPr>
            <a:r>
              <a:rPr lang="cs-CZ" sz="1000" b="0" i="0" u="none" strike="noStrike" cap="none">
                <a:solidFill>
                  <a:schemeClr val="lt1"/>
                </a:solidFill>
                <a:latin typeface="Arial"/>
                <a:ea typeface="Arial"/>
                <a:cs typeface="Arial"/>
                <a:sym typeface="Arial"/>
              </a:rPr>
              <a:t>T</a:t>
            </a:r>
            <a:endParaRPr/>
          </a:p>
          <a:p>
            <a:pPr marL="0" marR="0" lvl="0" indent="0" algn="l" rtl="0">
              <a:lnSpc>
                <a:spcPct val="100000"/>
              </a:lnSpc>
              <a:spcBef>
                <a:spcPts val="0"/>
              </a:spcBef>
              <a:spcAft>
                <a:spcPts val="0"/>
              </a:spcAft>
              <a:buClr>
                <a:schemeClr val="lt1"/>
              </a:buClr>
              <a:buSzPts val="1000"/>
              <a:buFont typeface="Arial"/>
              <a:buNone/>
            </a:pPr>
            <a:r>
              <a:rPr lang="cs-CZ" sz="1000" b="0" i="0" u="none" strike="noStrike" cap="none">
                <a:solidFill>
                  <a:schemeClr val="lt1"/>
                </a:solidFill>
                <a:latin typeface="Arial"/>
                <a:ea typeface="Arial"/>
                <a:cs typeface="Arial"/>
                <a:sym typeface="Arial"/>
              </a:rPr>
              <a:t>@</a:t>
            </a:r>
            <a:endParaRPr/>
          </a:p>
        </p:txBody>
      </p:sp>
      <p:sp>
        <p:nvSpPr>
          <p:cNvPr id="28" name="Google Shape;28;p3"/>
          <p:cNvSpPr/>
          <p:nvPr/>
        </p:nvSpPr>
        <p:spPr>
          <a:xfrm>
            <a:off x="8291513" y="6028035"/>
            <a:ext cx="3529012" cy="46166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000"/>
              <a:buFont typeface="Arial"/>
              <a:buNone/>
            </a:pPr>
            <a:r>
              <a:rPr lang="cs-CZ" sz="1000" b="0" i="0" u="none" strike="noStrike" cap="none">
                <a:solidFill>
                  <a:schemeClr val="lt1"/>
                </a:solidFill>
                <a:latin typeface="Arial"/>
                <a:ea typeface="Arial"/>
                <a:cs typeface="Arial"/>
                <a:sym typeface="Arial"/>
              </a:rPr>
              <a:t>Poskytovatel zdravotních služeb akreditovaný Organizací </a:t>
            </a:r>
            <a:endParaRPr/>
          </a:p>
          <a:p>
            <a:pPr marL="0" marR="0" lvl="0" indent="0" algn="l" rtl="0">
              <a:lnSpc>
                <a:spcPct val="100000"/>
              </a:lnSpc>
              <a:spcBef>
                <a:spcPts val="0"/>
              </a:spcBef>
              <a:spcAft>
                <a:spcPts val="0"/>
              </a:spcAft>
              <a:buClr>
                <a:schemeClr val="lt1"/>
              </a:buClr>
              <a:buSzPts val="1000"/>
              <a:buFont typeface="Arial"/>
              <a:buNone/>
            </a:pPr>
            <a:r>
              <a:rPr lang="cs-CZ" sz="1000" b="0" i="0" u="none" strike="noStrike" cap="none">
                <a:solidFill>
                  <a:schemeClr val="lt1"/>
                </a:solidFill>
                <a:latin typeface="Arial"/>
                <a:ea typeface="Arial"/>
                <a:cs typeface="Arial"/>
                <a:sym typeface="Arial"/>
              </a:rPr>
              <a:t>evropských onkologických ústavů (OECI) a Českou společností pro akreditaci ve zdravotnictví.</a:t>
            </a:r>
            <a:endParaRPr/>
          </a:p>
        </p:txBody>
      </p:sp>
      <p:sp>
        <p:nvSpPr>
          <p:cNvPr id="29" name="Google Shape;29;p3"/>
          <p:cNvSpPr txBox="1">
            <a:spLocks noGrp="1"/>
          </p:cNvSpPr>
          <p:nvPr>
            <p:ph type="body" idx="3"/>
          </p:nvPr>
        </p:nvSpPr>
        <p:spPr>
          <a:xfrm>
            <a:off x="4746171" y="6193498"/>
            <a:ext cx="3186567" cy="13741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10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0" name="Google Shape;30;p3"/>
          <p:cNvSpPr txBox="1">
            <a:spLocks noGrp="1"/>
          </p:cNvSpPr>
          <p:nvPr>
            <p:ph type="body" idx="4"/>
          </p:nvPr>
        </p:nvSpPr>
        <p:spPr>
          <a:xfrm>
            <a:off x="4746171" y="6362400"/>
            <a:ext cx="3186567" cy="13741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100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914400" marR="0" lvl="1"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31" name="Google Shape;31;p3"/>
          <p:cNvPicPr preferRelativeResize="0"/>
          <p:nvPr/>
        </p:nvPicPr>
        <p:blipFill rotWithShape="1">
          <a:blip r:embed="rId3">
            <a:alphaModFix/>
          </a:blip>
          <a:srcRect l="40509" b="50000"/>
          <a:stretch/>
        </p:blipFill>
        <p:spPr>
          <a:xfrm>
            <a:off x="2261" y="3429000"/>
            <a:ext cx="4082017" cy="3430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Úvodní text_3">
  <p:cSld name="Úvodní text_3">
    <p:spTree>
      <p:nvGrpSpPr>
        <p:cNvPr id="1" name="Shape 32"/>
        <p:cNvGrpSpPr/>
        <p:nvPr/>
      </p:nvGrpSpPr>
      <p:grpSpPr>
        <a:xfrm>
          <a:off x="0" y="0"/>
          <a:ext cx="0" cy="0"/>
          <a:chOff x="0" y="0"/>
          <a:chExt cx="0" cy="0"/>
        </a:xfrm>
      </p:grpSpPr>
      <p:sp>
        <p:nvSpPr>
          <p:cNvPr id="33" name="Google Shape;33;p4"/>
          <p:cNvSpPr/>
          <p:nvPr/>
        </p:nvSpPr>
        <p:spPr>
          <a:xfrm>
            <a:off x="0" y="0"/>
            <a:ext cx="4079875" cy="458152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4" name="Google Shape;34;p4"/>
          <p:cNvSpPr/>
          <p:nvPr/>
        </p:nvSpPr>
        <p:spPr>
          <a:xfrm>
            <a:off x="371475" y="6181923"/>
            <a:ext cx="1567384" cy="307777"/>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cs-CZ" sz="1000" b="0" i="0" u="none" strike="noStrike" cap="none">
                <a:solidFill>
                  <a:schemeClr val="dk1"/>
                </a:solidFill>
                <a:latin typeface="Arial"/>
                <a:ea typeface="Arial"/>
                <a:cs typeface="Arial"/>
                <a:sym typeface="Arial"/>
              </a:rPr>
              <a:t>Žlutý kopec 7, 656 53 Brno</a:t>
            </a:r>
            <a:endParaRPr/>
          </a:p>
          <a:p>
            <a:pPr marL="0" marR="0" lvl="0" indent="0" algn="l" rtl="0">
              <a:spcBef>
                <a:spcPts val="0"/>
              </a:spcBef>
              <a:spcAft>
                <a:spcPts val="0"/>
              </a:spcAft>
              <a:buNone/>
            </a:pPr>
            <a:r>
              <a:rPr lang="cs-CZ" sz="1000" b="0" i="0" u="none" strike="noStrike" cap="none">
                <a:solidFill>
                  <a:schemeClr val="dk1"/>
                </a:solidFill>
                <a:latin typeface="Arial"/>
                <a:ea typeface="Arial"/>
                <a:cs typeface="Arial"/>
                <a:sym typeface="Arial"/>
              </a:rPr>
              <a:t>www.mou.cz</a:t>
            </a:r>
            <a:endParaRPr sz="1000" b="0" i="0" u="none" strike="noStrike" cap="none">
              <a:solidFill>
                <a:schemeClr val="dk1"/>
              </a:solidFill>
              <a:latin typeface="Arial"/>
              <a:ea typeface="Arial"/>
              <a:cs typeface="Arial"/>
              <a:sym typeface="Arial"/>
            </a:endParaRPr>
          </a:p>
        </p:txBody>
      </p:sp>
      <p:sp>
        <p:nvSpPr>
          <p:cNvPr id="35" name="Google Shape;35;p4"/>
          <p:cNvSpPr/>
          <p:nvPr/>
        </p:nvSpPr>
        <p:spPr>
          <a:xfrm>
            <a:off x="4079875" y="0"/>
            <a:ext cx="8112125" cy="4581525"/>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36" name="Google Shape;36;p4"/>
          <p:cNvSpPr txBox="1">
            <a:spLocks noGrp="1"/>
          </p:cNvSpPr>
          <p:nvPr>
            <p:ph type="body" idx="1"/>
          </p:nvPr>
        </p:nvSpPr>
        <p:spPr>
          <a:xfrm>
            <a:off x="4259263" y="320948"/>
            <a:ext cx="7740650" cy="177614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7" name="Google Shape;37;p4"/>
          <p:cNvSpPr txBox="1">
            <a:spLocks noGrp="1"/>
          </p:cNvSpPr>
          <p:nvPr>
            <p:ph type="body" idx="2"/>
          </p:nvPr>
        </p:nvSpPr>
        <p:spPr>
          <a:xfrm>
            <a:off x="4259263" y="2457450"/>
            <a:ext cx="7740650" cy="190214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8" name="Google Shape;38;p4"/>
          <p:cNvSpPr txBox="1">
            <a:spLocks noGrp="1"/>
          </p:cNvSpPr>
          <p:nvPr>
            <p:ph type="body" idx="3"/>
          </p:nvPr>
        </p:nvSpPr>
        <p:spPr>
          <a:xfrm>
            <a:off x="4259263" y="4760913"/>
            <a:ext cx="3673475" cy="541132"/>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1200"/>
              <a:buFont typeface="Arial"/>
              <a:buNone/>
              <a:defRPr sz="1200" b="0" i="0" u="none" strike="noStrike" cap="none">
                <a:solidFill>
                  <a:schemeClr val="dk1"/>
                </a:solidFill>
                <a:latin typeface="Arial"/>
                <a:ea typeface="Arial"/>
                <a:cs typeface="Arial"/>
                <a:sym typeface="Arial"/>
              </a:defRPr>
            </a:lvl1pPr>
            <a:lvl2pPr marL="914400" marR="0" lvl="1"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39" name="Google Shape;39;p4" descr="Obsah obrázku hodiny, podepsat, talíř, místnost&#10;&#10;Popis byl vytvořen automaticky"/>
          <p:cNvPicPr preferRelativeResize="0"/>
          <p:nvPr/>
        </p:nvPicPr>
        <p:blipFill rotWithShape="1">
          <a:blip r:embed="rId2">
            <a:alphaModFix/>
          </a:blip>
          <a:srcRect/>
          <a:stretch/>
        </p:blipFill>
        <p:spPr>
          <a:xfrm>
            <a:off x="11034044" y="5880918"/>
            <a:ext cx="786481" cy="608782"/>
          </a:xfrm>
          <a:prstGeom prst="rect">
            <a:avLst/>
          </a:prstGeom>
          <a:noFill/>
          <a:ln>
            <a:noFill/>
          </a:ln>
        </p:spPr>
      </p:pic>
      <p:pic>
        <p:nvPicPr>
          <p:cNvPr id="40" name="Google Shape;40;p4" descr="Obsah obrázku kreslení, jídlo&#10;&#10;Popis byl vytvořen automaticky"/>
          <p:cNvPicPr preferRelativeResize="0"/>
          <p:nvPr/>
        </p:nvPicPr>
        <p:blipFill rotWithShape="1">
          <a:blip r:embed="rId3">
            <a:alphaModFix/>
          </a:blip>
          <a:srcRect/>
          <a:stretch/>
        </p:blipFill>
        <p:spPr>
          <a:xfrm>
            <a:off x="9228971" y="5948986"/>
            <a:ext cx="1507125" cy="504618"/>
          </a:xfrm>
          <a:prstGeom prst="rect">
            <a:avLst/>
          </a:prstGeom>
          <a:noFill/>
          <a:ln>
            <a:noFill/>
          </a:ln>
        </p:spPr>
      </p:pic>
      <p:pic>
        <p:nvPicPr>
          <p:cNvPr id="41" name="Google Shape;41;p4" descr="Obsah obrázku kreslení&#10;&#10;Popis byl vytvořen automaticky"/>
          <p:cNvPicPr preferRelativeResize="0"/>
          <p:nvPr/>
        </p:nvPicPr>
        <p:blipFill rotWithShape="1">
          <a:blip r:embed="rId4">
            <a:alphaModFix/>
          </a:blip>
          <a:srcRect/>
          <a:stretch/>
        </p:blipFill>
        <p:spPr>
          <a:xfrm>
            <a:off x="371475" y="368300"/>
            <a:ext cx="1565275" cy="907085"/>
          </a:xfrm>
          <a:prstGeom prst="rect">
            <a:avLst/>
          </a:prstGeom>
          <a:noFill/>
          <a:ln>
            <a:noFill/>
          </a:ln>
        </p:spPr>
      </p:pic>
      <p:sp>
        <p:nvSpPr>
          <p:cNvPr id="42" name="Google Shape;42;p4"/>
          <p:cNvSpPr/>
          <p:nvPr/>
        </p:nvSpPr>
        <p:spPr>
          <a:xfrm>
            <a:off x="0" y="484752"/>
            <a:ext cx="3502431" cy="6257087"/>
          </a:xfrm>
          <a:prstGeom prst="rect">
            <a:avLst/>
          </a:prstGeom>
          <a:blipFill rotWithShape="1">
            <a:blip r:embed="rId5">
              <a:alphaModFix/>
            </a:blip>
            <a:stretch>
              <a:fillRect l="-117014" b="-24989"/>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43" name="Google Shape;43;p4"/>
          <p:cNvSpPr/>
          <p:nvPr/>
        </p:nvSpPr>
        <p:spPr>
          <a:xfrm>
            <a:off x="4259264" y="6181923"/>
            <a:ext cx="220588" cy="307777"/>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000"/>
              <a:buFont typeface="Arial"/>
              <a:buNone/>
            </a:pPr>
            <a:r>
              <a:rPr lang="cs-CZ" sz="1000" b="0" i="0" u="none" strike="noStrike" cap="none">
                <a:solidFill>
                  <a:schemeClr val="dk1"/>
                </a:solidFill>
                <a:latin typeface="Arial"/>
                <a:ea typeface="Arial"/>
                <a:cs typeface="Arial"/>
                <a:sym typeface="Arial"/>
              </a:rPr>
              <a:t>T</a:t>
            </a:r>
            <a:endParaRPr/>
          </a:p>
          <a:p>
            <a:pPr marL="0" marR="0" lvl="0" indent="0" algn="l" rtl="0">
              <a:lnSpc>
                <a:spcPct val="100000"/>
              </a:lnSpc>
              <a:spcBef>
                <a:spcPts val="0"/>
              </a:spcBef>
              <a:spcAft>
                <a:spcPts val="0"/>
              </a:spcAft>
              <a:buClr>
                <a:schemeClr val="dk1"/>
              </a:buClr>
              <a:buSzPts val="1000"/>
              <a:buFont typeface="Arial"/>
              <a:buNone/>
            </a:pPr>
            <a:r>
              <a:rPr lang="cs-CZ" sz="1000" b="0" i="0" u="none" strike="noStrike" cap="none">
                <a:solidFill>
                  <a:schemeClr val="dk1"/>
                </a:solidFill>
                <a:latin typeface="Arial"/>
                <a:ea typeface="Arial"/>
                <a:cs typeface="Arial"/>
                <a:sym typeface="Arial"/>
              </a:rPr>
              <a:t>@</a:t>
            </a:r>
            <a:endParaRPr/>
          </a:p>
        </p:txBody>
      </p:sp>
      <p:sp>
        <p:nvSpPr>
          <p:cNvPr id="44" name="Google Shape;44;p4"/>
          <p:cNvSpPr txBox="1">
            <a:spLocks noGrp="1"/>
          </p:cNvSpPr>
          <p:nvPr>
            <p:ph type="body" idx="4"/>
          </p:nvPr>
        </p:nvSpPr>
        <p:spPr>
          <a:xfrm>
            <a:off x="4746171" y="6193498"/>
            <a:ext cx="3186567" cy="13741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10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45" name="Google Shape;45;p4"/>
          <p:cNvSpPr txBox="1">
            <a:spLocks noGrp="1"/>
          </p:cNvSpPr>
          <p:nvPr>
            <p:ph type="body" idx="5"/>
          </p:nvPr>
        </p:nvSpPr>
        <p:spPr>
          <a:xfrm>
            <a:off x="4746171" y="6362400"/>
            <a:ext cx="3186567" cy="137411"/>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100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914400" marR="0" lvl="1"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vojsloupec">
  <p:cSld name="Dvojsloupec">
    <p:spTree>
      <p:nvGrpSpPr>
        <p:cNvPr id="1" name="Shape 53"/>
        <p:cNvGrpSpPr/>
        <p:nvPr/>
      </p:nvGrpSpPr>
      <p:grpSpPr>
        <a:xfrm>
          <a:off x="0" y="0"/>
          <a:ext cx="0" cy="0"/>
          <a:chOff x="0" y="0"/>
          <a:chExt cx="0" cy="0"/>
        </a:xfrm>
      </p:grpSpPr>
      <p:sp>
        <p:nvSpPr>
          <p:cNvPr id="54" name="Google Shape;54;p6"/>
          <p:cNvSpPr txBox="1">
            <a:spLocks noGrp="1"/>
          </p:cNvSpPr>
          <p:nvPr>
            <p:ph type="body" idx="1"/>
          </p:nvPr>
        </p:nvSpPr>
        <p:spPr>
          <a:xfrm>
            <a:off x="371475" y="1591588"/>
            <a:ext cx="11449050" cy="4898113"/>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55" name="Google Shape;55;p6"/>
          <p:cNvSpPr txBox="1">
            <a:spLocks noGrp="1"/>
          </p:cNvSpPr>
          <p:nvPr>
            <p:ph type="body" idx="2"/>
          </p:nvPr>
        </p:nvSpPr>
        <p:spPr>
          <a:xfrm>
            <a:off x="371474" y="951249"/>
            <a:ext cx="11449050" cy="458774"/>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brázek + popisek">
  <p:cSld name="Obrázek + popisek">
    <p:spTree>
      <p:nvGrpSpPr>
        <p:cNvPr id="1" name="Shape 56"/>
        <p:cNvGrpSpPr/>
        <p:nvPr/>
      </p:nvGrpSpPr>
      <p:grpSpPr>
        <a:xfrm>
          <a:off x="0" y="0"/>
          <a:ext cx="0" cy="0"/>
          <a:chOff x="0" y="0"/>
          <a:chExt cx="0" cy="0"/>
        </a:xfrm>
      </p:grpSpPr>
      <p:sp>
        <p:nvSpPr>
          <p:cNvPr id="57" name="Google Shape;57;p7"/>
          <p:cNvSpPr>
            <a:spLocks noGrp="1"/>
          </p:cNvSpPr>
          <p:nvPr>
            <p:ph type="pic" idx="2"/>
          </p:nvPr>
        </p:nvSpPr>
        <p:spPr>
          <a:xfrm>
            <a:off x="371475" y="1016000"/>
            <a:ext cx="11449050" cy="5473700"/>
          </a:xfrm>
          <a:prstGeom prst="rect">
            <a:avLst/>
          </a:prstGeom>
          <a:noFill/>
          <a:ln>
            <a:noFill/>
          </a:ln>
        </p:spPr>
      </p:sp>
      <p:sp>
        <p:nvSpPr>
          <p:cNvPr id="58" name="Google Shape;58;p7"/>
          <p:cNvSpPr txBox="1">
            <a:spLocks noGrp="1"/>
          </p:cNvSpPr>
          <p:nvPr>
            <p:ph type="body" idx="1"/>
          </p:nvPr>
        </p:nvSpPr>
        <p:spPr>
          <a:xfrm>
            <a:off x="580198" y="6082748"/>
            <a:ext cx="11048585" cy="218109"/>
          </a:xfrm>
          <a:prstGeom prst="rect">
            <a:avLst/>
          </a:prstGeom>
          <a:noFill/>
          <a:ln>
            <a:noFill/>
          </a:ln>
        </p:spPr>
        <p:txBody>
          <a:bodyPr spcFirstLastPara="1" wrap="square" lIns="0" tIns="0" rIns="0" bIns="0" anchor="b"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rázdný">
  <p:cSld name="Prázdný">
    <p:spTree>
      <p:nvGrpSpPr>
        <p:cNvPr id="1" name="Shape 59"/>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ouze nadpis">
  <p:cSld name="Pouze nadpis">
    <p:spTree>
      <p:nvGrpSpPr>
        <p:cNvPr id="1" name="Shape 60"/>
        <p:cNvGrpSpPr/>
        <p:nvPr/>
      </p:nvGrpSpPr>
      <p:grpSpPr>
        <a:xfrm>
          <a:off x="0" y="0"/>
          <a:ext cx="0" cy="0"/>
          <a:chOff x="0" y="0"/>
          <a:chExt cx="0" cy="0"/>
        </a:xfrm>
      </p:grpSpPr>
      <p:sp>
        <p:nvSpPr>
          <p:cNvPr id="61" name="Google Shape;61;p9"/>
          <p:cNvSpPr txBox="1">
            <a:spLocks noGrp="1"/>
          </p:cNvSpPr>
          <p:nvPr>
            <p:ph type="body" idx="1"/>
          </p:nvPr>
        </p:nvSpPr>
        <p:spPr>
          <a:xfrm>
            <a:off x="371476" y="945234"/>
            <a:ext cx="11449050" cy="458774"/>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Jednosloupec">
  <p:cSld name="Jednosloupec">
    <p:spTree>
      <p:nvGrpSpPr>
        <p:cNvPr id="1" name="Shape 62"/>
        <p:cNvGrpSpPr/>
        <p:nvPr/>
      </p:nvGrpSpPr>
      <p:grpSpPr>
        <a:xfrm>
          <a:off x="0" y="0"/>
          <a:ext cx="0" cy="0"/>
          <a:chOff x="0" y="0"/>
          <a:chExt cx="0" cy="0"/>
        </a:xfrm>
      </p:grpSpPr>
      <p:sp>
        <p:nvSpPr>
          <p:cNvPr id="63" name="Google Shape;63;p10"/>
          <p:cNvSpPr txBox="1">
            <a:spLocks noGrp="1"/>
          </p:cNvSpPr>
          <p:nvPr>
            <p:ph type="body" idx="1"/>
          </p:nvPr>
        </p:nvSpPr>
        <p:spPr>
          <a:xfrm>
            <a:off x="371475" y="947990"/>
            <a:ext cx="11449050" cy="458774"/>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4" name="Google Shape;64;p10"/>
          <p:cNvSpPr txBox="1">
            <a:spLocks noGrp="1"/>
          </p:cNvSpPr>
          <p:nvPr>
            <p:ph type="body" idx="2"/>
          </p:nvPr>
        </p:nvSpPr>
        <p:spPr>
          <a:xfrm>
            <a:off x="371476" y="1591588"/>
            <a:ext cx="11449050" cy="4898112"/>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rojsloupec">
  <p:cSld name="Trojsloupec">
    <p:spTree>
      <p:nvGrpSpPr>
        <p:cNvPr id="1" name="Shape 65"/>
        <p:cNvGrpSpPr/>
        <p:nvPr/>
      </p:nvGrpSpPr>
      <p:grpSpPr>
        <a:xfrm>
          <a:off x="0" y="0"/>
          <a:ext cx="0" cy="0"/>
          <a:chOff x="0" y="0"/>
          <a:chExt cx="0" cy="0"/>
        </a:xfrm>
      </p:grpSpPr>
      <p:sp>
        <p:nvSpPr>
          <p:cNvPr id="66" name="Google Shape;66;p11"/>
          <p:cNvSpPr txBox="1">
            <a:spLocks noGrp="1"/>
          </p:cNvSpPr>
          <p:nvPr>
            <p:ph type="body" idx="1"/>
          </p:nvPr>
        </p:nvSpPr>
        <p:spPr>
          <a:xfrm>
            <a:off x="371475" y="1591722"/>
            <a:ext cx="11449050" cy="4897979"/>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67" name="Google Shape;67;p11"/>
          <p:cNvSpPr txBox="1">
            <a:spLocks noGrp="1"/>
          </p:cNvSpPr>
          <p:nvPr>
            <p:ph type="body" idx="2"/>
          </p:nvPr>
        </p:nvSpPr>
        <p:spPr>
          <a:xfrm>
            <a:off x="371474" y="951383"/>
            <a:ext cx="11449050" cy="458774"/>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bsah + obrázek">
  <p:cSld name="Obsah + obrázek">
    <p:spTree>
      <p:nvGrpSpPr>
        <p:cNvPr id="1" name="Shape 68"/>
        <p:cNvGrpSpPr/>
        <p:nvPr/>
      </p:nvGrpSpPr>
      <p:grpSpPr>
        <a:xfrm>
          <a:off x="0" y="0"/>
          <a:ext cx="0" cy="0"/>
          <a:chOff x="0" y="0"/>
          <a:chExt cx="0" cy="0"/>
        </a:xfrm>
      </p:grpSpPr>
      <p:sp>
        <p:nvSpPr>
          <p:cNvPr id="69" name="Google Shape;69;p12"/>
          <p:cNvSpPr/>
          <p:nvPr/>
        </p:nvSpPr>
        <p:spPr>
          <a:xfrm>
            <a:off x="0" y="1560443"/>
            <a:ext cx="4079875" cy="529755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0" name="Google Shape;70;p12"/>
          <p:cNvSpPr txBox="1">
            <a:spLocks noGrp="1"/>
          </p:cNvSpPr>
          <p:nvPr>
            <p:ph type="body" idx="1"/>
          </p:nvPr>
        </p:nvSpPr>
        <p:spPr>
          <a:xfrm>
            <a:off x="371475" y="1729409"/>
            <a:ext cx="3529013" cy="4939679"/>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1" name="Google Shape;71;p12"/>
          <p:cNvSpPr txBox="1">
            <a:spLocks noGrp="1"/>
          </p:cNvSpPr>
          <p:nvPr>
            <p:ph type="body" idx="2"/>
          </p:nvPr>
        </p:nvSpPr>
        <p:spPr>
          <a:xfrm>
            <a:off x="4079874" y="1560442"/>
            <a:ext cx="7740651" cy="492925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2" name="Google Shape;72;p12"/>
          <p:cNvSpPr txBox="1">
            <a:spLocks noGrp="1"/>
          </p:cNvSpPr>
          <p:nvPr>
            <p:ph type="body" idx="3"/>
          </p:nvPr>
        </p:nvSpPr>
        <p:spPr>
          <a:xfrm>
            <a:off x="371474" y="951383"/>
            <a:ext cx="11449050" cy="458774"/>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Obsah + obrázek">
  <p:cSld name="1_Obsah + obrázek">
    <p:spTree>
      <p:nvGrpSpPr>
        <p:cNvPr id="1" name="Shape 73"/>
        <p:cNvGrpSpPr/>
        <p:nvPr/>
      </p:nvGrpSpPr>
      <p:grpSpPr>
        <a:xfrm>
          <a:off x="0" y="0"/>
          <a:ext cx="0" cy="0"/>
          <a:chOff x="0" y="0"/>
          <a:chExt cx="0" cy="0"/>
        </a:xfrm>
      </p:grpSpPr>
      <p:sp>
        <p:nvSpPr>
          <p:cNvPr id="74" name="Google Shape;74;p13"/>
          <p:cNvSpPr/>
          <p:nvPr/>
        </p:nvSpPr>
        <p:spPr>
          <a:xfrm>
            <a:off x="0" y="1560443"/>
            <a:ext cx="8112125" cy="529755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75" name="Google Shape;75;p13"/>
          <p:cNvSpPr txBox="1">
            <a:spLocks noGrp="1"/>
          </p:cNvSpPr>
          <p:nvPr>
            <p:ph type="body" idx="1"/>
          </p:nvPr>
        </p:nvSpPr>
        <p:spPr>
          <a:xfrm>
            <a:off x="371475" y="1729409"/>
            <a:ext cx="7561263" cy="4760292"/>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76" name="Google Shape;76;p13"/>
          <p:cNvSpPr>
            <a:spLocks noGrp="1"/>
          </p:cNvSpPr>
          <p:nvPr>
            <p:ph type="pic" idx="2"/>
          </p:nvPr>
        </p:nvSpPr>
        <p:spPr>
          <a:xfrm>
            <a:off x="8112124" y="1560443"/>
            <a:ext cx="3708401" cy="4929258"/>
          </a:xfrm>
          <a:prstGeom prst="rect">
            <a:avLst/>
          </a:prstGeom>
          <a:noFill/>
          <a:ln>
            <a:noFill/>
          </a:ln>
        </p:spPr>
      </p:sp>
      <p:sp>
        <p:nvSpPr>
          <p:cNvPr id="77" name="Google Shape;77;p13"/>
          <p:cNvSpPr txBox="1">
            <a:spLocks noGrp="1"/>
          </p:cNvSpPr>
          <p:nvPr>
            <p:ph type="body" idx="3"/>
          </p:nvPr>
        </p:nvSpPr>
        <p:spPr>
          <a:xfrm>
            <a:off x="371474" y="951383"/>
            <a:ext cx="11449050" cy="458774"/>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Obsah + obrázek">
  <p:cSld name="2_Obsah + obrázek">
    <p:spTree>
      <p:nvGrpSpPr>
        <p:cNvPr id="1" name="Shape 78"/>
        <p:cNvGrpSpPr/>
        <p:nvPr/>
      </p:nvGrpSpPr>
      <p:grpSpPr>
        <a:xfrm>
          <a:off x="0" y="0"/>
          <a:ext cx="0" cy="0"/>
          <a:chOff x="0" y="0"/>
          <a:chExt cx="0" cy="0"/>
        </a:xfrm>
      </p:grpSpPr>
      <p:sp>
        <p:nvSpPr>
          <p:cNvPr id="79" name="Google Shape;79;p14"/>
          <p:cNvSpPr txBox="1">
            <a:spLocks noGrp="1"/>
          </p:cNvSpPr>
          <p:nvPr>
            <p:ph type="body" idx="1"/>
          </p:nvPr>
        </p:nvSpPr>
        <p:spPr>
          <a:xfrm>
            <a:off x="371475" y="1016001"/>
            <a:ext cx="11449050" cy="54737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0" name="Google Shape;80;p14"/>
          <p:cNvSpPr txBox="1"/>
          <p:nvPr/>
        </p:nvSpPr>
        <p:spPr>
          <a:xfrm>
            <a:off x="5515897" y="560439"/>
            <a:ext cx="18473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dpis + obrázek">
  <p:cSld name="Nadpis + obrázek">
    <p:spTree>
      <p:nvGrpSpPr>
        <p:cNvPr id="1" name="Shape 81"/>
        <p:cNvGrpSpPr/>
        <p:nvPr/>
      </p:nvGrpSpPr>
      <p:grpSpPr>
        <a:xfrm>
          <a:off x="0" y="0"/>
          <a:ext cx="0" cy="0"/>
          <a:chOff x="0" y="0"/>
          <a:chExt cx="0" cy="0"/>
        </a:xfrm>
      </p:grpSpPr>
      <p:sp>
        <p:nvSpPr>
          <p:cNvPr id="82" name="Google Shape;82;p15"/>
          <p:cNvSpPr>
            <a:spLocks noGrp="1"/>
          </p:cNvSpPr>
          <p:nvPr>
            <p:ph type="pic" idx="2"/>
          </p:nvPr>
        </p:nvSpPr>
        <p:spPr>
          <a:xfrm>
            <a:off x="371475" y="1709530"/>
            <a:ext cx="11449050" cy="4780170"/>
          </a:xfrm>
          <a:prstGeom prst="rect">
            <a:avLst/>
          </a:prstGeom>
          <a:noFill/>
          <a:ln>
            <a:noFill/>
          </a:ln>
        </p:spPr>
      </p:sp>
      <p:sp>
        <p:nvSpPr>
          <p:cNvPr id="83" name="Google Shape;83;p15"/>
          <p:cNvSpPr txBox="1">
            <a:spLocks noGrp="1"/>
          </p:cNvSpPr>
          <p:nvPr>
            <p:ph type="body" idx="1"/>
          </p:nvPr>
        </p:nvSpPr>
        <p:spPr>
          <a:xfrm>
            <a:off x="371475" y="1054114"/>
            <a:ext cx="11449050" cy="458774"/>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Úvodní text_1" userDrawn="1">
  <p:cSld name="Úvodní text_1">
    <p:spTree>
      <p:nvGrpSpPr>
        <p:cNvPr id="1" name="Shape 6"/>
        <p:cNvGrpSpPr/>
        <p:nvPr/>
      </p:nvGrpSpPr>
      <p:grpSpPr>
        <a:xfrm>
          <a:off x="0" y="0"/>
          <a:ext cx="0" cy="0"/>
          <a:chOff x="0" y="0"/>
          <a:chExt cx="0" cy="0"/>
        </a:xfrm>
      </p:grpSpPr>
      <p:sp>
        <p:nvSpPr>
          <p:cNvPr id="7" name="Google Shape;7;p2"/>
          <p:cNvSpPr/>
          <p:nvPr/>
        </p:nvSpPr>
        <p:spPr>
          <a:xfrm>
            <a:off x="0" y="2276475"/>
            <a:ext cx="4079875" cy="4581526"/>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8" name="Google Shape;8;p2"/>
          <p:cNvSpPr/>
          <p:nvPr/>
        </p:nvSpPr>
        <p:spPr>
          <a:xfrm>
            <a:off x="4079874" y="2276476"/>
            <a:ext cx="8112125" cy="4581524"/>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9" name="Google Shape;9;p2" descr="Obsah obrázku podepsat, kreslení&#10;&#10;Popis byl vytvořen automaticky"/>
          <p:cNvPicPr preferRelativeResize="0"/>
          <p:nvPr/>
        </p:nvPicPr>
        <p:blipFill rotWithShape="1">
          <a:blip r:embed="rId2">
            <a:alphaModFix/>
          </a:blip>
          <a:srcRect/>
          <a:stretch/>
        </p:blipFill>
        <p:spPr>
          <a:xfrm>
            <a:off x="371475" y="368300"/>
            <a:ext cx="1564625" cy="906708"/>
          </a:xfrm>
          <a:prstGeom prst="rect">
            <a:avLst/>
          </a:prstGeom>
          <a:noFill/>
          <a:ln>
            <a:noFill/>
          </a:ln>
        </p:spPr>
      </p:pic>
      <p:sp>
        <p:nvSpPr>
          <p:cNvPr id="10" name="Google Shape;10;p2"/>
          <p:cNvSpPr/>
          <p:nvPr/>
        </p:nvSpPr>
        <p:spPr>
          <a:xfrm>
            <a:off x="4079875" y="0"/>
            <a:ext cx="8112125" cy="2276475"/>
          </a:xfrm>
          <a:prstGeom prst="rect">
            <a:avLst/>
          </a:prstGeom>
          <a:solidFill>
            <a:schemeClr val="accent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 name="Google Shape;11;p2"/>
          <p:cNvSpPr txBox="1">
            <a:spLocks noGrp="1"/>
          </p:cNvSpPr>
          <p:nvPr>
            <p:ph type="body" idx="1"/>
          </p:nvPr>
        </p:nvSpPr>
        <p:spPr>
          <a:xfrm>
            <a:off x="4259263" y="320948"/>
            <a:ext cx="7740650" cy="1776140"/>
          </a:xfrm>
          <a:prstGeom prst="rect">
            <a:avLst/>
          </a:prstGeom>
          <a:noFill/>
          <a:ln>
            <a:noFill/>
          </a:ln>
        </p:spPr>
        <p:txBody>
          <a:bodyPr spcFirstLastPara="1" wrap="square" lIns="0" tIns="0" rIns="0" bIns="0" anchor="t" anchorCtr="0">
            <a:noAutofit/>
          </a:bodyPr>
          <a:lstStyle>
            <a:lvl1pPr marL="457200" marR="0" lvl="0" indent="-228600" algn="l" rtl="0">
              <a:lnSpc>
                <a:spcPct val="120000"/>
              </a:lnSpc>
              <a:spcBef>
                <a:spcPts val="0"/>
              </a:spcBef>
              <a:spcAft>
                <a:spcPts val="0"/>
              </a:spcAft>
              <a:buClr>
                <a:schemeClr val="lt1"/>
              </a:buClr>
              <a:buSzPts val="4000"/>
              <a:buFont typeface="Arial"/>
              <a:buNone/>
              <a:defRPr sz="4000" b="1"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body" idx="2"/>
          </p:nvPr>
        </p:nvSpPr>
        <p:spPr>
          <a:xfrm>
            <a:off x="4259263" y="2457450"/>
            <a:ext cx="7740650" cy="1902142"/>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 name="Google Shape;13;p2"/>
          <p:cNvSpPr txBox="1">
            <a:spLocks noGrp="1"/>
          </p:cNvSpPr>
          <p:nvPr>
            <p:ph type="body" idx="3"/>
          </p:nvPr>
        </p:nvSpPr>
        <p:spPr>
          <a:xfrm>
            <a:off x="4259263" y="4760913"/>
            <a:ext cx="3673475" cy="541132"/>
          </a:xfrm>
          <a:prstGeom prst="rect">
            <a:avLst/>
          </a:prstGeom>
          <a:noFill/>
          <a:ln>
            <a:noFill/>
          </a:ln>
        </p:spPr>
        <p:txBody>
          <a:bodyPr spcFirstLastPara="1" wrap="square" lIns="0" tIns="0" rIns="0" bIns="0" anchor="t" anchorCtr="0">
            <a:noAutofit/>
          </a:bodyPr>
          <a:lstStyle>
            <a:lvl1pPr marL="457200" marR="0" lvl="0" indent="-228600" algn="l" rtl="0">
              <a:lnSpc>
                <a:spcPct val="90000"/>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1pPr>
            <a:lvl2pPr marL="914400" marR="0" lvl="1"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2pPr>
            <a:lvl3pPr marL="1371600" marR="0" lvl="2"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3pPr>
            <a:lvl4pPr marL="1828800" marR="0" lvl="3"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4pPr>
            <a:lvl5pPr marL="2286000" marR="0" lvl="4" indent="-298450" algn="l" rtl="0">
              <a:lnSpc>
                <a:spcPct val="90000"/>
              </a:lnSpc>
              <a:spcBef>
                <a:spcPts val="500"/>
              </a:spcBef>
              <a:spcAft>
                <a:spcPts val="0"/>
              </a:spcAft>
              <a:buClr>
                <a:schemeClr val="dk1"/>
              </a:buClr>
              <a:buSzPts val="1100"/>
              <a:buFont typeface="Arial"/>
              <a:buChar char="•"/>
              <a:defRPr sz="11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4" name="Google Shape;14;p2"/>
          <p:cNvSpPr/>
          <p:nvPr/>
        </p:nvSpPr>
        <p:spPr>
          <a:xfrm>
            <a:off x="371475" y="6181923"/>
            <a:ext cx="1567384" cy="307777"/>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None/>
            </a:pPr>
            <a:r>
              <a:rPr lang="cs-CZ" sz="1000" b="0" i="0" u="none" strike="noStrike" cap="none">
                <a:solidFill>
                  <a:schemeClr val="lt1"/>
                </a:solidFill>
                <a:latin typeface="Arial"/>
                <a:ea typeface="Arial"/>
                <a:cs typeface="Arial"/>
                <a:sym typeface="Arial"/>
              </a:rPr>
              <a:t>Žlutý kopec 7, 656 53 Brno</a:t>
            </a:r>
            <a:endParaRPr/>
          </a:p>
          <a:p>
            <a:pPr marL="0" marR="0" lvl="0" indent="0" algn="l" rtl="0">
              <a:spcBef>
                <a:spcPts val="0"/>
              </a:spcBef>
              <a:spcAft>
                <a:spcPts val="0"/>
              </a:spcAft>
              <a:buNone/>
            </a:pPr>
            <a:r>
              <a:rPr lang="cs-CZ" sz="1000" b="0" i="0" u="none" strike="noStrike" cap="none">
                <a:solidFill>
                  <a:schemeClr val="lt1"/>
                </a:solidFill>
                <a:latin typeface="Arial"/>
                <a:ea typeface="Arial"/>
                <a:cs typeface="Arial"/>
                <a:sym typeface="Arial"/>
              </a:rPr>
              <a:t>www.mou.cz</a:t>
            </a:r>
            <a:endParaRPr sz="1000" b="0" i="0" u="none" strike="noStrike" cap="none">
              <a:solidFill>
                <a:schemeClr val="lt1"/>
              </a:solidFill>
              <a:latin typeface="Arial"/>
              <a:ea typeface="Arial"/>
              <a:cs typeface="Arial"/>
              <a:sym typeface="Arial"/>
            </a:endParaRPr>
          </a:p>
        </p:txBody>
      </p:sp>
      <p:sp>
        <p:nvSpPr>
          <p:cNvPr id="16" name="Google Shape;16;p2"/>
          <p:cNvSpPr/>
          <p:nvPr/>
        </p:nvSpPr>
        <p:spPr>
          <a:xfrm>
            <a:off x="8291513" y="6028035"/>
            <a:ext cx="3529012" cy="46166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1000"/>
              <a:buFont typeface="Arial"/>
              <a:buNone/>
            </a:pPr>
            <a:r>
              <a:rPr lang="cs-CZ" sz="1000" b="0" i="0" u="none" strike="noStrike" cap="none">
                <a:solidFill>
                  <a:schemeClr val="lt1"/>
                </a:solidFill>
                <a:latin typeface="Arial"/>
                <a:ea typeface="Arial"/>
                <a:cs typeface="Arial"/>
                <a:sym typeface="Arial"/>
              </a:rPr>
              <a:t>Poskytovatel zdravotních služeb akreditovaný Organizací </a:t>
            </a:r>
            <a:endParaRPr/>
          </a:p>
          <a:p>
            <a:pPr marL="0" marR="0" lvl="0" indent="0" algn="l" rtl="0">
              <a:lnSpc>
                <a:spcPct val="100000"/>
              </a:lnSpc>
              <a:spcBef>
                <a:spcPts val="0"/>
              </a:spcBef>
              <a:spcAft>
                <a:spcPts val="0"/>
              </a:spcAft>
              <a:buClr>
                <a:schemeClr val="lt1"/>
              </a:buClr>
              <a:buSzPts val="1000"/>
              <a:buFont typeface="Arial"/>
              <a:buNone/>
            </a:pPr>
            <a:r>
              <a:rPr lang="cs-CZ" sz="1000" b="0" i="0" u="none" strike="noStrike" cap="none">
                <a:solidFill>
                  <a:schemeClr val="lt1"/>
                </a:solidFill>
                <a:latin typeface="Arial"/>
                <a:ea typeface="Arial"/>
                <a:cs typeface="Arial"/>
                <a:sym typeface="Arial"/>
              </a:rPr>
              <a:t>evropských onkologických ústavů (OECI) a Českou společností pro akreditaci ve zdravotnictví.</a:t>
            </a:r>
            <a:endParaRPr/>
          </a:p>
        </p:txBody>
      </p:sp>
      <p:pic>
        <p:nvPicPr>
          <p:cNvPr id="19" name="Google Shape;19;p2"/>
          <p:cNvPicPr preferRelativeResize="0"/>
          <p:nvPr/>
        </p:nvPicPr>
        <p:blipFill rotWithShape="1">
          <a:blip r:embed="rId3">
            <a:alphaModFix/>
          </a:blip>
          <a:srcRect/>
          <a:stretch/>
        </p:blipFill>
        <p:spPr>
          <a:xfrm>
            <a:off x="1" y="1100583"/>
            <a:ext cx="4079873" cy="4079873"/>
          </a:xfrm>
          <a:prstGeom prst="rect">
            <a:avLst/>
          </a:prstGeom>
          <a:noFill/>
          <a:ln>
            <a:noFill/>
          </a:ln>
        </p:spPr>
      </p:pic>
    </p:spTree>
    <p:extLst>
      <p:ext uri="{BB962C8B-B14F-4D97-AF65-F5344CB8AC3E}">
        <p14:creationId xmlns:p14="http://schemas.microsoft.com/office/powerpoint/2010/main" val="279396071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13" Type="http://schemas.openxmlformats.org/officeDocument/2006/relationships/image" Target="../media/image8.png"/><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34">
          <p15:clr>
            <a:srgbClr val="F26B43"/>
          </p15:clr>
        </p15:guide>
        <p15:guide id="2" pos="7446">
          <p15:clr>
            <a:srgbClr val="F26B43"/>
          </p15:clr>
        </p15:guide>
        <p15:guide id="3" orient="horz" pos="232">
          <p15:clr>
            <a:srgbClr val="F26B43"/>
          </p15:clr>
        </p15:guide>
        <p15:guide id="4" orient="horz" pos="408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6"/>
        <p:cNvGrpSpPr/>
        <p:nvPr/>
      </p:nvGrpSpPr>
      <p:grpSpPr>
        <a:xfrm>
          <a:off x="0" y="0"/>
          <a:ext cx="0" cy="0"/>
          <a:chOff x="0" y="0"/>
          <a:chExt cx="0" cy="0"/>
        </a:xfrm>
      </p:grpSpPr>
      <p:sp>
        <p:nvSpPr>
          <p:cNvPr id="47" name="Google Shape;47;p5"/>
          <p:cNvSpPr/>
          <p:nvPr/>
        </p:nvSpPr>
        <p:spPr>
          <a:xfrm>
            <a:off x="11303775" y="368300"/>
            <a:ext cx="516750" cy="153888"/>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fld id="{00000000-1234-1234-1234-123412341234}" type="slidenum">
              <a:rPr lang="cs-CZ" sz="1000" b="0" i="0" u="none" strike="noStrike" cap="none">
                <a:solidFill>
                  <a:schemeClr val="dk1"/>
                </a:solidFill>
                <a:latin typeface="Arial"/>
                <a:ea typeface="Arial"/>
                <a:cs typeface="Arial"/>
                <a:sym typeface="Arial"/>
              </a:rPr>
              <a:t>‹#›</a:t>
            </a:fld>
            <a:endParaRPr sz="1000" b="0" i="0" u="none" strike="noStrike" cap="none">
              <a:solidFill>
                <a:schemeClr val="dk1"/>
              </a:solidFill>
              <a:latin typeface="Arial"/>
              <a:ea typeface="Arial"/>
              <a:cs typeface="Arial"/>
              <a:sym typeface="Arial"/>
            </a:endParaRPr>
          </a:p>
        </p:txBody>
      </p:sp>
      <p:pic>
        <p:nvPicPr>
          <p:cNvPr id="49" name="Google Shape;49;p5" descr="Obsah obrázku kreslení&#10;&#10;Popis byl vytvořen automaticky"/>
          <p:cNvPicPr preferRelativeResize="0"/>
          <p:nvPr/>
        </p:nvPicPr>
        <p:blipFill rotWithShape="1">
          <a:blip r:embed="rId13">
            <a:alphaModFix/>
          </a:blip>
          <a:srcRect/>
          <a:stretch/>
        </p:blipFill>
        <p:spPr>
          <a:xfrm>
            <a:off x="371476" y="368301"/>
            <a:ext cx="275012" cy="2780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3" r:id="rId11"/>
  </p:sldLayoutIdLst>
  <p:timing>
    <p:tnLst>
      <p:par>
        <p:cTn id="1" dur="indefinite" restart="never" nodeType="tmRoot"/>
      </p:par>
    </p:tnLst>
  </p:timing>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mod="1">
    <p:ext uri="{27BBF7A9-308A-43DC-89C8-2F10F3537804}">
      <p15:sldGuideLst xmlns:p15="http://schemas.microsoft.com/office/powerpoint/2012/main">
        <p15:guide id="1" orient="horz" pos="640">
          <p15:clr>
            <a:srgbClr val="F26B43"/>
          </p15:clr>
        </p15:guide>
        <p15:guide id="2" pos="234">
          <p15:clr>
            <a:srgbClr val="F26B43"/>
          </p15:clr>
        </p15:guide>
        <p15:guide id="3" pos="7446">
          <p15:clr>
            <a:srgbClr val="F26B43"/>
          </p15:clr>
        </p15:guide>
        <p15:guide id="4" orient="horz" pos="408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2.jpg"/><Relationship Id="rId11" Type="http://schemas.openxmlformats.org/officeDocument/2006/relationships/image" Target="../media/image17.png"/><Relationship Id="rId5" Type="http://schemas.openxmlformats.org/officeDocument/2006/relationships/image" Target="../media/image11.jpg"/><Relationship Id="rId10" Type="http://schemas.openxmlformats.org/officeDocument/2006/relationships/image" Target="../media/image16.jpg"/><Relationship Id="rId4" Type="http://schemas.openxmlformats.org/officeDocument/2006/relationships/image" Target="../media/image10.jpg"/><Relationship Id="rId9" Type="http://schemas.openxmlformats.org/officeDocument/2006/relationships/image" Target="../media/image15.jp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15.jpg"/><Relationship Id="rId3" Type="http://schemas.openxmlformats.org/officeDocument/2006/relationships/image" Target="../media/image10.jpg"/><Relationship Id="rId7"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3.jpg"/><Relationship Id="rId5" Type="http://schemas.openxmlformats.org/officeDocument/2006/relationships/image" Target="../media/image12.jpg"/><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body" idx="1"/>
          </p:nvPr>
        </p:nvSpPr>
        <p:spPr>
          <a:xfrm>
            <a:off x="4259263" y="320948"/>
            <a:ext cx="7740600" cy="1776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cs-CZ"/>
              <a:t>Rakathon 2026</a:t>
            </a:r>
            <a:endParaRPr/>
          </a:p>
          <a:p>
            <a:pPr marL="0" lvl="0" indent="0" algn="l" rtl="0">
              <a:spcBef>
                <a:spcPts val="0"/>
              </a:spcBef>
              <a:spcAft>
                <a:spcPts val="0"/>
              </a:spcAft>
              <a:buNone/>
            </a:pPr>
            <a:r>
              <a:rPr lang="cs-CZ"/>
              <a:t>Výzva PillGaze</a:t>
            </a:r>
            <a:endParaRPr/>
          </a:p>
        </p:txBody>
      </p:sp>
      <p:sp>
        <p:nvSpPr>
          <p:cNvPr id="89" name="Google Shape;89;p16"/>
          <p:cNvSpPr txBox="1">
            <a:spLocks noGrp="1"/>
          </p:cNvSpPr>
          <p:nvPr>
            <p:ph type="body" idx="2"/>
          </p:nvPr>
        </p:nvSpPr>
        <p:spPr>
          <a:xfrm>
            <a:off x="4259263" y="2457450"/>
            <a:ext cx="7740600" cy="1902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cs-CZ"/>
              <a:t>Martin Rusinko</a:t>
            </a: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body" idx="1"/>
          </p:nvPr>
        </p:nvSpPr>
        <p:spPr>
          <a:xfrm>
            <a:off x="371475" y="1591588"/>
            <a:ext cx="11449050" cy="4898113"/>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600"/>
              <a:buFont typeface="Arial"/>
              <a:buNone/>
            </a:pPr>
            <a:r>
              <a:rPr lang="cs-CZ" sz="2600"/>
              <a:t>PillGaze - Využití umělé inteligence k digitalizaci farmakologické anamnézy z rukou psaných seznamů a obalů léků do strukturované formy k dalšímu zpracování a bezpečnému přenosu do zdravotnické dokumentace.</a:t>
            </a:r>
            <a:endParaRPr sz="2600"/>
          </a:p>
        </p:txBody>
      </p:sp>
      <p:sp>
        <p:nvSpPr>
          <p:cNvPr id="98" name="Google Shape;98;p17"/>
          <p:cNvSpPr txBox="1">
            <a:spLocks noGrp="1"/>
          </p:cNvSpPr>
          <p:nvPr>
            <p:ph type="body" idx="2"/>
          </p:nvPr>
        </p:nvSpPr>
        <p:spPr>
          <a:xfrm>
            <a:off x="371474" y="951249"/>
            <a:ext cx="11449050" cy="45877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a:t>Název výzvy</a:t>
            </a: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body" idx="1"/>
          </p:nvPr>
        </p:nvSpPr>
        <p:spPr>
          <a:xfrm>
            <a:off x="371475" y="1591588"/>
            <a:ext cx="11449050" cy="4898113"/>
          </a:xfrm>
          <a:prstGeom prst="rect">
            <a:avLst/>
          </a:prstGeom>
          <a:noFill/>
          <a:ln>
            <a:noFill/>
          </a:ln>
        </p:spPr>
        <p:txBody>
          <a:bodyPr spcFirstLastPara="1" wrap="square" lIns="0" tIns="0" rIns="0" bIns="0" anchor="t" anchorCtr="0">
            <a:noAutofit/>
          </a:bodyPr>
          <a:lstStyle/>
          <a:p>
            <a:pPr marL="457200" marR="0" lvl="0" indent="-349250" algn="l" rtl="0">
              <a:lnSpc>
                <a:spcPct val="90000"/>
              </a:lnSpc>
              <a:spcBef>
                <a:spcPts val="0"/>
              </a:spcBef>
              <a:spcAft>
                <a:spcPts val="0"/>
              </a:spcAft>
              <a:buSzPts val="1900"/>
              <a:buChar char="-"/>
            </a:pPr>
            <a:r>
              <a:rPr lang="cs-CZ" sz="1900"/>
              <a:t>získávání relevantních informací o užívaných lécích je komplikované</a:t>
            </a:r>
            <a:endParaRPr sz="1900"/>
          </a:p>
          <a:p>
            <a:pPr marL="457200" marR="0" lvl="0" indent="-349250" algn="l" rtl="0">
              <a:lnSpc>
                <a:spcPct val="90000"/>
              </a:lnSpc>
              <a:spcBef>
                <a:spcPts val="0"/>
              </a:spcBef>
              <a:spcAft>
                <a:spcPts val="0"/>
              </a:spcAft>
              <a:buSzPts val="1900"/>
              <a:buChar char="-"/>
            </a:pPr>
            <a:r>
              <a:rPr lang="cs-CZ" sz="1900"/>
              <a:t>pacienti seznam nemají, nebo si přináší ve formě rukou psaných poznámek</a:t>
            </a:r>
            <a:endParaRPr sz="1900"/>
          </a:p>
          <a:p>
            <a:pPr marL="457200" marR="0" lvl="0" indent="0" algn="l" rtl="0">
              <a:lnSpc>
                <a:spcPct val="90000"/>
              </a:lnSpc>
              <a:spcBef>
                <a:spcPts val="0"/>
              </a:spcBef>
              <a:spcAft>
                <a:spcPts val="0"/>
              </a:spcAft>
              <a:buNone/>
            </a:pPr>
            <a:endParaRPr sz="1900"/>
          </a:p>
          <a:p>
            <a:pPr marL="457200" marR="0" lvl="0" indent="-349250" algn="l" rtl="0">
              <a:lnSpc>
                <a:spcPct val="90000"/>
              </a:lnSpc>
              <a:spcBef>
                <a:spcPts val="0"/>
              </a:spcBef>
              <a:spcAft>
                <a:spcPts val="0"/>
              </a:spcAft>
              <a:buSzPts val="1900"/>
              <a:buChar char="-"/>
            </a:pPr>
            <a:r>
              <a:rPr lang="cs-CZ" sz="1900"/>
              <a:t>cílem je vytvořit nástroj, který pomocí mobilní aplikace zpracuje ručně psané poznámky spolu s fotografiemi krabiček léků</a:t>
            </a:r>
            <a:endParaRPr sz="1900"/>
          </a:p>
          <a:p>
            <a:pPr marL="457200" marR="0" lvl="0" indent="-349250" algn="l" rtl="0">
              <a:lnSpc>
                <a:spcPct val="90000"/>
              </a:lnSpc>
              <a:spcBef>
                <a:spcPts val="0"/>
              </a:spcBef>
              <a:spcAft>
                <a:spcPts val="0"/>
              </a:spcAft>
              <a:buSzPts val="1900"/>
              <a:buChar char="-"/>
            </a:pPr>
            <a:r>
              <a:rPr lang="cs-CZ" sz="1900"/>
              <a:t>dostupné informace systém automaticky integruje a bude schopen pomocí informací dostupných z veřejných databází zkontrolovat lékové interakce</a:t>
            </a:r>
            <a:endParaRPr sz="1900"/>
          </a:p>
          <a:p>
            <a:pPr marL="457200" marR="0" lvl="0" indent="0" algn="l" rtl="0">
              <a:lnSpc>
                <a:spcPct val="90000"/>
              </a:lnSpc>
              <a:spcBef>
                <a:spcPts val="0"/>
              </a:spcBef>
              <a:spcAft>
                <a:spcPts val="0"/>
              </a:spcAft>
              <a:buNone/>
            </a:pPr>
            <a:endParaRPr sz="1900"/>
          </a:p>
          <a:p>
            <a:pPr marL="457200" marR="0" lvl="0" indent="-349250" algn="l" rtl="0">
              <a:lnSpc>
                <a:spcPct val="90000"/>
              </a:lnSpc>
              <a:spcBef>
                <a:spcPts val="0"/>
              </a:spcBef>
              <a:spcAft>
                <a:spcPts val="0"/>
              </a:spcAft>
              <a:buSzPts val="1900"/>
              <a:buChar char="-"/>
            </a:pPr>
            <a:r>
              <a:rPr lang="cs-CZ" sz="1900"/>
              <a:t>nezbytnou podmínkou je zasazení do workflow při práci klinika</a:t>
            </a:r>
            <a:endParaRPr sz="1900"/>
          </a:p>
          <a:p>
            <a:pPr marL="457200" marR="0" lvl="0" indent="-349250" algn="l" rtl="0">
              <a:lnSpc>
                <a:spcPct val="90000"/>
              </a:lnSpc>
              <a:spcBef>
                <a:spcPts val="0"/>
              </a:spcBef>
              <a:spcAft>
                <a:spcPts val="0"/>
              </a:spcAft>
              <a:buSzPts val="1900"/>
              <a:buChar char="-"/>
            </a:pPr>
            <a:r>
              <a:rPr lang="cs-CZ" sz="1900"/>
              <a:t>řešení musí umožnit pacientovi vyfotit seznamy a léky doma či v čekárně na mobilní telefon</a:t>
            </a:r>
            <a:endParaRPr sz="1900"/>
          </a:p>
          <a:p>
            <a:pPr marL="457200" marR="0" lvl="0" indent="-349250" algn="l" rtl="0">
              <a:lnSpc>
                <a:spcPct val="90000"/>
              </a:lnSpc>
              <a:spcBef>
                <a:spcPts val="0"/>
              </a:spcBef>
              <a:spcAft>
                <a:spcPts val="0"/>
              </a:spcAft>
              <a:buSzPts val="1900"/>
              <a:buChar char="-"/>
            </a:pPr>
            <a:r>
              <a:rPr lang="cs-CZ" sz="1900"/>
              <a:t>přenos dat musí proběhnout anonymně, bez citlivých identifikačních informací přímo do webového rozhraní či pluginu ve webovém prohlížeči lékaře pomocí krátkého PINu s časově omezenou platností</a:t>
            </a:r>
            <a:endParaRPr sz="1900"/>
          </a:p>
          <a:p>
            <a:pPr marL="457200" marR="0" lvl="0" indent="-349250" algn="l" rtl="0">
              <a:lnSpc>
                <a:spcPct val="90000"/>
              </a:lnSpc>
              <a:spcBef>
                <a:spcPts val="0"/>
              </a:spcBef>
              <a:spcAft>
                <a:spcPts val="0"/>
              </a:spcAft>
              <a:buSzPts val="1900"/>
              <a:buChar char="-"/>
            </a:pPr>
            <a:r>
              <a:rPr lang="cs-CZ" sz="1900"/>
              <a:t>po přenosu musí být možné s digitálním seznamem pracovat a přímo jej vkládat do zdravotnické dokumentace pacienta</a:t>
            </a:r>
            <a:endParaRPr sz="1900"/>
          </a:p>
          <a:p>
            <a:pPr marL="457200" marR="0" lvl="0" indent="0" algn="l" rtl="0">
              <a:lnSpc>
                <a:spcPct val="90000"/>
              </a:lnSpc>
              <a:spcBef>
                <a:spcPts val="0"/>
              </a:spcBef>
              <a:spcAft>
                <a:spcPts val="0"/>
              </a:spcAft>
              <a:buNone/>
            </a:pPr>
            <a:endParaRPr sz="1900"/>
          </a:p>
          <a:p>
            <a:pPr marL="457200" marR="0" lvl="0" indent="-349250" algn="l" rtl="0">
              <a:lnSpc>
                <a:spcPct val="90000"/>
              </a:lnSpc>
              <a:spcBef>
                <a:spcPts val="0"/>
              </a:spcBef>
              <a:spcAft>
                <a:spcPts val="0"/>
              </a:spcAft>
              <a:buSzPts val="1900"/>
              <a:buChar char="-"/>
            </a:pPr>
            <a:r>
              <a:rPr lang="cs-CZ" sz="1900"/>
              <a:t>systém by měl být schopen zpracovat i informace o probíhající onkologické léčbě (chemoterapii, imunoterapii, biologické léčbě)</a:t>
            </a:r>
            <a:endParaRPr sz="1900"/>
          </a:p>
          <a:p>
            <a:pPr marL="457200" marR="0" lvl="0" indent="-349250" algn="l" rtl="0">
              <a:lnSpc>
                <a:spcPct val="90000"/>
              </a:lnSpc>
              <a:spcBef>
                <a:spcPts val="0"/>
              </a:spcBef>
              <a:spcAft>
                <a:spcPts val="0"/>
              </a:spcAft>
              <a:buSzPts val="1900"/>
              <a:buChar char="-"/>
            </a:pPr>
            <a:r>
              <a:rPr lang="cs-CZ" sz="1900"/>
              <a:t>onkologická léčba je často uvedená v dokumentaci pacienta pod akronymem léčebného režimu, generického léku, či dokonce jen jeho zkratkou</a:t>
            </a:r>
            <a:endParaRPr sz="1900"/>
          </a:p>
        </p:txBody>
      </p:sp>
      <p:sp>
        <p:nvSpPr>
          <p:cNvPr id="104" name="Google Shape;104;p18"/>
          <p:cNvSpPr txBox="1">
            <a:spLocks noGrp="1"/>
          </p:cNvSpPr>
          <p:nvPr>
            <p:ph type="body" idx="2"/>
          </p:nvPr>
        </p:nvSpPr>
        <p:spPr>
          <a:xfrm>
            <a:off x="371474" y="951249"/>
            <a:ext cx="11449050" cy="458774"/>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a:t>Popis výzvy</a:t>
            </a: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457200" marR="0" lvl="0" indent="-349250" algn="l" rtl="0">
              <a:lnSpc>
                <a:spcPct val="90000"/>
              </a:lnSpc>
              <a:spcBef>
                <a:spcPts val="0"/>
              </a:spcBef>
              <a:spcAft>
                <a:spcPts val="0"/>
              </a:spcAft>
              <a:buSzPts val="1900"/>
              <a:buChar char="-"/>
            </a:pPr>
            <a:r>
              <a:rPr lang="cs-CZ" sz="1900"/>
              <a:t>v klinické praxi probíhá odběr farmakologické anamnézy ručně a je velmi zdlouhavý</a:t>
            </a:r>
            <a:endParaRPr sz="1900"/>
          </a:p>
          <a:p>
            <a:pPr marL="457200" marR="0" lvl="0" indent="0" algn="l" rtl="0">
              <a:lnSpc>
                <a:spcPct val="90000"/>
              </a:lnSpc>
              <a:spcBef>
                <a:spcPts val="0"/>
              </a:spcBef>
              <a:spcAft>
                <a:spcPts val="0"/>
              </a:spcAft>
              <a:buNone/>
            </a:pPr>
            <a:endParaRPr sz="1900"/>
          </a:p>
          <a:p>
            <a:pPr marL="457200" marR="0" lvl="0" indent="-349250" algn="l" rtl="0">
              <a:lnSpc>
                <a:spcPct val="90000"/>
              </a:lnSpc>
              <a:spcBef>
                <a:spcPts val="0"/>
              </a:spcBef>
              <a:spcAft>
                <a:spcPts val="0"/>
              </a:spcAft>
              <a:buSzPts val="1900"/>
              <a:buChar char="-"/>
            </a:pPr>
            <a:r>
              <a:rPr lang="cs-CZ" sz="1900"/>
              <a:t>informace na pacientově seznamu bývají nedůvěryhodné (neexistující gramáže, léky se stejným názvem o vícero dostupných gramážích)</a:t>
            </a:r>
            <a:endParaRPr sz="1900"/>
          </a:p>
          <a:p>
            <a:pPr marL="457200" marR="0" lvl="0" indent="-349250" algn="l" rtl="0">
              <a:lnSpc>
                <a:spcPct val="90000"/>
              </a:lnSpc>
              <a:spcBef>
                <a:spcPts val="0"/>
              </a:spcBef>
              <a:spcAft>
                <a:spcPts val="0"/>
              </a:spcAft>
              <a:buSzPts val="1900"/>
              <a:buChar char="-"/>
            </a:pPr>
            <a:r>
              <a:rPr lang="cs-CZ" sz="1900"/>
              <a:t>kontrola proti balení, které má pacient doma nabízí nejrychlejší dostupnou kontrolu</a:t>
            </a:r>
            <a:endParaRPr sz="1900"/>
          </a:p>
          <a:p>
            <a:pPr marL="457200" marR="0" lvl="0" indent="-349250" algn="l" rtl="0">
              <a:lnSpc>
                <a:spcPct val="90000"/>
              </a:lnSpc>
              <a:spcBef>
                <a:spcPts val="0"/>
              </a:spcBef>
              <a:spcAft>
                <a:spcPts val="0"/>
              </a:spcAft>
              <a:buSzPts val="1900"/>
              <a:buChar char="-"/>
            </a:pPr>
            <a:r>
              <a:rPr lang="cs-CZ" sz="1900"/>
              <a:t>při manuálním přepisování medikace do lékařské dokumentace není možnost okamžité kontroly případných interakcí protože dostupné veřejné nástroje nabízí jen možnost zadávání jednotlivých léků a často jen v omezeném počtu</a:t>
            </a:r>
            <a:endParaRPr sz="1900"/>
          </a:p>
          <a:p>
            <a:pPr marL="457200" marR="0" lvl="0" indent="-349250" algn="l" rtl="0">
              <a:lnSpc>
                <a:spcPct val="90000"/>
              </a:lnSpc>
              <a:spcBef>
                <a:spcPts val="0"/>
              </a:spcBef>
              <a:spcAft>
                <a:spcPts val="0"/>
              </a:spcAft>
              <a:buSzPts val="1900"/>
              <a:buChar char="-"/>
            </a:pPr>
            <a:r>
              <a:rPr lang="cs-CZ" sz="1900"/>
              <a:t>žádný z dostupných nástrojů nenabízí možnost jednoduché editace kompletního seznamu s možností jednoduchého a bezpečného sdílení seznamu s lékařem</a:t>
            </a:r>
            <a:endParaRPr sz="1900"/>
          </a:p>
        </p:txBody>
      </p:sp>
      <p:sp>
        <p:nvSpPr>
          <p:cNvPr id="110" name="Google Shape;110;p19"/>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a:t>Současný stav/ řešení a jeho nedostatky</a:t>
            </a: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0"/>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600"/>
              <a:buFont typeface="Arial"/>
              <a:buNone/>
            </a:pPr>
            <a:r>
              <a:rPr lang="cs-CZ" sz="1900" b="1" u="sng"/>
              <a:t>Platforma:</a:t>
            </a:r>
            <a:r>
              <a:rPr lang="cs-CZ" sz="1900"/>
              <a:t> Mobilní aplikace určená pro pacienta a webové rozhraní či plugin pro webový prohlížeč pro lékaře.</a:t>
            </a:r>
            <a:endParaRPr sz="1900"/>
          </a:p>
          <a:p>
            <a:pPr marL="0" marR="0" lvl="0" indent="0" algn="l" rtl="0">
              <a:lnSpc>
                <a:spcPct val="90000"/>
              </a:lnSpc>
              <a:spcBef>
                <a:spcPts val="0"/>
              </a:spcBef>
              <a:spcAft>
                <a:spcPts val="0"/>
              </a:spcAft>
              <a:buClr>
                <a:schemeClr val="dk1"/>
              </a:buClr>
              <a:buSzPts val="1600"/>
              <a:buFont typeface="Arial"/>
              <a:buNone/>
            </a:pPr>
            <a:endParaRPr sz="1900"/>
          </a:p>
          <a:p>
            <a:pPr marL="0" marR="0" lvl="0" indent="0" algn="l" rtl="0">
              <a:lnSpc>
                <a:spcPct val="90000"/>
              </a:lnSpc>
              <a:spcBef>
                <a:spcPts val="0"/>
              </a:spcBef>
              <a:spcAft>
                <a:spcPts val="0"/>
              </a:spcAft>
              <a:buClr>
                <a:schemeClr val="dk1"/>
              </a:buClr>
              <a:buSzPts val="1600"/>
              <a:buFont typeface="Arial"/>
              <a:buNone/>
            </a:pPr>
            <a:r>
              <a:rPr lang="cs-CZ" sz="1900" b="1" u="sng"/>
              <a:t>Integrace vstupních dat:</a:t>
            </a:r>
            <a:r>
              <a:rPr lang="cs-CZ" sz="1900"/>
              <a:t> Kombinace vstupů z fotografie krabičky léků (OCR), rukou psaného seznamu či tištěného seznamu, optimálně i schopnost identifikace onkologické léčby ze zadaného názvu režimu či vyfoceného názvu režimu ve zprávě pacienta. Důležitá je možnost při ladění systému upravovat váhu zdrojů pro jednotlivé entity (název léku, gramáž, denní rozpis).</a:t>
            </a:r>
            <a:endParaRPr sz="1900"/>
          </a:p>
          <a:p>
            <a:pPr marL="0" marR="0" lvl="0" indent="0" algn="l" rtl="0">
              <a:lnSpc>
                <a:spcPct val="90000"/>
              </a:lnSpc>
              <a:spcBef>
                <a:spcPts val="0"/>
              </a:spcBef>
              <a:spcAft>
                <a:spcPts val="0"/>
              </a:spcAft>
              <a:buClr>
                <a:schemeClr val="dk1"/>
              </a:buClr>
              <a:buSzPts val="1600"/>
              <a:buFont typeface="Arial"/>
              <a:buNone/>
            </a:pPr>
            <a:endParaRPr sz="1900"/>
          </a:p>
          <a:p>
            <a:pPr marL="0" marR="0" lvl="0" indent="0" algn="l" rtl="0">
              <a:lnSpc>
                <a:spcPct val="90000"/>
              </a:lnSpc>
              <a:spcBef>
                <a:spcPts val="0"/>
              </a:spcBef>
              <a:spcAft>
                <a:spcPts val="0"/>
              </a:spcAft>
              <a:buClr>
                <a:schemeClr val="dk1"/>
              </a:buClr>
              <a:buSzPts val="1600"/>
              <a:buFont typeface="Arial"/>
              <a:buNone/>
            </a:pPr>
            <a:r>
              <a:rPr lang="cs-CZ" sz="1900" b="1" u="sng"/>
              <a:t>Integrace externích zdrojů:</a:t>
            </a:r>
            <a:r>
              <a:rPr lang="cs-CZ" sz="1900"/>
              <a:t> Kontrola závažných interakcí léčiv a identifikace onkologické léčby s využitím veřejně dostupných databází. Výsledné zobrazení těchto informací musí být odděleno od samotného seznamu pacientem zadaných léků, dostupné na vyžádání a vylučně v pracovním rozhraní lékaře.</a:t>
            </a:r>
            <a:endParaRPr sz="1900"/>
          </a:p>
          <a:p>
            <a:pPr marL="0" marR="0" lvl="0" indent="0" algn="l" rtl="0">
              <a:lnSpc>
                <a:spcPct val="90000"/>
              </a:lnSpc>
              <a:spcBef>
                <a:spcPts val="0"/>
              </a:spcBef>
              <a:spcAft>
                <a:spcPts val="0"/>
              </a:spcAft>
              <a:buClr>
                <a:schemeClr val="dk1"/>
              </a:buClr>
              <a:buSzPts val="1600"/>
              <a:buFont typeface="Arial"/>
              <a:buNone/>
            </a:pPr>
            <a:endParaRPr sz="1900"/>
          </a:p>
          <a:p>
            <a:pPr marL="0" marR="0" lvl="0" indent="0" algn="l" rtl="0">
              <a:lnSpc>
                <a:spcPct val="90000"/>
              </a:lnSpc>
              <a:spcBef>
                <a:spcPts val="0"/>
              </a:spcBef>
              <a:spcAft>
                <a:spcPts val="0"/>
              </a:spcAft>
              <a:buClr>
                <a:schemeClr val="dk1"/>
              </a:buClr>
              <a:buSzPts val="1600"/>
              <a:buFont typeface="Arial"/>
              <a:buNone/>
            </a:pPr>
            <a:r>
              <a:rPr lang="cs-CZ" sz="1900" b="1" u="sng"/>
              <a:t>Bezpečnost:</a:t>
            </a:r>
            <a:r>
              <a:rPr lang="cs-CZ" sz="1900"/>
              <a:t> Nástroj nesmí pracovat se žádnými citlivými osobními údaji. Systém bude pracovat s anonymními textovými poli obsahujícími výlučně seznamy léčiv. Přenos anonymního textového pole mezi pacientem a lékařem nesmí využívat žádné identifikační údaje a měl by probíhat např. prostřednictvím jednorázového krátkého PINu (max 4 místního) s omezenou časovou platností (např. 3 minuty). Seznam může být uložen v telefonu pacienta k opakovanému použití, ale nesmí být ukládán na externím úložišti.</a:t>
            </a:r>
            <a:endParaRPr sz="1900"/>
          </a:p>
          <a:p>
            <a:pPr marL="0" marR="0" lvl="0" indent="0" algn="l" rtl="0">
              <a:lnSpc>
                <a:spcPct val="90000"/>
              </a:lnSpc>
              <a:spcBef>
                <a:spcPts val="0"/>
              </a:spcBef>
              <a:spcAft>
                <a:spcPts val="0"/>
              </a:spcAft>
              <a:buClr>
                <a:schemeClr val="dk1"/>
              </a:buClr>
              <a:buSzPts val="1600"/>
              <a:buFont typeface="Arial"/>
              <a:buNone/>
            </a:pPr>
            <a:endParaRPr sz="1900"/>
          </a:p>
        </p:txBody>
      </p:sp>
      <p:sp>
        <p:nvSpPr>
          <p:cNvPr id="116" name="Google Shape;116;p20"/>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a:t>Požadavky na řešení</a:t>
            </a: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1"/>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0" marR="0" lvl="0" indent="0" algn="l" rtl="0">
              <a:lnSpc>
                <a:spcPct val="90000"/>
              </a:lnSpc>
              <a:spcBef>
                <a:spcPts val="0"/>
              </a:spcBef>
              <a:spcAft>
                <a:spcPts val="0"/>
              </a:spcAft>
              <a:buClr>
                <a:schemeClr val="dk1"/>
              </a:buClr>
              <a:buSzPts val="1600"/>
              <a:buFont typeface="Arial"/>
              <a:buNone/>
            </a:pPr>
            <a:r>
              <a:rPr lang="cs-CZ" sz="1900" b="1" u="sng"/>
              <a:t>Funkční MVP (minimal viable product):</a:t>
            </a:r>
            <a:r>
              <a:rPr lang="cs-CZ" sz="1900"/>
              <a:t> Použitelný prototyp prostředí pro pacienta a lékaře s funkčním bezpečným přenosem výsledného seznamu léků. Mobilní aplikace pro pacienta, webové rozhraní nebo plugin pro lékaře.</a:t>
            </a:r>
            <a:endParaRPr sz="1900"/>
          </a:p>
          <a:p>
            <a:pPr marL="0" marR="0" lvl="0" indent="0" algn="l" rtl="0">
              <a:lnSpc>
                <a:spcPct val="90000"/>
              </a:lnSpc>
              <a:spcBef>
                <a:spcPts val="0"/>
              </a:spcBef>
              <a:spcAft>
                <a:spcPts val="0"/>
              </a:spcAft>
              <a:buClr>
                <a:schemeClr val="dk1"/>
              </a:buClr>
              <a:buSzPts val="1600"/>
              <a:buFont typeface="Arial"/>
              <a:buNone/>
            </a:pPr>
            <a:endParaRPr sz="1900"/>
          </a:p>
          <a:p>
            <a:pPr marL="0" marR="0" lvl="0" indent="0" algn="l" rtl="0">
              <a:lnSpc>
                <a:spcPct val="90000"/>
              </a:lnSpc>
              <a:spcBef>
                <a:spcPts val="0"/>
              </a:spcBef>
              <a:spcAft>
                <a:spcPts val="0"/>
              </a:spcAft>
              <a:buClr>
                <a:schemeClr val="dk1"/>
              </a:buClr>
              <a:buSzPts val="1600"/>
              <a:buFont typeface="Arial"/>
              <a:buNone/>
            </a:pPr>
            <a:r>
              <a:rPr lang="cs-CZ" sz="1900" b="1" u="sng"/>
              <a:t>Zpracování vstupů:</a:t>
            </a:r>
            <a:r>
              <a:rPr lang="cs-CZ" sz="1900"/>
              <a:t> Funkční čtení dat z fotografií obalů léků a tištěných seznamů, optimálně i funkční čtení rukou psaných seznamů. Schopnosti tyto informace integrovat a vytvořit výsledný seznam.</a:t>
            </a:r>
            <a:endParaRPr sz="1900"/>
          </a:p>
          <a:p>
            <a:pPr marL="0" marR="0" lvl="0" indent="0" algn="l" rtl="0">
              <a:lnSpc>
                <a:spcPct val="90000"/>
              </a:lnSpc>
              <a:spcBef>
                <a:spcPts val="0"/>
              </a:spcBef>
              <a:spcAft>
                <a:spcPts val="0"/>
              </a:spcAft>
              <a:buClr>
                <a:schemeClr val="dk1"/>
              </a:buClr>
              <a:buSzPts val="1600"/>
              <a:buFont typeface="Arial"/>
              <a:buNone/>
            </a:pPr>
            <a:endParaRPr sz="1900"/>
          </a:p>
          <a:p>
            <a:pPr marL="0" marR="0" lvl="0" indent="0" algn="l" rtl="0">
              <a:lnSpc>
                <a:spcPct val="90000"/>
              </a:lnSpc>
              <a:spcBef>
                <a:spcPts val="0"/>
              </a:spcBef>
              <a:spcAft>
                <a:spcPts val="0"/>
              </a:spcAft>
              <a:buClr>
                <a:schemeClr val="dk1"/>
              </a:buClr>
              <a:buSzPts val="1600"/>
              <a:buFont typeface="Arial"/>
              <a:buNone/>
            </a:pPr>
            <a:r>
              <a:rPr lang="cs-CZ" sz="1900" b="1" u="sng"/>
              <a:t>Zpracování externích vstupů:</a:t>
            </a:r>
            <a:r>
              <a:rPr lang="cs-CZ" sz="1900"/>
              <a:t> Kontrola závažných interakcí ve výsledném seznamu léků za použití veřejně dostupných databází/nástrojů. Schopnost identifikovat alespoň nejpoužívanější režimy onkologické léčby ve veřejné databáze režimů a uvézt léčiva obsažené v režimu.</a:t>
            </a:r>
            <a:endParaRPr sz="1900"/>
          </a:p>
          <a:p>
            <a:pPr marL="0" marR="0" lvl="0" indent="0" algn="l" rtl="0">
              <a:lnSpc>
                <a:spcPct val="90000"/>
              </a:lnSpc>
              <a:spcBef>
                <a:spcPts val="0"/>
              </a:spcBef>
              <a:spcAft>
                <a:spcPts val="0"/>
              </a:spcAft>
              <a:buClr>
                <a:schemeClr val="dk1"/>
              </a:buClr>
              <a:buSzPts val="1600"/>
              <a:buFont typeface="Arial"/>
              <a:buNone/>
            </a:pPr>
            <a:endParaRPr sz="1900"/>
          </a:p>
          <a:p>
            <a:pPr marL="0" marR="0" lvl="0" indent="0" algn="l" rtl="0">
              <a:lnSpc>
                <a:spcPct val="90000"/>
              </a:lnSpc>
              <a:spcBef>
                <a:spcPts val="0"/>
              </a:spcBef>
              <a:spcAft>
                <a:spcPts val="0"/>
              </a:spcAft>
              <a:buClr>
                <a:schemeClr val="dk1"/>
              </a:buClr>
              <a:buSzPts val="1600"/>
              <a:buFont typeface="Arial"/>
              <a:buNone/>
            </a:pPr>
            <a:r>
              <a:rPr lang="cs-CZ" sz="1900" b="1" u="sng"/>
              <a:t>Anonymní přenos:</a:t>
            </a:r>
            <a:r>
              <a:rPr lang="cs-CZ" sz="1900"/>
              <a:t> Spolehlivá ukázka předání dat mezi zařízeními, např. pomocí PIN kódu, bez nutnosti dlouhodobého ukládání dat na externím úložišti. Přenos dat bez nutnosti identifikačních údajů.</a:t>
            </a:r>
            <a:endParaRPr sz="1900"/>
          </a:p>
          <a:p>
            <a:pPr marL="0" marR="0" lvl="0" indent="0" algn="l" rtl="0">
              <a:lnSpc>
                <a:spcPct val="90000"/>
              </a:lnSpc>
              <a:spcBef>
                <a:spcPts val="0"/>
              </a:spcBef>
              <a:spcAft>
                <a:spcPts val="0"/>
              </a:spcAft>
              <a:buClr>
                <a:schemeClr val="dk1"/>
              </a:buClr>
              <a:buSzPts val="1600"/>
              <a:buFont typeface="Arial"/>
              <a:buNone/>
            </a:pPr>
            <a:endParaRPr sz="1900"/>
          </a:p>
        </p:txBody>
      </p:sp>
      <p:sp>
        <p:nvSpPr>
          <p:cNvPr id="122" name="Google Shape;122;p21"/>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a:t>Úspěch v 48 hodinách</a:t>
            </a: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457200" marR="0" lvl="0" indent="-374650" algn="l" rtl="0">
              <a:lnSpc>
                <a:spcPct val="90000"/>
              </a:lnSpc>
              <a:spcBef>
                <a:spcPts val="0"/>
              </a:spcBef>
              <a:spcAft>
                <a:spcPts val="0"/>
              </a:spcAft>
              <a:buSzPts val="2300"/>
              <a:buAutoNum type="arabicParenR"/>
            </a:pPr>
            <a:r>
              <a:rPr lang="cs-CZ" sz="2300"/>
              <a:t>Modelové příklady ručně psaných a tištěných seznamů užívaných léků (ve formátu PDF). Obsahuje i příklady obsahující nejčastější chyby, překlepy či neúplné údaje o lécích/dávkování.</a:t>
            </a:r>
            <a:endParaRPr sz="2300"/>
          </a:p>
          <a:p>
            <a:pPr marL="0" marR="0" lvl="0" indent="0" algn="l" rtl="0">
              <a:lnSpc>
                <a:spcPct val="90000"/>
              </a:lnSpc>
              <a:spcBef>
                <a:spcPts val="0"/>
              </a:spcBef>
              <a:spcAft>
                <a:spcPts val="0"/>
              </a:spcAft>
              <a:buClr>
                <a:schemeClr val="dk1"/>
              </a:buClr>
              <a:buSzPts val="1600"/>
              <a:buFont typeface="Arial"/>
              <a:buNone/>
            </a:pPr>
            <a:endParaRPr sz="2300"/>
          </a:p>
          <a:p>
            <a:pPr marL="457200" marR="0" lvl="0" indent="-374650" algn="l" rtl="0">
              <a:lnSpc>
                <a:spcPct val="90000"/>
              </a:lnSpc>
              <a:spcBef>
                <a:spcPts val="0"/>
              </a:spcBef>
              <a:spcAft>
                <a:spcPts val="0"/>
              </a:spcAft>
              <a:buSzPts val="2300"/>
              <a:buAutoNum type="arabicParenR"/>
            </a:pPr>
            <a:r>
              <a:rPr lang="cs-CZ" sz="2300"/>
              <a:t>Datová sada fotografií obalů běžně užívaných léků (všechny léky/léčiva použitá v modelových seznamech budou dostupná ve formě fotografii obalů).</a:t>
            </a:r>
            <a:endParaRPr sz="2300"/>
          </a:p>
          <a:p>
            <a:pPr marL="0" marR="0" lvl="0" indent="0" algn="l" rtl="0">
              <a:lnSpc>
                <a:spcPct val="90000"/>
              </a:lnSpc>
              <a:spcBef>
                <a:spcPts val="0"/>
              </a:spcBef>
              <a:spcAft>
                <a:spcPts val="0"/>
              </a:spcAft>
              <a:buClr>
                <a:schemeClr val="dk1"/>
              </a:buClr>
              <a:buSzPts val="1600"/>
              <a:buFont typeface="Arial"/>
              <a:buNone/>
            </a:pPr>
            <a:endParaRPr sz="2300"/>
          </a:p>
          <a:p>
            <a:pPr marL="457200" marR="0" lvl="0" indent="-374650" algn="l" rtl="0">
              <a:lnSpc>
                <a:spcPct val="90000"/>
              </a:lnSpc>
              <a:spcBef>
                <a:spcPts val="0"/>
              </a:spcBef>
              <a:spcAft>
                <a:spcPts val="0"/>
              </a:spcAft>
              <a:buSzPts val="2300"/>
              <a:buAutoNum type="arabicParenR"/>
            </a:pPr>
            <a:r>
              <a:rPr lang="cs-CZ" sz="2300"/>
              <a:t>Seznam veřejně dostupných nástrojů ve formě webových stránek ke kontrole interakcí (dle dostupnosti event. API).</a:t>
            </a:r>
            <a:endParaRPr sz="2300"/>
          </a:p>
          <a:p>
            <a:pPr marL="0" marR="0" lvl="0" indent="0" algn="l" rtl="0">
              <a:lnSpc>
                <a:spcPct val="90000"/>
              </a:lnSpc>
              <a:spcBef>
                <a:spcPts val="0"/>
              </a:spcBef>
              <a:spcAft>
                <a:spcPts val="0"/>
              </a:spcAft>
              <a:buClr>
                <a:schemeClr val="dk1"/>
              </a:buClr>
              <a:buSzPts val="1600"/>
              <a:buFont typeface="Arial"/>
              <a:buNone/>
            </a:pPr>
            <a:endParaRPr sz="2300"/>
          </a:p>
          <a:p>
            <a:pPr marL="457200" marR="0" lvl="0" indent="-374650" algn="l" rtl="0">
              <a:lnSpc>
                <a:spcPct val="90000"/>
              </a:lnSpc>
              <a:spcBef>
                <a:spcPts val="0"/>
              </a:spcBef>
              <a:spcAft>
                <a:spcPts val="0"/>
              </a:spcAft>
              <a:buSzPts val="2300"/>
              <a:buAutoNum type="arabicParenR"/>
            </a:pPr>
            <a:r>
              <a:rPr lang="cs-CZ" sz="2300"/>
              <a:t>Přehled veřejně dostupných zdrojů o používaných onkologických léčebných režimech vč. názvů konkrétních léčiv.</a:t>
            </a:r>
            <a:endParaRPr sz="2300"/>
          </a:p>
        </p:txBody>
      </p:sp>
      <p:sp>
        <p:nvSpPr>
          <p:cNvPr id="128" name="Google Shape;128;p22"/>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a:t>Vstupy/data</a:t>
            </a:r>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a:t>Vstupy/data</a:t>
            </a:r>
            <a:endParaRPr/>
          </a:p>
        </p:txBody>
      </p:sp>
      <p:pic>
        <p:nvPicPr>
          <p:cNvPr id="134" name="Google Shape;134;p23" title="IMG_20261007_090601637.jpg"/>
          <p:cNvPicPr preferRelativeResize="0"/>
          <p:nvPr/>
        </p:nvPicPr>
        <p:blipFill rotWithShape="1">
          <a:blip r:embed="rId3">
            <a:alphaModFix/>
          </a:blip>
          <a:srcRect t="14193"/>
          <a:stretch/>
        </p:blipFill>
        <p:spPr>
          <a:xfrm>
            <a:off x="513800" y="1584475"/>
            <a:ext cx="3207300" cy="2687843"/>
          </a:xfrm>
          <a:prstGeom prst="rect">
            <a:avLst/>
          </a:prstGeom>
          <a:noFill/>
          <a:ln>
            <a:noFill/>
          </a:ln>
        </p:spPr>
      </p:pic>
      <p:pic>
        <p:nvPicPr>
          <p:cNvPr id="135" name="Google Shape;135;p23" title="IMG_20261007_091016586.jpg"/>
          <p:cNvPicPr preferRelativeResize="0"/>
          <p:nvPr/>
        </p:nvPicPr>
        <p:blipFill>
          <a:blip r:embed="rId4">
            <a:alphaModFix/>
          </a:blip>
          <a:stretch>
            <a:fillRect/>
          </a:stretch>
        </p:blipFill>
        <p:spPr>
          <a:xfrm>
            <a:off x="8410494" y="1119928"/>
            <a:ext cx="2393850" cy="1795401"/>
          </a:xfrm>
          <a:prstGeom prst="rect">
            <a:avLst/>
          </a:prstGeom>
          <a:noFill/>
          <a:ln>
            <a:noFill/>
          </a:ln>
        </p:spPr>
      </p:pic>
      <p:pic>
        <p:nvPicPr>
          <p:cNvPr id="136" name="Google Shape;136;p23" title="IMG_20261007_091235491.jpg"/>
          <p:cNvPicPr preferRelativeResize="0"/>
          <p:nvPr/>
        </p:nvPicPr>
        <p:blipFill>
          <a:blip r:embed="rId5">
            <a:alphaModFix/>
          </a:blip>
          <a:stretch>
            <a:fillRect/>
          </a:stretch>
        </p:blipFill>
        <p:spPr>
          <a:xfrm>
            <a:off x="5450975" y="5019575"/>
            <a:ext cx="2393849" cy="1525719"/>
          </a:xfrm>
          <a:prstGeom prst="rect">
            <a:avLst/>
          </a:prstGeom>
          <a:noFill/>
          <a:ln>
            <a:noFill/>
          </a:ln>
        </p:spPr>
      </p:pic>
      <p:pic>
        <p:nvPicPr>
          <p:cNvPr id="137" name="Google Shape;137;p23" title="IMG_20261007_091114744.jpg"/>
          <p:cNvPicPr preferRelativeResize="0"/>
          <p:nvPr/>
        </p:nvPicPr>
        <p:blipFill>
          <a:blip r:embed="rId6">
            <a:alphaModFix/>
          </a:blip>
          <a:stretch>
            <a:fillRect/>
          </a:stretch>
        </p:blipFill>
        <p:spPr>
          <a:xfrm>
            <a:off x="5450975" y="3128619"/>
            <a:ext cx="2393849" cy="1677655"/>
          </a:xfrm>
          <a:prstGeom prst="rect">
            <a:avLst/>
          </a:prstGeom>
          <a:noFill/>
          <a:ln>
            <a:noFill/>
          </a:ln>
        </p:spPr>
      </p:pic>
      <p:pic>
        <p:nvPicPr>
          <p:cNvPr id="138" name="Google Shape;138;p23" title="IMG_20261007_091131431.jpg"/>
          <p:cNvPicPr preferRelativeResize="0"/>
          <p:nvPr/>
        </p:nvPicPr>
        <p:blipFill>
          <a:blip r:embed="rId7">
            <a:alphaModFix/>
          </a:blip>
          <a:stretch>
            <a:fillRect/>
          </a:stretch>
        </p:blipFill>
        <p:spPr>
          <a:xfrm>
            <a:off x="8114000" y="3128625"/>
            <a:ext cx="1289875" cy="1655532"/>
          </a:xfrm>
          <a:prstGeom prst="rect">
            <a:avLst/>
          </a:prstGeom>
          <a:noFill/>
          <a:ln>
            <a:noFill/>
          </a:ln>
        </p:spPr>
      </p:pic>
      <p:pic>
        <p:nvPicPr>
          <p:cNvPr id="139" name="Google Shape;139;p23" title="IMG_20261007_091044816.jpg"/>
          <p:cNvPicPr preferRelativeResize="0"/>
          <p:nvPr/>
        </p:nvPicPr>
        <p:blipFill>
          <a:blip r:embed="rId8">
            <a:alphaModFix/>
          </a:blip>
          <a:stretch>
            <a:fillRect/>
          </a:stretch>
        </p:blipFill>
        <p:spPr>
          <a:xfrm>
            <a:off x="5450975" y="1119925"/>
            <a:ext cx="2703523" cy="1795399"/>
          </a:xfrm>
          <a:prstGeom prst="rect">
            <a:avLst/>
          </a:prstGeom>
          <a:noFill/>
          <a:ln>
            <a:noFill/>
          </a:ln>
        </p:spPr>
      </p:pic>
      <p:pic>
        <p:nvPicPr>
          <p:cNvPr id="140" name="Google Shape;140;p23" title="IMG_20261007_091150438.jpg"/>
          <p:cNvPicPr preferRelativeResize="0"/>
          <p:nvPr/>
        </p:nvPicPr>
        <p:blipFill>
          <a:blip r:embed="rId9">
            <a:alphaModFix/>
          </a:blip>
          <a:stretch>
            <a:fillRect/>
          </a:stretch>
        </p:blipFill>
        <p:spPr>
          <a:xfrm>
            <a:off x="9574700" y="3117563"/>
            <a:ext cx="1205280" cy="1677649"/>
          </a:xfrm>
          <a:prstGeom prst="rect">
            <a:avLst/>
          </a:prstGeom>
          <a:noFill/>
          <a:ln>
            <a:noFill/>
          </a:ln>
        </p:spPr>
      </p:pic>
      <p:pic>
        <p:nvPicPr>
          <p:cNvPr id="141" name="Google Shape;141;p23" title="IMG_20261007_091054596.jpg"/>
          <p:cNvPicPr preferRelativeResize="0"/>
          <p:nvPr/>
        </p:nvPicPr>
        <p:blipFill>
          <a:blip r:embed="rId10">
            <a:alphaModFix/>
          </a:blip>
          <a:stretch>
            <a:fillRect/>
          </a:stretch>
        </p:blipFill>
        <p:spPr>
          <a:xfrm>
            <a:off x="8114000" y="5019575"/>
            <a:ext cx="989333" cy="1525724"/>
          </a:xfrm>
          <a:prstGeom prst="rect">
            <a:avLst/>
          </a:prstGeom>
          <a:noFill/>
          <a:ln>
            <a:noFill/>
          </a:ln>
        </p:spPr>
      </p:pic>
      <p:pic>
        <p:nvPicPr>
          <p:cNvPr id="142" name="Google Shape;142;p23"/>
          <p:cNvPicPr preferRelativeResize="0"/>
          <p:nvPr/>
        </p:nvPicPr>
        <p:blipFill rotWithShape="1">
          <a:blip r:embed="rId11">
            <a:alphaModFix/>
          </a:blip>
          <a:srcRect l="19078" t="10245" r="23441" b="9781"/>
          <a:stretch/>
        </p:blipFill>
        <p:spPr>
          <a:xfrm>
            <a:off x="2417675" y="4186575"/>
            <a:ext cx="1813670" cy="2358725"/>
          </a:xfrm>
          <a:prstGeom prst="rect">
            <a:avLst/>
          </a:prstGeom>
          <a:noFill/>
          <a:ln w="38100" cap="flat" cmpd="sng">
            <a:solidFill>
              <a:schemeClr val="dk1"/>
            </a:solidFill>
            <a:prstDash val="solid"/>
            <a:round/>
            <a:headEnd type="none" w="sm" len="sm"/>
            <a:tailEnd type="none" w="sm" len="sm"/>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457200" marR="0" lvl="0" indent="-374650" algn="l" rtl="0">
              <a:lnSpc>
                <a:spcPct val="90000"/>
              </a:lnSpc>
              <a:spcBef>
                <a:spcPts val="0"/>
              </a:spcBef>
              <a:spcAft>
                <a:spcPts val="0"/>
              </a:spcAft>
              <a:buSzPts val="2300"/>
              <a:buChar char="-"/>
            </a:pPr>
            <a:r>
              <a:rPr lang="cs-CZ" sz="2300"/>
              <a:t>zásadním přínosem je radikální zrychlení a zjednodušení administrativy spojené s odběrem farmakologické anamnézy pacienta</a:t>
            </a:r>
            <a:endParaRPr sz="2300"/>
          </a:p>
          <a:p>
            <a:pPr marL="457200" marR="0" lvl="0" indent="-374650" algn="l" rtl="0">
              <a:lnSpc>
                <a:spcPct val="90000"/>
              </a:lnSpc>
              <a:spcBef>
                <a:spcPts val="0"/>
              </a:spcBef>
              <a:spcAft>
                <a:spcPts val="0"/>
              </a:spcAft>
              <a:buSzPts val="2300"/>
              <a:buChar char="-"/>
            </a:pPr>
            <a:r>
              <a:rPr lang="cs-CZ" sz="2300"/>
              <a:t>kombinovaná platforma umožňuje pacientovi připravit relevantní seznam léků ještě před příchodem do zdravotnického zařízení a počítá i s jeho opakovaným použitím</a:t>
            </a:r>
            <a:endParaRPr sz="2300"/>
          </a:p>
          <a:p>
            <a:pPr marL="457200" marR="0" lvl="0" indent="-374650" algn="l" rtl="0">
              <a:lnSpc>
                <a:spcPct val="90000"/>
              </a:lnSpc>
              <a:spcBef>
                <a:spcPts val="0"/>
              </a:spcBef>
              <a:spcAft>
                <a:spcPts val="0"/>
              </a:spcAft>
              <a:buSzPts val="2300"/>
              <a:buChar char="-"/>
            </a:pPr>
            <a:r>
              <a:rPr lang="cs-CZ" sz="2300"/>
              <a:t>bezpečnostní aspekty výzvy zahrnující striktně anonymní předávání dat představují významný krok k univerzální použitelnosti systému napříč mnoha poskytovateli zdravotních služeb</a:t>
            </a:r>
            <a:endParaRPr sz="2300"/>
          </a:p>
          <a:p>
            <a:pPr marL="457200" marR="0" lvl="0" indent="-374650" algn="l" rtl="0">
              <a:lnSpc>
                <a:spcPct val="90000"/>
              </a:lnSpc>
              <a:spcBef>
                <a:spcPts val="0"/>
              </a:spcBef>
              <a:spcAft>
                <a:spcPts val="0"/>
              </a:spcAft>
              <a:buSzPts val="2300"/>
              <a:buChar char="-"/>
            </a:pPr>
            <a:r>
              <a:rPr lang="cs-CZ" sz="2300"/>
              <a:t>pokročilé funkce kontroly interakcí léčiv v celém seznamu najednou a identifikace léčiv dle terapeutických režimů jsou zcela nové prvky, které zatím žádný z dostupných nástrojů v obdobném využití nenabízí</a:t>
            </a:r>
            <a:endParaRPr sz="2300"/>
          </a:p>
        </p:txBody>
      </p:sp>
      <p:sp>
        <p:nvSpPr>
          <p:cNvPr id="148" name="Google Shape;148;p24"/>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a:t>Potenciál dopadu</a:t>
            </a:r>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82550" marR="0" lvl="0" indent="0" algn="l" rtl="0">
              <a:lnSpc>
                <a:spcPct val="90000"/>
              </a:lnSpc>
              <a:spcBef>
                <a:spcPts val="0"/>
              </a:spcBef>
              <a:spcAft>
                <a:spcPts val="0"/>
              </a:spcAft>
              <a:buSzPts val="2300"/>
            </a:pPr>
            <a:r>
              <a:rPr lang="cs-CZ" sz="2300" dirty="0" smtClean="0"/>
              <a:t>1) Mám seznam léků – lísteček, tabulku, seznam od lékaře…</a:t>
            </a:r>
          </a:p>
          <a:p>
            <a:pPr marL="539750" marR="0" lvl="0" indent="-457200" algn="l" rtl="0">
              <a:lnSpc>
                <a:spcPct val="90000"/>
              </a:lnSpc>
              <a:spcBef>
                <a:spcPts val="0"/>
              </a:spcBef>
              <a:spcAft>
                <a:spcPts val="0"/>
              </a:spcAft>
              <a:buSzPts val="2300"/>
              <a:buAutoNum type="arabicParenR"/>
            </a:pPr>
            <a:endParaRPr lang="cs-CZ" sz="2300" dirty="0"/>
          </a:p>
        </p:txBody>
      </p:sp>
      <p:sp>
        <p:nvSpPr>
          <p:cNvPr id="148" name="Google Shape;148;p24"/>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dirty="0" smtClean="0"/>
              <a:t>…jsem pacient      …užívám léky</a:t>
            </a:r>
            <a:endParaRPr dirty="0"/>
          </a:p>
        </p:txBody>
      </p:sp>
      <p:pic>
        <p:nvPicPr>
          <p:cNvPr id="4" name="Google Shape;134;p23" title="IMG_20261007_090601637.jpg"/>
          <p:cNvPicPr preferRelativeResize="0"/>
          <p:nvPr/>
        </p:nvPicPr>
        <p:blipFill rotWithShape="1">
          <a:blip r:embed="rId3">
            <a:alphaModFix/>
          </a:blip>
          <a:srcRect t="14193"/>
          <a:stretch/>
        </p:blipFill>
        <p:spPr>
          <a:xfrm>
            <a:off x="886662" y="2330199"/>
            <a:ext cx="4555349" cy="4159489"/>
          </a:xfrm>
          <a:prstGeom prst="rect">
            <a:avLst/>
          </a:prstGeom>
          <a:noFill/>
          <a:ln>
            <a:noFill/>
          </a:ln>
        </p:spPr>
      </p:pic>
      <p:pic>
        <p:nvPicPr>
          <p:cNvPr id="5" name="Google Shape;142;p23"/>
          <p:cNvPicPr preferRelativeResize="0"/>
          <p:nvPr/>
        </p:nvPicPr>
        <p:blipFill rotWithShape="1">
          <a:blip r:embed="rId4">
            <a:alphaModFix/>
          </a:blip>
          <a:srcRect l="19078" t="10245" r="23441" b="9781"/>
          <a:stretch/>
        </p:blipFill>
        <p:spPr>
          <a:xfrm>
            <a:off x="6057521" y="2330199"/>
            <a:ext cx="3388320" cy="4088356"/>
          </a:xfrm>
          <a:prstGeom prst="rect">
            <a:avLst/>
          </a:prstGeom>
          <a:noFill/>
          <a:ln w="38100" cap="flat" cmpd="sng">
            <a:solidFill>
              <a:schemeClr val="dk1"/>
            </a:solidFill>
            <a:prstDash val="solid"/>
            <a:round/>
            <a:headEnd type="none" w="sm" len="sm"/>
            <a:tailEnd type="none" w="sm" len="sm"/>
          </a:ln>
        </p:spPr>
      </p:pic>
    </p:spTree>
    <p:extLst>
      <p:ext uri="{BB962C8B-B14F-4D97-AF65-F5344CB8AC3E}">
        <p14:creationId xmlns:p14="http://schemas.microsoft.com/office/powerpoint/2010/main" val="24946575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82550" marR="0" lvl="0" indent="0" algn="l" rtl="0">
              <a:lnSpc>
                <a:spcPct val="90000"/>
              </a:lnSpc>
              <a:spcBef>
                <a:spcPts val="0"/>
              </a:spcBef>
              <a:spcAft>
                <a:spcPts val="0"/>
              </a:spcAft>
              <a:buSzPts val="2300"/>
            </a:pPr>
            <a:r>
              <a:rPr lang="cs-CZ" sz="2300" dirty="0" smtClean="0"/>
              <a:t>2) Mám krabičky od léků doma/s sebou…</a:t>
            </a:r>
            <a:endParaRPr sz="2300" dirty="0"/>
          </a:p>
        </p:txBody>
      </p:sp>
      <p:sp>
        <p:nvSpPr>
          <p:cNvPr id="148" name="Google Shape;148;p24"/>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dirty="0" smtClean="0"/>
              <a:t>…jsem pacient      …užívám léky</a:t>
            </a:r>
            <a:endParaRPr dirty="0"/>
          </a:p>
        </p:txBody>
      </p:sp>
      <p:pic>
        <p:nvPicPr>
          <p:cNvPr id="4" name="Google Shape;135;p23" title="IMG_20261007_091016586.jpg"/>
          <p:cNvPicPr preferRelativeResize="0"/>
          <p:nvPr/>
        </p:nvPicPr>
        <p:blipFill>
          <a:blip r:embed="rId3">
            <a:alphaModFix/>
          </a:blip>
          <a:stretch>
            <a:fillRect/>
          </a:stretch>
        </p:blipFill>
        <p:spPr>
          <a:xfrm>
            <a:off x="4149693" y="3956387"/>
            <a:ext cx="2393850" cy="1795401"/>
          </a:xfrm>
          <a:prstGeom prst="rect">
            <a:avLst/>
          </a:prstGeom>
          <a:noFill/>
          <a:ln>
            <a:noFill/>
          </a:ln>
        </p:spPr>
      </p:pic>
      <p:pic>
        <p:nvPicPr>
          <p:cNvPr id="5" name="Google Shape;136;p23" title="IMG_20261007_091235491.jpg"/>
          <p:cNvPicPr preferRelativeResize="0"/>
          <p:nvPr/>
        </p:nvPicPr>
        <p:blipFill>
          <a:blip r:embed="rId4">
            <a:alphaModFix/>
          </a:blip>
          <a:stretch>
            <a:fillRect/>
          </a:stretch>
        </p:blipFill>
        <p:spPr>
          <a:xfrm>
            <a:off x="4149694" y="2067849"/>
            <a:ext cx="2393849" cy="1525719"/>
          </a:xfrm>
          <a:prstGeom prst="rect">
            <a:avLst/>
          </a:prstGeom>
          <a:noFill/>
          <a:ln>
            <a:noFill/>
          </a:ln>
        </p:spPr>
      </p:pic>
      <p:pic>
        <p:nvPicPr>
          <p:cNvPr id="6" name="Google Shape;137;p23" title="IMG_20261007_091114744.jpg"/>
          <p:cNvPicPr preferRelativeResize="0"/>
          <p:nvPr/>
        </p:nvPicPr>
        <p:blipFill>
          <a:blip r:embed="rId5">
            <a:alphaModFix/>
          </a:blip>
          <a:stretch>
            <a:fillRect/>
          </a:stretch>
        </p:blipFill>
        <p:spPr>
          <a:xfrm>
            <a:off x="814856" y="4039766"/>
            <a:ext cx="2393849" cy="1677655"/>
          </a:xfrm>
          <a:prstGeom prst="rect">
            <a:avLst/>
          </a:prstGeom>
          <a:noFill/>
          <a:ln>
            <a:noFill/>
          </a:ln>
        </p:spPr>
      </p:pic>
      <p:pic>
        <p:nvPicPr>
          <p:cNvPr id="7" name="Google Shape;138;p23" title="IMG_20261007_091131431.jpg"/>
          <p:cNvPicPr preferRelativeResize="0"/>
          <p:nvPr/>
        </p:nvPicPr>
        <p:blipFill>
          <a:blip r:embed="rId6">
            <a:alphaModFix/>
          </a:blip>
          <a:stretch>
            <a:fillRect/>
          </a:stretch>
        </p:blipFill>
        <p:spPr>
          <a:xfrm>
            <a:off x="7049499" y="2067849"/>
            <a:ext cx="2129002" cy="2447437"/>
          </a:xfrm>
          <a:prstGeom prst="rect">
            <a:avLst/>
          </a:prstGeom>
          <a:noFill/>
          <a:ln>
            <a:noFill/>
          </a:ln>
        </p:spPr>
      </p:pic>
      <p:pic>
        <p:nvPicPr>
          <p:cNvPr id="8" name="Google Shape;139;p23" title="IMG_20261007_091044816.jpg"/>
          <p:cNvPicPr preferRelativeResize="0"/>
          <p:nvPr/>
        </p:nvPicPr>
        <p:blipFill>
          <a:blip r:embed="rId7">
            <a:alphaModFix/>
          </a:blip>
          <a:stretch>
            <a:fillRect/>
          </a:stretch>
        </p:blipFill>
        <p:spPr>
          <a:xfrm>
            <a:off x="808864" y="2087591"/>
            <a:ext cx="2703523" cy="1795399"/>
          </a:xfrm>
          <a:prstGeom prst="rect">
            <a:avLst/>
          </a:prstGeom>
          <a:noFill/>
          <a:ln>
            <a:noFill/>
          </a:ln>
        </p:spPr>
      </p:pic>
      <p:pic>
        <p:nvPicPr>
          <p:cNvPr id="9" name="Google Shape;140;p23" title="IMG_20261007_091150438.jpg"/>
          <p:cNvPicPr preferRelativeResize="0"/>
          <p:nvPr/>
        </p:nvPicPr>
        <p:blipFill>
          <a:blip r:embed="rId8">
            <a:alphaModFix/>
          </a:blip>
          <a:stretch>
            <a:fillRect/>
          </a:stretch>
        </p:blipFill>
        <p:spPr>
          <a:xfrm>
            <a:off x="9478015" y="2067849"/>
            <a:ext cx="1778870" cy="2447437"/>
          </a:xfrm>
          <a:prstGeom prst="rect">
            <a:avLst/>
          </a:prstGeom>
          <a:noFill/>
          <a:ln>
            <a:noFill/>
          </a:ln>
        </p:spPr>
      </p:pic>
    </p:spTree>
    <p:extLst>
      <p:ext uri="{BB962C8B-B14F-4D97-AF65-F5344CB8AC3E}">
        <p14:creationId xmlns:p14="http://schemas.microsoft.com/office/powerpoint/2010/main" val="16011701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82550" marR="0" lvl="0" indent="0" algn="l" rtl="0">
              <a:lnSpc>
                <a:spcPct val="90000"/>
              </a:lnSpc>
              <a:spcBef>
                <a:spcPts val="0"/>
              </a:spcBef>
              <a:spcAft>
                <a:spcPts val="0"/>
              </a:spcAft>
              <a:buSzPts val="2300"/>
            </a:pPr>
            <a:r>
              <a:rPr lang="cs-CZ" sz="2300" dirty="0" smtClean="0"/>
              <a:t>3) </a:t>
            </a:r>
            <a:r>
              <a:rPr lang="cs-CZ" sz="2300" dirty="0" smtClean="0"/>
              <a:t>Mám mobilní telefon…</a:t>
            </a:r>
          </a:p>
        </p:txBody>
      </p:sp>
      <p:sp>
        <p:nvSpPr>
          <p:cNvPr id="148" name="Google Shape;148;p24"/>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dirty="0" smtClean="0"/>
              <a:t>…jsem pacient      …užívám léky</a:t>
            </a:r>
            <a:endParaRPr dirty="0"/>
          </a:p>
        </p:txBody>
      </p:sp>
      <p:pic>
        <p:nvPicPr>
          <p:cNvPr id="2" name="Obrázek 1"/>
          <p:cNvPicPr>
            <a:picLocks noChangeAspect="1"/>
          </p:cNvPicPr>
          <p:nvPr/>
        </p:nvPicPr>
        <p:blipFill>
          <a:blip r:embed="rId3"/>
          <a:stretch>
            <a:fillRect/>
          </a:stretch>
        </p:blipFill>
        <p:spPr>
          <a:xfrm>
            <a:off x="1648699" y="2217286"/>
            <a:ext cx="4029637" cy="4039164"/>
          </a:xfrm>
          <a:prstGeom prst="rect">
            <a:avLst/>
          </a:prstGeom>
        </p:spPr>
      </p:pic>
      <p:pic>
        <p:nvPicPr>
          <p:cNvPr id="3" name="Obrázek 2"/>
          <p:cNvPicPr>
            <a:picLocks noChangeAspect="1"/>
          </p:cNvPicPr>
          <p:nvPr/>
        </p:nvPicPr>
        <p:blipFill>
          <a:blip r:embed="rId4"/>
          <a:stretch>
            <a:fillRect/>
          </a:stretch>
        </p:blipFill>
        <p:spPr>
          <a:xfrm>
            <a:off x="8442806" y="1835546"/>
            <a:ext cx="2301360" cy="2125866"/>
          </a:xfrm>
          <a:prstGeom prst="rect">
            <a:avLst/>
          </a:prstGeom>
        </p:spPr>
      </p:pic>
      <p:pic>
        <p:nvPicPr>
          <p:cNvPr id="4" name="Obrázek 3"/>
          <p:cNvPicPr>
            <a:picLocks noChangeAspect="1"/>
          </p:cNvPicPr>
          <p:nvPr/>
        </p:nvPicPr>
        <p:blipFill>
          <a:blip r:embed="rId5"/>
          <a:stretch>
            <a:fillRect/>
          </a:stretch>
        </p:blipFill>
        <p:spPr>
          <a:xfrm>
            <a:off x="7599286" y="4476521"/>
            <a:ext cx="3366822" cy="1584153"/>
          </a:xfrm>
          <a:prstGeom prst="rect">
            <a:avLst/>
          </a:prstGeom>
        </p:spPr>
      </p:pic>
    </p:spTree>
    <p:extLst>
      <p:ext uri="{BB962C8B-B14F-4D97-AF65-F5344CB8AC3E}">
        <p14:creationId xmlns:p14="http://schemas.microsoft.com/office/powerpoint/2010/main" val="6606272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82550" marR="0" lvl="0" indent="0" algn="l" rtl="0">
              <a:lnSpc>
                <a:spcPct val="90000"/>
              </a:lnSpc>
              <a:spcBef>
                <a:spcPts val="0"/>
              </a:spcBef>
              <a:spcAft>
                <a:spcPts val="0"/>
              </a:spcAft>
              <a:buSzPts val="2300"/>
            </a:pPr>
            <a:r>
              <a:rPr lang="cs-CZ" sz="2300" dirty="0"/>
              <a:t>4</a:t>
            </a:r>
            <a:r>
              <a:rPr lang="cs-CZ" sz="2300" dirty="0" smtClean="0"/>
              <a:t>) </a:t>
            </a:r>
            <a:r>
              <a:rPr lang="cs-CZ" sz="2300" dirty="0" smtClean="0"/>
              <a:t>Lékaři předám PIN…</a:t>
            </a:r>
          </a:p>
        </p:txBody>
      </p:sp>
      <p:sp>
        <p:nvSpPr>
          <p:cNvPr id="148" name="Google Shape;148;p24"/>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dirty="0" smtClean="0"/>
              <a:t>…jsem pacient      …užívám léky</a:t>
            </a:r>
            <a:endParaRPr dirty="0"/>
          </a:p>
        </p:txBody>
      </p:sp>
      <p:sp>
        <p:nvSpPr>
          <p:cNvPr id="2" name="TextovéPole 1"/>
          <p:cNvSpPr txBox="1"/>
          <p:nvPr/>
        </p:nvSpPr>
        <p:spPr>
          <a:xfrm>
            <a:off x="1961965" y="2155506"/>
            <a:ext cx="8460420" cy="3770263"/>
          </a:xfrm>
          <a:prstGeom prst="rect">
            <a:avLst/>
          </a:prstGeom>
          <a:noFill/>
        </p:spPr>
        <p:txBody>
          <a:bodyPr wrap="square" rtlCol="0">
            <a:spAutoFit/>
          </a:bodyPr>
          <a:lstStyle/>
          <a:p>
            <a:r>
              <a:rPr lang="cs-CZ" sz="23900" b="1" dirty="0" smtClean="0"/>
              <a:t>1234</a:t>
            </a:r>
            <a:endParaRPr lang="cs-CZ" sz="23900" b="1" dirty="0"/>
          </a:p>
        </p:txBody>
      </p:sp>
    </p:spTree>
    <p:extLst>
      <p:ext uri="{BB962C8B-B14F-4D97-AF65-F5344CB8AC3E}">
        <p14:creationId xmlns:p14="http://schemas.microsoft.com/office/powerpoint/2010/main" val="425501868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82550" marR="0" lvl="0" indent="0" algn="l" rtl="0">
              <a:lnSpc>
                <a:spcPct val="90000"/>
              </a:lnSpc>
              <a:spcBef>
                <a:spcPts val="0"/>
              </a:spcBef>
              <a:spcAft>
                <a:spcPts val="0"/>
              </a:spcAft>
              <a:buSzPts val="2300"/>
            </a:pPr>
            <a:r>
              <a:rPr lang="cs-CZ" sz="2300" dirty="0" smtClean="0"/>
              <a:t>5) </a:t>
            </a:r>
            <a:r>
              <a:rPr lang="cs-CZ" sz="2300" dirty="0" smtClean="0"/>
              <a:t>Lékař dostává přehlednou tabulku</a:t>
            </a:r>
          </a:p>
          <a:p>
            <a:pPr marL="82550" marR="0" lvl="0" indent="0" algn="l" rtl="0">
              <a:lnSpc>
                <a:spcPct val="90000"/>
              </a:lnSpc>
              <a:spcBef>
                <a:spcPts val="0"/>
              </a:spcBef>
              <a:spcAft>
                <a:spcPts val="0"/>
              </a:spcAft>
              <a:buSzPts val="2300"/>
            </a:pPr>
            <a:r>
              <a:rPr lang="cs-CZ" sz="2300" dirty="0" smtClean="0"/>
              <a:t>…může ji editovat</a:t>
            </a:r>
          </a:p>
        </p:txBody>
      </p:sp>
      <p:sp>
        <p:nvSpPr>
          <p:cNvPr id="148" name="Google Shape;148;p24"/>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dirty="0" smtClean="0"/>
              <a:t>…jsem pacient      …užívám léky</a:t>
            </a:r>
            <a:endParaRPr dirty="0"/>
          </a:p>
        </p:txBody>
      </p:sp>
      <p:pic>
        <p:nvPicPr>
          <p:cNvPr id="2" name="Obrázek 1"/>
          <p:cNvPicPr>
            <a:picLocks noChangeAspect="1"/>
          </p:cNvPicPr>
          <p:nvPr/>
        </p:nvPicPr>
        <p:blipFill>
          <a:blip r:embed="rId3"/>
          <a:stretch>
            <a:fillRect/>
          </a:stretch>
        </p:blipFill>
        <p:spPr>
          <a:xfrm>
            <a:off x="488330" y="2961405"/>
            <a:ext cx="10759677" cy="2844693"/>
          </a:xfrm>
          <a:prstGeom prst="rect">
            <a:avLst/>
          </a:prstGeom>
        </p:spPr>
      </p:pic>
    </p:spTree>
    <p:extLst>
      <p:ext uri="{BB962C8B-B14F-4D97-AF65-F5344CB8AC3E}">
        <p14:creationId xmlns:p14="http://schemas.microsoft.com/office/powerpoint/2010/main" val="238164376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82550" marR="0" lvl="0" indent="0" algn="l" rtl="0">
              <a:lnSpc>
                <a:spcPct val="90000"/>
              </a:lnSpc>
              <a:spcBef>
                <a:spcPts val="0"/>
              </a:spcBef>
              <a:spcAft>
                <a:spcPts val="0"/>
              </a:spcAft>
              <a:buSzPts val="2300"/>
            </a:pPr>
            <a:r>
              <a:rPr lang="cs-CZ" sz="2300" dirty="0"/>
              <a:t>6</a:t>
            </a:r>
            <a:r>
              <a:rPr lang="cs-CZ" sz="2300" dirty="0" smtClean="0"/>
              <a:t>) </a:t>
            </a:r>
            <a:r>
              <a:rPr lang="cs-CZ" sz="2300" dirty="0" smtClean="0"/>
              <a:t>Lékař může při editaci vyžádat kontrolu interakcí…</a:t>
            </a:r>
          </a:p>
          <a:p>
            <a:pPr marL="82550" marR="0" lvl="0" indent="0" algn="l" rtl="0">
              <a:lnSpc>
                <a:spcPct val="90000"/>
              </a:lnSpc>
              <a:spcBef>
                <a:spcPts val="0"/>
              </a:spcBef>
              <a:spcAft>
                <a:spcPts val="0"/>
              </a:spcAft>
              <a:buSzPts val="2300"/>
            </a:pPr>
            <a:r>
              <a:rPr lang="cs-CZ" sz="2300" dirty="0" smtClean="0"/>
              <a:t>… včetně onkologické léčby</a:t>
            </a:r>
            <a:endParaRPr lang="cs-CZ" sz="2300" dirty="0" smtClean="0"/>
          </a:p>
        </p:txBody>
      </p:sp>
      <p:sp>
        <p:nvSpPr>
          <p:cNvPr id="148" name="Google Shape;148;p24"/>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dirty="0" smtClean="0"/>
              <a:t>…jsem pacient      …užívám léky</a:t>
            </a:r>
            <a:endParaRPr dirty="0"/>
          </a:p>
        </p:txBody>
      </p:sp>
      <p:pic>
        <p:nvPicPr>
          <p:cNvPr id="2" name="Obrázek 1"/>
          <p:cNvPicPr>
            <a:picLocks noChangeAspect="1"/>
          </p:cNvPicPr>
          <p:nvPr/>
        </p:nvPicPr>
        <p:blipFill>
          <a:blip r:embed="rId3"/>
          <a:stretch>
            <a:fillRect/>
          </a:stretch>
        </p:blipFill>
        <p:spPr>
          <a:xfrm>
            <a:off x="869420" y="2670676"/>
            <a:ext cx="9615107" cy="2545381"/>
          </a:xfrm>
          <a:prstGeom prst="rect">
            <a:avLst/>
          </a:prstGeom>
        </p:spPr>
      </p:pic>
      <p:sp>
        <p:nvSpPr>
          <p:cNvPr id="3" name="TextovéPole 2"/>
          <p:cNvSpPr txBox="1"/>
          <p:nvPr/>
        </p:nvSpPr>
        <p:spPr>
          <a:xfrm>
            <a:off x="869420" y="5442012"/>
            <a:ext cx="9721640" cy="307777"/>
          </a:xfrm>
          <a:prstGeom prst="rect">
            <a:avLst/>
          </a:prstGeom>
          <a:noFill/>
        </p:spPr>
        <p:txBody>
          <a:bodyPr wrap="square" rtlCol="0">
            <a:spAutoFit/>
          </a:bodyPr>
          <a:lstStyle/>
          <a:p>
            <a:r>
              <a:rPr lang="cs-CZ" b="1" dirty="0" smtClean="0">
                <a:latin typeface="Courier New" panose="02070309020205020404" pitchFamily="49" charset="0"/>
                <a:cs typeface="Courier New" panose="02070309020205020404" pitchFamily="49" charset="0"/>
              </a:rPr>
              <a:t>Upozornění – riziko interakcí mezi léčivými </a:t>
            </a:r>
            <a:r>
              <a:rPr lang="cs-CZ" b="1" dirty="0" err="1" smtClean="0">
                <a:latin typeface="Courier New" panose="02070309020205020404" pitchFamily="49" charset="0"/>
                <a:cs typeface="Courier New" panose="02070309020205020404" pitchFamily="49" charset="0"/>
              </a:rPr>
              <a:t>připravky</a:t>
            </a:r>
            <a:r>
              <a:rPr lang="cs-CZ" b="1" dirty="0" smtClean="0">
                <a:latin typeface="Courier New" panose="02070309020205020404" pitchFamily="49" charset="0"/>
                <a:cs typeface="Courier New" panose="02070309020205020404" pitchFamily="49" charset="0"/>
              </a:rPr>
              <a:t> …      … komentář…</a:t>
            </a:r>
            <a:endParaRPr lang="cs-CZ"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1236373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82550" marR="0" lvl="0" indent="0" algn="l" rtl="0">
              <a:lnSpc>
                <a:spcPct val="90000"/>
              </a:lnSpc>
              <a:spcBef>
                <a:spcPts val="0"/>
              </a:spcBef>
              <a:spcAft>
                <a:spcPts val="0"/>
              </a:spcAft>
              <a:buSzPts val="2300"/>
            </a:pPr>
            <a:r>
              <a:rPr lang="cs-CZ" sz="2300" dirty="0" smtClean="0"/>
              <a:t>7) </a:t>
            </a:r>
            <a:r>
              <a:rPr lang="cs-CZ" sz="2300" dirty="0" smtClean="0"/>
              <a:t>Lékař má výsledný seznam léků…</a:t>
            </a:r>
          </a:p>
          <a:p>
            <a:pPr marL="82550" marR="0" lvl="0" indent="0" algn="l" rtl="0">
              <a:lnSpc>
                <a:spcPct val="90000"/>
              </a:lnSpc>
              <a:spcBef>
                <a:spcPts val="0"/>
              </a:spcBef>
              <a:spcAft>
                <a:spcPts val="0"/>
              </a:spcAft>
              <a:buSzPts val="2300"/>
            </a:pPr>
            <a:r>
              <a:rPr lang="cs-CZ" sz="2300" dirty="0" smtClean="0"/>
              <a:t>… </a:t>
            </a:r>
            <a:r>
              <a:rPr lang="cs-CZ" sz="2300" dirty="0" err="1" smtClean="0"/>
              <a:t>Ctrl+C</a:t>
            </a:r>
            <a:r>
              <a:rPr lang="cs-CZ" sz="2300" dirty="0" smtClean="0"/>
              <a:t> …</a:t>
            </a:r>
            <a:r>
              <a:rPr lang="cs-CZ" sz="2300" dirty="0" err="1" smtClean="0"/>
              <a:t>Ctrl+V</a:t>
            </a:r>
            <a:endParaRPr lang="cs-CZ" sz="2300" dirty="0" smtClean="0"/>
          </a:p>
        </p:txBody>
      </p:sp>
      <p:sp>
        <p:nvSpPr>
          <p:cNvPr id="148" name="Google Shape;148;p24"/>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dirty="0" smtClean="0"/>
              <a:t>…jsem pacient      …užívám léky</a:t>
            </a:r>
            <a:endParaRPr dirty="0"/>
          </a:p>
        </p:txBody>
      </p:sp>
      <p:sp>
        <p:nvSpPr>
          <p:cNvPr id="2" name="TextovéPole 1"/>
          <p:cNvSpPr txBox="1"/>
          <p:nvPr/>
        </p:nvSpPr>
        <p:spPr>
          <a:xfrm>
            <a:off x="3533313" y="2317072"/>
            <a:ext cx="4527612" cy="2677656"/>
          </a:xfrm>
          <a:prstGeom prst="rect">
            <a:avLst/>
          </a:prstGeom>
          <a:noFill/>
        </p:spPr>
        <p:txBody>
          <a:bodyPr wrap="square" rtlCol="0">
            <a:spAutoFit/>
          </a:bodyPr>
          <a:lstStyle/>
          <a:p>
            <a:r>
              <a:rPr lang="cs-CZ" b="1" dirty="0">
                <a:latin typeface="Courier New" panose="02070309020205020404" pitchFamily="49" charset="0"/>
                <a:cs typeface="Courier New" panose="02070309020205020404" pitchFamily="49" charset="0"/>
              </a:rPr>
              <a:t>HELICID 20 </a:t>
            </a:r>
            <a:r>
              <a:rPr lang="cs-CZ" b="1" dirty="0" smtClean="0">
                <a:latin typeface="Courier New" panose="02070309020205020404" pitchFamily="49" charset="0"/>
                <a:cs typeface="Courier New" panose="02070309020205020404" pitchFamily="49" charset="0"/>
              </a:rPr>
              <a:t>ZENTIVA 20 </a:t>
            </a:r>
            <a:r>
              <a:rPr lang="cs-CZ" b="1" dirty="0">
                <a:latin typeface="Courier New" panose="02070309020205020404" pitchFamily="49" charset="0"/>
                <a:cs typeface="Courier New" panose="02070309020205020404" pitchFamily="49" charset="0"/>
              </a:rPr>
              <a:t>mg	</a:t>
            </a:r>
            <a:r>
              <a:rPr lang="cs-CZ" b="1" dirty="0" smtClean="0">
                <a:latin typeface="Courier New" panose="02070309020205020404" pitchFamily="49" charset="0"/>
                <a:cs typeface="Courier New" panose="02070309020205020404" pitchFamily="49" charset="0"/>
              </a:rPr>
              <a:t>	1-0-0</a:t>
            </a:r>
            <a:endParaRPr lang="cs-CZ" b="1" dirty="0">
              <a:latin typeface="Courier New" panose="02070309020205020404" pitchFamily="49" charset="0"/>
              <a:cs typeface="Courier New" panose="02070309020205020404" pitchFamily="49" charset="0"/>
            </a:endParaRPr>
          </a:p>
          <a:p>
            <a:r>
              <a:rPr lang="cs-CZ" b="1" dirty="0">
                <a:latin typeface="Courier New" panose="02070309020205020404" pitchFamily="49" charset="0"/>
                <a:cs typeface="Courier New" panose="02070309020205020404" pitchFamily="49" charset="0"/>
              </a:rPr>
              <a:t>HYDROCHLOROTHIAZID LÉČIVA	25 mg	1-0-0</a:t>
            </a:r>
          </a:p>
          <a:p>
            <a:r>
              <a:rPr lang="cs-CZ" b="1" dirty="0">
                <a:latin typeface="Courier New" panose="02070309020205020404" pitchFamily="49" charset="0"/>
                <a:cs typeface="Courier New" panose="02070309020205020404" pitchFamily="49" charset="0"/>
              </a:rPr>
              <a:t>HYDROCORTISONE </a:t>
            </a:r>
            <a:r>
              <a:rPr lang="cs-CZ" b="1" dirty="0" smtClean="0">
                <a:latin typeface="Courier New" panose="02070309020205020404" pitchFamily="49" charset="0"/>
                <a:cs typeface="Courier New" panose="02070309020205020404" pitchFamily="49" charset="0"/>
              </a:rPr>
              <a:t>QUINTESENCE 10 </a:t>
            </a:r>
            <a:r>
              <a:rPr lang="cs-CZ" b="1" dirty="0">
                <a:latin typeface="Courier New" panose="02070309020205020404" pitchFamily="49" charset="0"/>
                <a:cs typeface="Courier New" panose="02070309020205020404" pitchFamily="49" charset="0"/>
              </a:rPr>
              <a:t>mg	0-0-1</a:t>
            </a:r>
          </a:p>
          <a:p>
            <a:r>
              <a:rPr lang="cs-CZ" b="1" dirty="0">
                <a:latin typeface="Courier New" panose="02070309020205020404" pitchFamily="49" charset="0"/>
                <a:cs typeface="Courier New" panose="02070309020205020404" pitchFamily="49" charset="0"/>
              </a:rPr>
              <a:t>LOZAP </a:t>
            </a:r>
            <a:r>
              <a:rPr lang="cs-CZ" b="1" dirty="0" smtClean="0">
                <a:latin typeface="Courier New" panose="02070309020205020404" pitchFamily="49" charset="0"/>
                <a:cs typeface="Courier New" panose="02070309020205020404" pitchFamily="49" charset="0"/>
              </a:rPr>
              <a:t>50 </a:t>
            </a:r>
            <a:r>
              <a:rPr lang="cs-CZ" b="1" dirty="0">
                <a:latin typeface="Courier New" panose="02070309020205020404" pitchFamily="49" charset="0"/>
                <a:cs typeface="Courier New" panose="02070309020205020404" pitchFamily="49" charset="0"/>
              </a:rPr>
              <a:t>mg	</a:t>
            </a:r>
            <a:r>
              <a:rPr lang="cs-CZ" b="1" dirty="0" smtClean="0">
                <a:latin typeface="Courier New" panose="02070309020205020404" pitchFamily="49" charset="0"/>
                <a:cs typeface="Courier New" panose="02070309020205020404" pitchFamily="49" charset="0"/>
              </a:rPr>
              <a:t>		0-1-0</a:t>
            </a:r>
            <a:endParaRPr lang="cs-CZ" b="1" dirty="0">
              <a:latin typeface="Courier New" panose="02070309020205020404" pitchFamily="49" charset="0"/>
              <a:cs typeface="Courier New" panose="02070309020205020404" pitchFamily="49" charset="0"/>
            </a:endParaRPr>
          </a:p>
          <a:p>
            <a:r>
              <a:rPr lang="cs-CZ" b="1" dirty="0">
                <a:latin typeface="Courier New" panose="02070309020205020404" pitchFamily="49" charset="0"/>
                <a:cs typeface="Courier New" panose="02070309020205020404" pitchFamily="49" charset="0"/>
              </a:rPr>
              <a:t>LOZAP </a:t>
            </a:r>
            <a:r>
              <a:rPr lang="cs-CZ" b="1" dirty="0" smtClean="0">
                <a:latin typeface="Courier New" panose="02070309020205020404" pitchFamily="49" charset="0"/>
                <a:cs typeface="Courier New" panose="02070309020205020404" pitchFamily="49" charset="0"/>
              </a:rPr>
              <a:t>12,5 mg		</a:t>
            </a:r>
            <a:r>
              <a:rPr lang="cs-CZ" b="1" dirty="0">
                <a:latin typeface="Courier New" panose="02070309020205020404" pitchFamily="49" charset="0"/>
                <a:cs typeface="Courier New" panose="02070309020205020404" pitchFamily="49" charset="0"/>
              </a:rPr>
              <a:t>	0-2-3</a:t>
            </a:r>
          </a:p>
          <a:p>
            <a:r>
              <a:rPr lang="cs-CZ" b="1" dirty="0" smtClean="0">
                <a:latin typeface="Courier New" panose="02070309020205020404" pitchFamily="49" charset="0"/>
                <a:cs typeface="Courier New" panose="02070309020205020404" pitchFamily="49" charset="0"/>
              </a:rPr>
              <a:t>LIPERTANCE 10 </a:t>
            </a:r>
            <a:r>
              <a:rPr lang="cs-CZ" b="1" dirty="0">
                <a:latin typeface="Courier New" panose="02070309020205020404" pitchFamily="49" charset="0"/>
                <a:cs typeface="Courier New" panose="02070309020205020404" pitchFamily="49" charset="0"/>
              </a:rPr>
              <a:t>mg / 5 mg / 5 mg	1x</a:t>
            </a:r>
          </a:p>
          <a:p>
            <a:r>
              <a:rPr lang="cs-CZ" b="1" dirty="0" smtClean="0">
                <a:latin typeface="Courier New" panose="02070309020205020404" pitchFamily="49" charset="0"/>
                <a:cs typeface="Courier New" panose="02070309020205020404" pitchFamily="49" charset="0"/>
              </a:rPr>
              <a:t>LIPERTANCE 20 </a:t>
            </a:r>
            <a:r>
              <a:rPr lang="cs-CZ" b="1" dirty="0">
                <a:latin typeface="Courier New" panose="02070309020205020404" pitchFamily="49" charset="0"/>
                <a:cs typeface="Courier New" panose="02070309020205020404" pitchFamily="49" charset="0"/>
              </a:rPr>
              <a:t>mg / 10 mg / 5 mg	4x</a:t>
            </a:r>
          </a:p>
          <a:p>
            <a:r>
              <a:rPr lang="cs-CZ" b="1" dirty="0" smtClean="0">
                <a:latin typeface="Courier New" panose="02070309020205020404" pitchFamily="49" charset="0"/>
                <a:cs typeface="Courier New" panose="02070309020205020404" pitchFamily="49" charset="0"/>
              </a:rPr>
              <a:t>KEPPRA 500 mg		</a:t>
            </a:r>
            <a:r>
              <a:rPr lang="cs-CZ" b="1" dirty="0">
                <a:latin typeface="Courier New" panose="02070309020205020404" pitchFamily="49" charset="0"/>
                <a:cs typeface="Courier New" panose="02070309020205020404" pitchFamily="49" charset="0"/>
              </a:rPr>
              <a:t>	1-0-0</a:t>
            </a:r>
          </a:p>
          <a:p>
            <a:r>
              <a:rPr lang="cs-CZ" b="1" dirty="0">
                <a:latin typeface="Courier New" panose="02070309020205020404" pitchFamily="49" charset="0"/>
                <a:cs typeface="Courier New" panose="02070309020205020404" pitchFamily="49" charset="0"/>
              </a:rPr>
              <a:t>LOZAP </a:t>
            </a:r>
            <a:r>
              <a:rPr lang="cs-CZ" b="1" dirty="0" smtClean="0">
                <a:latin typeface="Courier New" panose="02070309020205020404" pitchFamily="49" charset="0"/>
                <a:cs typeface="Courier New" panose="02070309020205020404" pitchFamily="49" charset="0"/>
              </a:rPr>
              <a:t>100 </a:t>
            </a:r>
            <a:r>
              <a:rPr lang="cs-CZ" b="1" dirty="0">
                <a:latin typeface="Courier New" panose="02070309020205020404" pitchFamily="49" charset="0"/>
                <a:cs typeface="Courier New" panose="02070309020205020404" pitchFamily="49" charset="0"/>
              </a:rPr>
              <a:t>mg	</a:t>
            </a:r>
            <a:r>
              <a:rPr lang="cs-CZ" b="1" dirty="0" smtClean="0">
                <a:latin typeface="Courier New" panose="02070309020205020404" pitchFamily="49" charset="0"/>
                <a:cs typeface="Courier New" panose="02070309020205020404" pitchFamily="49" charset="0"/>
              </a:rPr>
              <a:t>		1-0-0</a:t>
            </a:r>
            <a:endParaRPr lang="cs-CZ" b="1" dirty="0">
              <a:latin typeface="Courier New" panose="02070309020205020404" pitchFamily="49" charset="0"/>
              <a:cs typeface="Courier New" panose="02070309020205020404" pitchFamily="49" charset="0"/>
            </a:endParaRPr>
          </a:p>
          <a:p>
            <a:r>
              <a:rPr lang="cs-CZ" b="1" dirty="0">
                <a:latin typeface="Courier New" panose="02070309020205020404" pitchFamily="49" charset="0"/>
                <a:cs typeface="Courier New" panose="02070309020205020404" pitchFamily="49" charset="0"/>
              </a:rPr>
              <a:t>KODEIN </a:t>
            </a:r>
            <a:r>
              <a:rPr lang="cs-CZ" b="1" dirty="0" smtClean="0">
                <a:latin typeface="Courier New" panose="02070309020205020404" pitchFamily="49" charset="0"/>
                <a:cs typeface="Courier New" panose="02070309020205020404" pitchFamily="49" charset="0"/>
              </a:rPr>
              <a:t>FMK 30 mg		</a:t>
            </a:r>
            <a:r>
              <a:rPr lang="cs-CZ" b="1" dirty="0">
                <a:latin typeface="Courier New" panose="02070309020205020404" pitchFamily="49" charset="0"/>
                <a:cs typeface="Courier New" panose="02070309020205020404" pitchFamily="49" charset="0"/>
              </a:rPr>
              <a:t>	0-0-1</a:t>
            </a:r>
          </a:p>
          <a:p>
            <a:r>
              <a:rPr lang="cs-CZ" b="1" dirty="0">
                <a:latin typeface="Courier New" panose="02070309020205020404" pitchFamily="49" charset="0"/>
                <a:cs typeface="Courier New" panose="02070309020205020404" pitchFamily="49" charset="0"/>
              </a:rPr>
              <a:t>KVENTIAX	25 mg	</a:t>
            </a:r>
            <a:r>
              <a:rPr lang="cs-CZ" b="1" dirty="0" smtClean="0">
                <a:latin typeface="Courier New" panose="02070309020205020404" pitchFamily="49" charset="0"/>
                <a:cs typeface="Courier New" panose="02070309020205020404" pitchFamily="49" charset="0"/>
              </a:rPr>
              <a:t>		0-1-0</a:t>
            </a:r>
            <a:endParaRPr lang="cs-CZ" b="1" dirty="0">
              <a:latin typeface="Courier New" panose="02070309020205020404" pitchFamily="49" charset="0"/>
              <a:cs typeface="Courier New" panose="02070309020205020404" pitchFamily="49" charset="0"/>
            </a:endParaRPr>
          </a:p>
          <a:p>
            <a:r>
              <a:rPr lang="cs-CZ" b="1" dirty="0">
                <a:latin typeface="Courier New" panose="02070309020205020404" pitchFamily="49" charset="0"/>
                <a:cs typeface="Courier New" panose="02070309020205020404" pitchFamily="49" charset="0"/>
              </a:rPr>
              <a:t>KETILEPT	100 mg	</a:t>
            </a:r>
            <a:r>
              <a:rPr lang="cs-CZ" b="1" dirty="0" smtClean="0">
                <a:latin typeface="Courier New" panose="02070309020205020404" pitchFamily="49" charset="0"/>
                <a:cs typeface="Courier New" panose="02070309020205020404" pitchFamily="49" charset="0"/>
              </a:rPr>
              <a:t>		0-2-3</a:t>
            </a:r>
            <a:endParaRPr lang="cs-CZ" b="1" dirty="0">
              <a:latin typeface="Courier New" panose="02070309020205020404" pitchFamily="49" charset="0"/>
              <a:cs typeface="Courier New" panose="02070309020205020404" pitchFamily="49" charset="0"/>
            </a:endParaRPr>
          </a:p>
        </p:txBody>
      </p:sp>
      <p:sp>
        <p:nvSpPr>
          <p:cNvPr id="5" name="TextovéPole 4"/>
          <p:cNvSpPr txBox="1"/>
          <p:nvPr/>
        </p:nvSpPr>
        <p:spPr>
          <a:xfrm>
            <a:off x="515764" y="5625462"/>
            <a:ext cx="11160619" cy="954107"/>
          </a:xfrm>
          <a:prstGeom prst="rect">
            <a:avLst/>
          </a:prstGeom>
          <a:noFill/>
        </p:spPr>
        <p:txBody>
          <a:bodyPr wrap="square" rtlCol="0">
            <a:spAutoFit/>
          </a:bodyPr>
          <a:lstStyle/>
          <a:p>
            <a:r>
              <a:rPr lang="cs-CZ" b="1" dirty="0">
                <a:latin typeface="Courier New" panose="02070309020205020404" pitchFamily="49" charset="0"/>
                <a:cs typeface="Courier New" panose="02070309020205020404" pitchFamily="49" charset="0"/>
              </a:rPr>
              <a:t>HELICID 20 </a:t>
            </a:r>
            <a:r>
              <a:rPr lang="cs-CZ" b="1" dirty="0" smtClean="0">
                <a:latin typeface="Courier New" panose="02070309020205020404" pitchFamily="49" charset="0"/>
                <a:cs typeface="Courier New" panose="02070309020205020404" pitchFamily="49" charset="0"/>
              </a:rPr>
              <a:t>ZENTIVA 20 mg 1-0-0, HYDROCHLOROTHIAZID </a:t>
            </a:r>
            <a:r>
              <a:rPr lang="cs-CZ" b="1" dirty="0">
                <a:latin typeface="Courier New" panose="02070309020205020404" pitchFamily="49" charset="0"/>
                <a:cs typeface="Courier New" panose="02070309020205020404" pitchFamily="49" charset="0"/>
              </a:rPr>
              <a:t>LÉČIVA	25 </a:t>
            </a:r>
            <a:r>
              <a:rPr lang="cs-CZ" b="1" dirty="0" smtClean="0">
                <a:latin typeface="Courier New" panose="02070309020205020404" pitchFamily="49" charset="0"/>
                <a:cs typeface="Courier New" panose="02070309020205020404" pitchFamily="49" charset="0"/>
              </a:rPr>
              <a:t>mg 1-0-0, HYDROCORTISONE QUINTESENCE 10 mg 0-0-1, LOZAP 50 mg 0-1-0, LOZAP 12,5 mg 0-2-3, LIPERTANCE 10 </a:t>
            </a:r>
            <a:r>
              <a:rPr lang="cs-CZ" b="1" dirty="0">
                <a:latin typeface="Courier New" panose="02070309020205020404" pitchFamily="49" charset="0"/>
                <a:cs typeface="Courier New" panose="02070309020205020404" pitchFamily="49" charset="0"/>
              </a:rPr>
              <a:t>mg / 5 mg / 5 </a:t>
            </a:r>
            <a:r>
              <a:rPr lang="cs-CZ" b="1" dirty="0" smtClean="0">
                <a:latin typeface="Courier New" panose="02070309020205020404" pitchFamily="49" charset="0"/>
                <a:cs typeface="Courier New" panose="02070309020205020404" pitchFamily="49" charset="0"/>
              </a:rPr>
              <a:t>mg 1x, LIPERTANCE 20 </a:t>
            </a:r>
            <a:r>
              <a:rPr lang="cs-CZ" b="1" dirty="0">
                <a:latin typeface="Courier New" panose="02070309020205020404" pitchFamily="49" charset="0"/>
                <a:cs typeface="Courier New" panose="02070309020205020404" pitchFamily="49" charset="0"/>
              </a:rPr>
              <a:t>mg / 10 mg / 5 </a:t>
            </a:r>
            <a:r>
              <a:rPr lang="cs-CZ" b="1" dirty="0" smtClean="0">
                <a:latin typeface="Courier New" panose="02070309020205020404" pitchFamily="49" charset="0"/>
                <a:cs typeface="Courier New" panose="02070309020205020404" pitchFamily="49" charset="0"/>
              </a:rPr>
              <a:t>mg 4x, KEPPRA 500 mg 1-0-0, LOZAP 100 mg 1-0-0, KODEIN FMK 30 mg 0-0-1, KVENTIAX 25 mg 0-1-0, KETILEPT</a:t>
            </a:r>
            <a:r>
              <a:rPr lang="cs-CZ" b="1" dirty="0">
                <a:latin typeface="Courier New" panose="02070309020205020404" pitchFamily="49" charset="0"/>
                <a:cs typeface="Courier New" panose="02070309020205020404" pitchFamily="49" charset="0"/>
              </a:rPr>
              <a:t>	100 </a:t>
            </a:r>
            <a:r>
              <a:rPr lang="cs-CZ" b="1" dirty="0" smtClean="0">
                <a:latin typeface="Courier New" panose="02070309020205020404" pitchFamily="49" charset="0"/>
                <a:cs typeface="Courier New" panose="02070309020205020404" pitchFamily="49" charset="0"/>
              </a:rPr>
              <a:t>mg 0-2-3</a:t>
            </a:r>
            <a:endParaRPr lang="cs-CZ"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141852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4"/>
          <p:cNvSpPr txBox="1">
            <a:spLocks noGrp="1"/>
          </p:cNvSpPr>
          <p:nvPr>
            <p:ph type="body" idx="1"/>
          </p:nvPr>
        </p:nvSpPr>
        <p:spPr>
          <a:xfrm>
            <a:off x="371475" y="1591588"/>
            <a:ext cx="11449200" cy="4898100"/>
          </a:xfrm>
          <a:prstGeom prst="rect">
            <a:avLst/>
          </a:prstGeom>
          <a:noFill/>
          <a:ln>
            <a:noFill/>
          </a:ln>
        </p:spPr>
        <p:txBody>
          <a:bodyPr spcFirstLastPara="1" wrap="square" lIns="0" tIns="0" rIns="0" bIns="0" anchor="t" anchorCtr="0">
            <a:noAutofit/>
          </a:bodyPr>
          <a:lstStyle/>
          <a:p>
            <a:pPr marL="82550" marR="0" lvl="0" indent="0" algn="l" rtl="0">
              <a:lnSpc>
                <a:spcPct val="90000"/>
              </a:lnSpc>
              <a:spcBef>
                <a:spcPts val="0"/>
              </a:spcBef>
              <a:spcAft>
                <a:spcPts val="0"/>
              </a:spcAft>
              <a:buSzPts val="2300"/>
            </a:pPr>
            <a:r>
              <a:rPr lang="cs-CZ" sz="2300" dirty="0" smtClean="0"/>
              <a:t>8) Možnost opakovaného využití…</a:t>
            </a:r>
          </a:p>
        </p:txBody>
      </p:sp>
      <p:sp>
        <p:nvSpPr>
          <p:cNvPr id="148" name="Google Shape;148;p24"/>
          <p:cNvSpPr txBox="1">
            <a:spLocks noGrp="1"/>
          </p:cNvSpPr>
          <p:nvPr>
            <p:ph type="body" idx="2"/>
          </p:nvPr>
        </p:nvSpPr>
        <p:spPr>
          <a:xfrm>
            <a:off x="371474" y="951249"/>
            <a:ext cx="11449200" cy="4587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chemeClr val="dk1"/>
              </a:buClr>
              <a:buSzPts val="3600"/>
              <a:buNone/>
            </a:pPr>
            <a:r>
              <a:rPr lang="cs-CZ" dirty="0" smtClean="0"/>
              <a:t>…jsem pacient      …užívám léky</a:t>
            </a:r>
            <a:endParaRPr dirty="0"/>
          </a:p>
        </p:txBody>
      </p:sp>
      <p:pic>
        <p:nvPicPr>
          <p:cNvPr id="2" name="Obrázek 1"/>
          <p:cNvPicPr>
            <a:picLocks noChangeAspect="1"/>
          </p:cNvPicPr>
          <p:nvPr/>
        </p:nvPicPr>
        <p:blipFill>
          <a:blip r:embed="rId3"/>
          <a:stretch>
            <a:fillRect/>
          </a:stretch>
        </p:blipFill>
        <p:spPr>
          <a:xfrm>
            <a:off x="3387042" y="1938687"/>
            <a:ext cx="4957969" cy="4845691"/>
          </a:xfrm>
          <a:prstGeom prst="rect">
            <a:avLst/>
          </a:prstGeom>
        </p:spPr>
      </p:pic>
    </p:spTree>
    <p:extLst>
      <p:ext uri="{BB962C8B-B14F-4D97-AF65-F5344CB8AC3E}">
        <p14:creationId xmlns:p14="http://schemas.microsoft.com/office/powerpoint/2010/main" val="382880361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6"/>
          <p:cNvSpPr txBox="1">
            <a:spLocks noGrp="1"/>
          </p:cNvSpPr>
          <p:nvPr>
            <p:ph type="body" idx="1"/>
          </p:nvPr>
        </p:nvSpPr>
        <p:spPr>
          <a:xfrm>
            <a:off x="4259263" y="320948"/>
            <a:ext cx="7740600" cy="1776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cs-CZ"/>
              <a:t>Rakathon 2026</a:t>
            </a:r>
            <a:endParaRPr/>
          </a:p>
          <a:p>
            <a:pPr marL="0" lvl="0" indent="0" algn="l" rtl="0">
              <a:spcBef>
                <a:spcPts val="0"/>
              </a:spcBef>
              <a:spcAft>
                <a:spcPts val="0"/>
              </a:spcAft>
              <a:buNone/>
            </a:pPr>
            <a:r>
              <a:rPr lang="cs-CZ"/>
              <a:t>Výzva PillGaze</a:t>
            </a:r>
            <a:endParaRPr/>
          </a:p>
        </p:txBody>
      </p:sp>
      <p:sp>
        <p:nvSpPr>
          <p:cNvPr id="89" name="Google Shape;89;p16"/>
          <p:cNvSpPr txBox="1">
            <a:spLocks noGrp="1"/>
          </p:cNvSpPr>
          <p:nvPr>
            <p:ph type="body" idx="2"/>
          </p:nvPr>
        </p:nvSpPr>
        <p:spPr>
          <a:xfrm>
            <a:off x="4259263" y="2457450"/>
            <a:ext cx="7740600" cy="1902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cs-CZ"/>
              <a:t>Martin Rusinko</a:t>
            </a:r>
            <a:endParaRPr/>
          </a:p>
        </p:txBody>
      </p:sp>
    </p:spTree>
    <p:extLst>
      <p:ext uri="{BB962C8B-B14F-4D97-AF65-F5344CB8AC3E}">
        <p14:creationId xmlns:p14="http://schemas.microsoft.com/office/powerpoint/2010/main" val="938046032"/>
      </p:ext>
    </p:extLst>
  </p:cSld>
  <p:clrMapOvr>
    <a:masterClrMapping/>
  </p:clrMapOvr>
  <p:timing>
    <p:tnLst>
      <p:par>
        <p:cTn id="1" dur="indefinite" restart="never" nodeType="tmRoot"/>
      </p:par>
    </p:tnLst>
  </p:timing>
</p:sld>
</file>

<file path=ppt/theme/theme1.xml><?xml version="1.0" encoding="utf-8"?>
<a:theme xmlns:a="http://schemas.openxmlformats.org/drawingml/2006/main" name="Úvodní slidy">
  <a:themeElements>
    <a:clrScheme name="MOÚ colors">
      <a:dk1>
        <a:srgbClr val="000000"/>
      </a:dk1>
      <a:lt1>
        <a:srgbClr val="FFFFFF"/>
      </a:lt1>
      <a:dk2>
        <a:srgbClr val="F04600"/>
      </a:dk2>
      <a:lt2>
        <a:srgbClr val="E7E6E6"/>
      </a:lt2>
      <a:accent1>
        <a:srgbClr val="007FC8"/>
      </a:accent1>
      <a:accent2>
        <a:srgbClr val="FFD600"/>
      </a:accent2>
      <a:accent3>
        <a:srgbClr val="008638"/>
      </a:accent3>
      <a:accent4>
        <a:srgbClr val="FBEEBC"/>
      </a:accent4>
      <a:accent5>
        <a:srgbClr val="E6007C"/>
      </a:accent5>
      <a:accent6>
        <a:srgbClr val="53C0D7"/>
      </a:accent6>
      <a:hlink>
        <a:srgbClr val="0028FF"/>
      </a:hlink>
      <a:folHlink>
        <a:srgbClr val="B438B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bsah">
  <a:themeElements>
    <a:clrScheme name="MOÚ colors">
      <a:dk1>
        <a:srgbClr val="000000"/>
      </a:dk1>
      <a:lt1>
        <a:srgbClr val="FFFFFF"/>
      </a:lt1>
      <a:dk2>
        <a:srgbClr val="F04600"/>
      </a:dk2>
      <a:lt2>
        <a:srgbClr val="E7E6E6"/>
      </a:lt2>
      <a:accent1>
        <a:srgbClr val="007FC8"/>
      </a:accent1>
      <a:accent2>
        <a:srgbClr val="FFD600"/>
      </a:accent2>
      <a:accent3>
        <a:srgbClr val="008638"/>
      </a:accent3>
      <a:accent4>
        <a:srgbClr val="FBEEBC"/>
      </a:accent4>
      <a:accent5>
        <a:srgbClr val="E6007C"/>
      </a:accent5>
      <a:accent6>
        <a:srgbClr val="53C0D7"/>
      </a:accent6>
      <a:hlink>
        <a:srgbClr val="0028FF"/>
      </a:hlink>
      <a:folHlink>
        <a:srgbClr val="B438B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96</TotalTime>
  <Words>1126</Words>
  <Application>Microsoft Office PowerPoint</Application>
  <PresentationFormat>Širokoúhlá obrazovka</PresentationFormat>
  <Paragraphs>93</Paragraphs>
  <Slides>18</Slides>
  <Notes>18</Notes>
  <HiddenSlides>0</HiddenSlides>
  <MMClips>0</MMClips>
  <ScaleCrop>false</ScaleCrop>
  <HeadingPairs>
    <vt:vector size="6" baseType="variant">
      <vt:variant>
        <vt:lpstr>Použitá písma</vt:lpstr>
      </vt:variant>
      <vt:variant>
        <vt:i4>2</vt:i4>
      </vt:variant>
      <vt:variant>
        <vt:lpstr>Motiv</vt:lpstr>
      </vt:variant>
      <vt:variant>
        <vt:i4>2</vt:i4>
      </vt:variant>
      <vt:variant>
        <vt:lpstr>Nadpisy snímků</vt:lpstr>
      </vt:variant>
      <vt:variant>
        <vt:i4>18</vt:i4>
      </vt:variant>
    </vt:vector>
  </HeadingPairs>
  <TitlesOfParts>
    <vt:vector size="22" baseType="lpstr">
      <vt:lpstr>Arial</vt:lpstr>
      <vt:lpstr>Courier New</vt:lpstr>
      <vt:lpstr>Úvodní slidy</vt:lpstr>
      <vt:lpstr>Obsah</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Prezentace aplikace PowerPoint</dc:title>
  <cp:lastModifiedBy>MUDr. Mgr. Martin Rusinko</cp:lastModifiedBy>
  <cp:revision>5</cp:revision>
  <dcterms:modified xsi:type="dcterms:W3CDTF">2026-10-15T06:26:15Z</dcterms:modified>
</cp:coreProperties>
</file>