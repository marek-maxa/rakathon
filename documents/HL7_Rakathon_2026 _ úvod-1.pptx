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66" r:id="rId14"/>
    <p:sldId id="267" r:id="rId15"/>
    <p:sldId id="275" r:id="rId16"/>
    <p:sldId id="278" r:id="rId17"/>
    <p:sldId id="279" r:id="rId18"/>
    <p:sldId id="276" r:id="rId19"/>
    <p:sldId id="268" r:id="rId20"/>
    <p:sldId id="269" r:id="rId21"/>
    <p:sldId id="270" r:id="rId22"/>
    <p:sldId id="271" r:id="rId23"/>
    <p:sldId id="281" r:id="rId24"/>
  </p:sldIdLst>
  <p:sldSz cx="12192000" cy="6858000"/>
  <p:notesSz cx="6858000" cy="9144000"/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7"/>
  </p:normalViewPr>
  <p:slideViewPr>
    <p:cSldViewPr snapToGrid="0">
      <p:cViewPr varScale="1">
        <p:scale>
          <a:sx n="157" d="100"/>
          <a:sy n="15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30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0 s.</a:t>
            </a:r>
          </a:p>
          <a:p>
            <a:endParaRPr dirty="0"/>
          </a:p>
          <a:p>
            <a:r>
              <a:rPr dirty="0"/>
              <a:t>HL7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zdravotnickým</a:t>
            </a:r>
            <a:r>
              <a:rPr dirty="0"/>
              <a:t> </a:t>
            </a:r>
            <a:r>
              <a:rPr dirty="0" err="1"/>
              <a:t>aplikacím</a:t>
            </a:r>
            <a:r>
              <a:rPr dirty="0"/>
              <a:t> </a:t>
            </a:r>
            <a:r>
              <a:rPr dirty="0" err="1"/>
              <a:t>předávat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tak</a:t>
            </a:r>
            <a:r>
              <a:rPr dirty="0"/>
              <a:t>, aby je </a:t>
            </a:r>
            <a:r>
              <a:rPr dirty="0" err="1"/>
              <a:t>příjemce</a:t>
            </a:r>
            <a:r>
              <a:rPr dirty="0"/>
              <a:t> </a:t>
            </a:r>
            <a:r>
              <a:rPr dirty="0" err="1"/>
              <a:t>mohl</a:t>
            </a:r>
            <a:r>
              <a:rPr dirty="0"/>
              <a:t> </a:t>
            </a:r>
            <a:r>
              <a:rPr dirty="0" err="1"/>
              <a:t>správně</a:t>
            </a:r>
            <a:r>
              <a:rPr dirty="0"/>
              <a:t> </a:t>
            </a:r>
            <a:r>
              <a:rPr dirty="0" err="1"/>
              <a:t>použít</a:t>
            </a:r>
            <a:r>
              <a:rPr dirty="0"/>
              <a:t>. </a:t>
            </a:r>
            <a:r>
              <a:rPr dirty="0" err="1"/>
              <a:t>Nejdříve</a:t>
            </a:r>
            <a:r>
              <a:rPr dirty="0"/>
              <a:t> </a:t>
            </a:r>
            <a:r>
              <a:rPr dirty="0" err="1"/>
              <a:t>představíme</a:t>
            </a:r>
            <a:r>
              <a:rPr dirty="0"/>
              <a:t> </a:t>
            </a:r>
            <a:r>
              <a:rPr dirty="0" err="1"/>
              <a:t>organizaci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</a:t>
            </a:r>
            <a:r>
              <a:rPr dirty="0" err="1"/>
              <a:t>tato</a:t>
            </a:r>
            <a:r>
              <a:rPr dirty="0"/>
              <a:t> </a:t>
            </a:r>
            <a:r>
              <a:rPr dirty="0" err="1"/>
              <a:t>pravidla</a:t>
            </a:r>
            <a:r>
              <a:rPr dirty="0"/>
              <a:t> </a:t>
            </a:r>
            <a:r>
              <a:rPr dirty="0" err="1"/>
              <a:t>vytváří</a:t>
            </a:r>
            <a:r>
              <a:rPr dirty="0"/>
              <a:t>, a </a:t>
            </a:r>
            <a:r>
              <a:rPr dirty="0" err="1"/>
              <a:t>vysvětlíme</a:t>
            </a:r>
            <a:r>
              <a:rPr dirty="0"/>
              <a:t> </a:t>
            </a:r>
            <a:r>
              <a:rPr dirty="0" err="1"/>
              <a:t>smysl</a:t>
            </a:r>
            <a:r>
              <a:rPr dirty="0"/>
              <a:t> </a:t>
            </a:r>
            <a:r>
              <a:rPr dirty="0" err="1"/>
              <a:t>jejích</a:t>
            </a:r>
            <a:r>
              <a:rPr dirty="0"/>
              <a:t> </a:t>
            </a:r>
            <a:r>
              <a:rPr dirty="0" err="1"/>
              <a:t>standardů</a:t>
            </a:r>
            <a:r>
              <a:rPr dirty="0"/>
              <a:t>. </a:t>
            </a:r>
            <a:r>
              <a:rPr dirty="0" err="1"/>
              <a:t>Potom</a:t>
            </a:r>
            <a:r>
              <a:rPr dirty="0"/>
              <a:t> se </a:t>
            </a:r>
            <a:r>
              <a:rPr dirty="0" err="1"/>
              <a:t>zaměříme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onkologii</a:t>
            </a:r>
            <a:r>
              <a:rPr dirty="0"/>
              <a:t> a </a:t>
            </a:r>
            <a:r>
              <a:rPr dirty="0" err="1"/>
              <a:t>dva</a:t>
            </a:r>
            <a:r>
              <a:rPr dirty="0"/>
              <a:t> </a:t>
            </a:r>
            <a:r>
              <a:rPr dirty="0" err="1"/>
              <a:t>užitečné</a:t>
            </a:r>
            <a:r>
              <a:rPr dirty="0"/>
              <a:t> </a:t>
            </a:r>
            <a:r>
              <a:rPr dirty="0" err="1"/>
              <a:t>zdroje</a:t>
            </a:r>
            <a:r>
              <a:rPr dirty="0"/>
              <a:t> pro </a:t>
            </a:r>
            <a:r>
              <a:rPr dirty="0" err="1"/>
              <a:t>soutěžní</a:t>
            </a:r>
            <a:r>
              <a:rPr dirty="0"/>
              <a:t> </a:t>
            </a:r>
            <a:r>
              <a:rPr dirty="0" err="1"/>
              <a:t>týmy</a:t>
            </a:r>
            <a:r>
              <a:rPr dirty="0"/>
              <a:t>: </a:t>
            </a:r>
            <a:r>
              <a:rPr dirty="0" err="1"/>
              <a:t>evropský</a:t>
            </a:r>
            <a:r>
              <a:rPr dirty="0"/>
              <a:t> Cancer Common a </a:t>
            </a:r>
            <a:r>
              <a:rPr dirty="0" err="1"/>
              <a:t>americkou</a:t>
            </a:r>
            <a:r>
              <a:rPr dirty="0"/>
              <a:t> </a:t>
            </a:r>
            <a:r>
              <a:rPr dirty="0" err="1"/>
              <a:t>příručku</a:t>
            </a:r>
            <a:r>
              <a:rPr dirty="0"/>
              <a:t> </a:t>
            </a:r>
            <a:r>
              <a:rPr dirty="0" err="1"/>
              <a:t>mCODE</a:t>
            </a:r>
            <a:r>
              <a:rPr dirty="0"/>
              <a:t>. </a:t>
            </a:r>
            <a:r>
              <a:rPr dirty="0" err="1"/>
              <a:t>Cílem</a:t>
            </a:r>
            <a:r>
              <a:rPr dirty="0"/>
              <a:t> je </a:t>
            </a:r>
            <a:r>
              <a:rPr dirty="0" err="1"/>
              <a:t>pochopit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účel</a:t>
            </a:r>
            <a:r>
              <a:rPr dirty="0"/>
              <a:t> a </a:t>
            </a:r>
            <a:r>
              <a:rPr dirty="0" err="1"/>
              <a:t>přínos</a:t>
            </a:r>
            <a:r>
              <a:rPr dirty="0"/>
              <a:t>, </a:t>
            </a:r>
            <a:r>
              <a:rPr dirty="0" err="1"/>
              <a:t>nikoli</a:t>
            </a:r>
            <a:r>
              <a:rPr dirty="0"/>
              <a:t> </a:t>
            </a:r>
            <a:r>
              <a:rPr dirty="0" err="1"/>
              <a:t>naučit</a:t>
            </a:r>
            <a:r>
              <a:rPr dirty="0"/>
              <a:t> se </a:t>
            </a:r>
            <a:r>
              <a:rPr dirty="0" err="1"/>
              <a:t>během</a:t>
            </a:r>
            <a:r>
              <a:rPr dirty="0"/>
              <a:t> </a:t>
            </a:r>
            <a:r>
              <a:rPr dirty="0" err="1"/>
              <a:t>dvaceti</a:t>
            </a:r>
            <a:r>
              <a:rPr dirty="0"/>
              <a:t> </a:t>
            </a:r>
            <a:r>
              <a:rPr dirty="0" err="1"/>
              <a:t>minut</a:t>
            </a:r>
            <a:r>
              <a:rPr dirty="0"/>
              <a:t> </a:t>
            </a:r>
            <a:r>
              <a:rPr dirty="0" err="1"/>
              <a:t>technickou</a:t>
            </a:r>
            <a:r>
              <a:rPr dirty="0"/>
              <a:t> </a:t>
            </a:r>
            <a:r>
              <a:rPr dirty="0" err="1"/>
              <a:t>implementaci</a:t>
            </a:r>
            <a:r>
              <a:rPr dirty="0"/>
              <a:t>. </a:t>
            </a:r>
            <a:r>
              <a:rPr dirty="0" err="1"/>
              <a:t>Výklad</a:t>
            </a:r>
            <a:r>
              <a:rPr dirty="0"/>
              <a:t> </a:t>
            </a:r>
            <a:r>
              <a:rPr dirty="0" err="1"/>
              <a:t>nevyžaduje</a:t>
            </a:r>
            <a:r>
              <a:rPr dirty="0"/>
              <a:t> </a:t>
            </a:r>
            <a:r>
              <a:rPr dirty="0" err="1"/>
              <a:t>předchozí</a:t>
            </a:r>
            <a:r>
              <a:rPr dirty="0"/>
              <a:t> </a:t>
            </a:r>
            <a:r>
              <a:rPr dirty="0" err="1"/>
              <a:t>znalost</a:t>
            </a:r>
            <a:r>
              <a:rPr dirty="0"/>
              <a:t> </a:t>
            </a:r>
            <a:r>
              <a:rPr dirty="0" err="1"/>
              <a:t>zdravotnických</a:t>
            </a:r>
            <a:r>
              <a:rPr dirty="0"/>
              <a:t> </a:t>
            </a:r>
            <a:r>
              <a:rPr dirty="0" err="1"/>
              <a:t>datových</a:t>
            </a:r>
            <a:r>
              <a:rPr dirty="0"/>
              <a:t> </a:t>
            </a:r>
            <a:r>
              <a:rPr dirty="0" err="1"/>
              <a:t>standardů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Bílé</a:t>
            </a:r>
            <a:r>
              <a:rPr dirty="0"/>
              <a:t> </a:t>
            </a:r>
            <a:r>
              <a:rPr dirty="0" err="1"/>
              <a:t>pozadí</a:t>
            </a:r>
            <a:r>
              <a:rPr dirty="0"/>
              <a:t>, </a:t>
            </a:r>
            <a:r>
              <a:rPr dirty="0" err="1"/>
              <a:t>barvy</a:t>
            </a:r>
            <a:r>
              <a:rPr dirty="0"/>
              <a:t> #ec2227 a #010101 a </a:t>
            </a:r>
            <a:r>
              <a:rPr dirty="0" err="1"/>
              <a:t>úplné</a:t>
            </a:r>
            <a:r>
              <a:rPr dirty="0"/>
              <a:t> logo </a:t>
            </a:r>
            <a:r>
              <a:rPr dirty="0" err="1"/>
              <a:t>podle</a:t>
            </a:r>
            <a:r>
              <a:rPr dirty="0"/>
              <a:t> </a:t>
            </a:r>
            <a:r>
              <a:rPr dirty="0" err="1"/>
              <a:t>dodaného</a:t>
            </a:r>
            <a:r>
              <a:rPr dirty="0"/>
              <a:t> HL7 Style Guide External_v0521.pdf.</a:t>
            </a:r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https://dev3.hl7.org/about/</a:t>
            </a:r>
            <a:r>
              <a:rPr dirty="0" err="1"/>
              <a:t>index.cfm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30 s.</a:t>
            </a:r>
          </a:p>
          <a:p>
            <a:endParaRPr dirty="0"/>
          </a:p>
          <a:p>
            <a:r>
              <a:rPr dirty="0"/>
              <a:t>HL7 International je </a:t>
            </a:r>
            <a:r>
              <a:rPr dirty="0" err="1"/>
              <a:t>nezisková</a:t>
            </a:r>
            <a:r>
              <a:rPr dirty="0"/>
              <a:t> </a:t>
            </a:r>
            <a:r>
              <a:rPr dirty="0" err="1"/>
              <a:t>standardizační</a:t>
            </a:r>
            <a:r>
              <a:rPr dirty="0"/>
              <a:t> </a:t>
            </a:r>
            <a:r>
              <a:rPr dirty="0" err="1"/>
              <a:t>organizace</a:t>
            </a:r>
            <a:r>
              <a:rPr dirty="0"/>
              <a:t> </a:t>
            </a:r>
            <a:r>
              <a:rPr dirty="0" err="1"/>
              <a:t>založená</a:t>
            </a:r>
            <a:r>
              <a:rPr dirty="0"/>
              <a:t> v </a:t>
            </a:r>
            <a:r>
              <a:rPr dirty="0" err="1"/>
              <a:t>roce</a:t>
            </a:r>
            <a:r>
              <a:rPr dirty="0"/>
              <a:t> 1987. </a:t>
            </a:r>
            <a:r>
              <a:rPr dirty="0" err="1"/>
              <a:t>Sdružuje</a:t>
            </a:r>
            <a:r>
              <a:rPr dirty="0"/>
              <a:t> </a:t>
            </a:r>
            <a:r>
              <a:rPr dirty="0" err="1"/>
              <a:t>odborníky</a:t>
            </a:r>
            <a:r>
              <a:rPr dirty="0"/>
              <a:t> z </a:t>
            </a:r>
            <a:r>
              <a:rPr dirty="0" err="1"/>
              <a:t>různých</a:t>
            </a:r>
            <a:r>
              <a:rPr dirty="0"/>
              <a:t> </a:t>
            </a:r>
            <a:r>
              <a:rPr dirty="0" err="1"/>
              <a:t>částí</a:t>
            </a:r>
            <a:r>
              <a:rPr dirty="0"/>
              <a:t> </a:t>
            </a:r>
            <a:r>
              <a:rPr dirty="0" err="1"/>
              <a:t>zdravotnictví</a:t>
            </a:r>
            <a:r>
              <a:rPr dirty="0"/>
              <a:t>. Klinici </a:t>
            </a:r>
            <a:r>
              <a:rPr dirty="0" err="1"/>
              <a:t>přinášejí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 a </a:t>
            </a:r>
            <a:r>
              <a:rPr dirty="0" err="1"/>
              <a:t>požadavky</a:t>
            </a:r>
            <a:r>
              <a:rPr dirty="0"/>
              <a:t> </a:t>
            </a:r>
            <a:r>
              <a:rPr dirty="0" err="1"/>
              <a:t>péče</a:t>
            </a:r>
            <a:r>
              <a:rPr dirty="0"/>
              <a:t>, </a:t>
            </a:r>
            <a:r>
              <a:rPr dirty="0" err="1"/>
              <a:t>informatici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vyjádření</a:t>
            </a:r>
            <a:r>
              <a:rPr dirty="0"/>
              <a:t> a </a:t>
            </a:r>
            <a:r>
              <a:rPr dirty="0" err="1"/>
              <a:t>dodavatelé</a:t>
            </a:r>
            <a:r>
              <a:rPr dirty="0"/>
              <a:t> </a:t>
            </a:r>
            <a:r>
              <a:rPr dirty="0" err="1"/>
              <a:t>zkušenosti</a:t>
            </a:r>
            <a:r>
              <a:rPr dirty="0"/>
              <a:t> s </a:t>
            </a:r>
            <a:r>
              <a:rPr dirty="0" err="1"/>
              <a:t>implementací</a:t>
            </a:r>
            <a:r>
              <a:rPr dirty="0"/>
              <a:t>. Standardy </a:t>
            </a:r>
            <a:r>
              <a:rPr dirty="0" err="1"/>
              <a:t>vznikají</a:t>
            </a:r>
            <a:r>
              <a:rPr dirty="0"/>
              <a:t> </a:t>
            </a:r>
            <a:r>
              <a:rPr dirty="0" err="1"/>
              <a:t>společnou</a:t>
            </a:r>
            <a:r>
              <a:rPr dirty="0"/>
              <a:t> </a:t>
            </a:r>
            <a:r>
              <a:rPr dirty="0" err="1"/>
              <a:t>prací</a:t>
            </a:r>
            <a:r>
              <a:rPr dirty="0"/>
              <a:t>, </a:t>
            </a:r>
            <a:r>
              <a:rPr dirty="0" err="1"/>
              <a:t>připomínkami</a:t>
            </a:r>
            <a:r>
              <a:rPr dirty="0"/>
              <a:t> a </a:t>
            </a:r>
            <a:r>
              <a:rPr dirty="0" err="1"/>
              <a:t>hlasováním</a:t>
            </a:r>
            <a:r>
              <a:rPr dirty="0"/>
              <a:t>. HL7 Europe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sladit</a:t>
            </a:r>
            <a:r>
              <a:rPr dirty="0"/>
              <a:t> </a:t>
            </a:r>
            <a:r>
              <a:rPr dirty="0" err="1"/>
              <a:t>evropský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 a HL7 </a:t>
            </a:r>
            <a:r>
              <a:rPr dirty="0" err="1"/>
              <a:t>Česká</a:t>
            </a:r>
            <a:r>
              <a:rPr dirty="0"/>
              <a:t> </a:t>
            </a:r>
            <a:r>
              <a:rPr dirty="0" err="1"/>
              <a:t>republika</a:t>
            </a:r>
            <a:r>
              <a:rPr dirty="0"/>
              <a:t> </a:t>
            </a:r>
            <a:r>
              <a:rPr dirty="0" err="1"/>
              <a:t>národní</a:t>
            </a:r>
            <a:r>
              <a:rPr dirty="0"/>
              <a:t> </a:t>
            </a:r>
            <a:r>
              <a:rPr dirty="0" err="1"/>
              <a:t>požadavky</a:t>
            </a:r>
            <a:r>
              <a:rPr dirty="0"/>
              <a:t>. Pro </a:t>
            </a:r>
            <a:r>
              <a:rPr dirty="0" err="1"/>
              <a:t>začínající</a:t>
            </a:r>
            <a:r>
              <a:rPr dirty="0"/>
              <a:t> </a:t>
            </a:r>
            <a:r>
              <a:rPr dirty="0" err="1"/>
              <a:t>tým</a:t>
            </a:r>
            <a:r>
              <a:rPr dirty="0"/>
              <a:t> je </a:t>
            </a:r>
            <a:r>
              <a:rPr dirty="0" err="1"/>
              <a:t>důležité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existují</a:t>
            </a:r>
            <a:r>
              <a:rPr dirty="0"/>
              <a:t> </a:t>
            </a:r>
            <a:r>
              <a:rPr dirty="0" err="1"/>
              <a:t>veřejně</a:t>
            </a:r>
            <a:r>
              <a:rPr dirty="0"/>
              <a:t> </a:t>
            </a:r>
            <a:r>
              <a:rPr dirty="0" err="1"/>
              <a:t>dostupné</a:t>
            </a:r>
            <a:r>
              <a:rPr dirty="0"/>
              <a:t> </a:t>
            </a:r>
            <a:r>
              <a:rPr dirty="0" err="1"/>
              <a:t>podklady</a:t>
            </a:r>
            <a:r>
              <a:rPr dirty="0"/>
              <a:t>, ze </a:t>
            </a:r>
            <a:r>
              <a:rPr dirty="0" err="1"/>
              <a:t>kterých</a:t>
            </a:r>
            <a:r>
              <a:rPr dirty="0"/>
              <a:t> </a:t>
            </a:r>
            <a:r>
              <a:rPr dirty="0" err="1"/>
              <a:t>může</a:t>
            </a:r>
            <a:r>
              <a:rPr dirty="0"/>
              <a:t> </a:t>
            </a:r>
            <a:r>
              <a:rPr dirty="0" err="1"/>
              <a:t>vycházet</a:t>
            </a:r>
            <a:r>
              <a:rPr dirty="0"/>
              <a:t>. </a:t>
            </a:r>
            <a:r>
              <a:rPr dirty="0" err="1"/>
              <a:t>Interoperabilita</a:t>
            </a:r>
            <a:r>
              <a:rPr dirty="0"/>
              <a:t> </a:t>
            </a:r>
            <a:r>
              <a:rPr dirty="0" err="1"/>
              <a:t>znamená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různé</a:t>
            </a:r>
            <a:r>
              <a:rPr dirty="0"/>
              <a:t> </a:t>
            </a:r>
            <a:r>
              <a:rPr dirty="0" err="1"/>
              <a:t>systémy</a:t>
            </a:r>
            <a:r>
              <a:rPr dirty="0"/>
              <a:t> </a:t>
            </a:r>
            <a:r>
              <a:rPr dirty="0" err="1"/>
              <a:t>dokážou</a:t>
            </a:r>
            <a:r>
              <a:rPr dirty="0"/>
              <a:t> </a:t>
            </a:r>
            <a:r>
              <a:rPr dirty="0" err="1"/>
              <a:t>spolupracovat</a:t>
            </a:r>
            <a:r>
              <a:rPr dirty="0"/>
              <a:t> a </a:t>
            </a:r>
            <a:r>
              <a:rPr dirty="0" err="1"/>
              <a:t>správně</a:t>
            </a:r>
            <a:r>
              <a:rPr dirty="0"/>
              <a:t> </a:t>
            </a:r>
            <a:r>
              <a:rPr dirty="0" err="1"/>
              <a:t>používat</a:t>
            </a:r>
            <a:r>
              <a:rPr dirty="0"/>
              <a:t> </a:t>
            </a:r>
            <a:r>
              <a:rPr dirty="0" err="1"/>
              <a:t>předané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https://dev3.hl7.org/about/</a:t>
            </a:r>
            <a:r>
              <a:rPr dirty="0" err="1"/>
              <a:t>index.cfm</a:t>
            </a:r>
            <a:endParaRPr dirty="0"/>
          </a:p>
          <a:p>
            <a:r>
              <a:rPr dirty="0"/>
              <a:t>https://info.hl7.org/learn-more</a:t>
            </a:r>
          </a:p>
          <a:p>
            <a:r>
              <a:rPr dirty="0"/>
              <a:t>https://hl7news.hl7.org/2026/01/02/new-hl7-europe-fhir-implementation-guides-to-support-the-european-health-data-space/</a:t>
            </a:r>
          </a:p>
          <a:p>
            <a:r>
              <a:rPr dirty="0"/>
              <a:t>https://hl7.cz/</a:t>
            </a:r>
            <a:r>
              <a:rPr dirty="0" err="1"/>
              <a:t>fhir</a:t>
            </a:r>
            <a:r>
              <a:rPr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60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105 s.</a:t>
            </a:r>
          </a:p>
          <a:p>
            <a:endParaRPr dirty="0"/>
          </a:p>
          <a:p>
            <a:r>
              <a:rPr dirty="0"/>
              <a:t>Zkratku </a:t>
            </a:r>
            <a:r>
              <a:rPr dirty="0" err="1"/>
              <a:t>můžeme</a:t>
            </a:r>
            <a:r>
              <a:rPr dirty="0"/>
              <a:t> </a:t>
            </a:r>
            <a:r>
              <a:rPr dirty="0" err="1"/>
              <a:t>rozložit</a:t>
            </a:r>
            <a:r>
              <a:rPr dirty="0"/>
              <a:t> </a:t>
            </a:r>
            <a:r>
              <a:rPr dirty="0" err="1"/>
              <a:t>jednoduše</a:t>
            </a:r>
            <a:r>
              <a:rPr dirty="0"/>
              <a:t>. Health </a:t>
            </a:r>
            <a:r>
              <a:rPr dirty="0" err="1"/>
              <a:t>označuje</a:t>
            </a:r>
            <a:r>
              <a:rPr dirty="0"/>
              <a:t> </a:t>
            </a:r>
            <a:r>
              <a:rPr dirty="0" err="1"/>
              <a:t>zdravotnictví</a:t>
            </a:r>
            <a:r>
              <a:rPr dirty="0"/>
              <a:t>. Level Seven </a:t>
            </a:r>
            <a:r>
              <a:rPr dirty="0" err="1"/>
              <a:t>odkazuje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sedmou</a:t>
            </a:r>
            <a:r>
              <a:rPr dirty="0"/>
              <a:t> </a:t>
            </a:r>
            <a:r>
              <a:rPr dirty="0" err="1"/>
              <a:t>vrstvu</a:t>
            </a:r>
            <a:r>
              <a:rPr dirty="0"/>
              <a:t> </a:t>
            </a:r>
            <a:r>
              <a:rPr dirty="0" err="1"/>
              <a:t>komunikačního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 ISO/OSI,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aplikační</a:t>
            </a:r>
            <a:r>
              <a:rPr dirty="0"/>
              <a:t> </a:t>
            </a:r>
            <a:r>
              <a:rPr dirty="0" err="1"/>
              <a:t>vrstvu</a:t>
            </a:r>
            <a:r>
              <a:rPr dirty="0"/>
              <a:t>. Není </a:t>
            </a:r>
            <a:r>
              <a:rPr dirty="0" err="1"/>
              <a:t>třeba</a:t>
            </a:r>
            <a:r>
              <a:rPr dirty="0"/>
              <a:t> </a:t>
            </a:r>
            <a:r>
              <a:rPr dirty="0" err="1"/>
              <a:t>znát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síťový</a:t>
            </a:r>
            <a:r>
              <a:rPr dirty="0"/>
              <a:t> model. </a:t>
            </a:r>
            <a:r>
              <a:rPr dirty="0" err="1"/>
              <a:t>Podstatné</a:t>
            </a:r>
            <a:r>
              <a:rPr dirty="0"/>
              <a:t> je, </a:t>
            </a:r>
            <a:r>
              <a:rPr dirty="0" err="1"/>
              <a:t>že</a:t>
            </a:r>
            <a:r>
              <a:rPr dirty="0"/>
              <a:t> se </a:t>
            </a:r>
            <a:r>
              <a:rPr dirty="0" err="1"/>
              <a:t>zabýváme</a:t>
            </a:r>
            <a:r>
              <a:rPr dirty="0"/>
              <a:t> </a:t>
            </a:r>
            <a:r>
              <a:rPr dirty="0" err="1"/>
              <a:t>obsahem</a:t>
            </a:r>
            <a:r>
              <a:rPr dirty="0"/>
              <a:t> </a:t>
            </a:r>
            <a:r>
              <a:rPr dirty="0" err="1"/>
              <a:t>komunikace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aplikacemi</a:t>
            </a:r>
            <a:r>
              <a:rPr dirty="0"/>
              <a:t>: </a:t>
            </a:r>
            <a:r>
              <a:rPr dirty="0" err="1"/>
              <a:t>kdo</a:t>
            </a:r>
            <a:r>
              <a:rPr dirty="0"/>
              <a:t> je </a:t>
            </a:r>
            <a:r>
              <a:rPr dirty="0" err="1"/>
              <a:t>pacient</a:t>
            </a:r>
            <a:r>
              <a:rPr dirty="0"/>
              <a:t>, co </a:t>
            </a:r>
            <a:r>
              <a:rPr dirty="0" err="1"/>
              <a:t>znamená</a:t>
            </a:r>
            <a:r>
              <a:rPr dirty="0"/>
              <a:t> </a:t>
            </a:r>
            <a:r>
              <a:rPr dirty="0" err="1"/>
              <a:t>údaj</a:t>
            </a:r>
            <a:r>
              <a:rPr dirty="0"/>
              <a:t> a jak se </a:t>
            </a:r>
            <a:r>
              <a:rPr dirty="0" err="1"/>
              <a:t>předává</a:t>
            </a:r>
            <a:r>
              <a:rPr dirty="0"/>
              <a:t>. </a:t>
            </a:r>
            <a:r>
              <a:rPr dirty="0" err="1"/>
              <a:t>Název</a:t>
            </a:r>
            <a:r>
              <a:rPr dirty="0"/>
              <a:t> International </a:t>
            </a:r>
            <a:r>
              <a:rPr dirty="0" err="1"/>
              <a:t>připomíná</a:t>
            </a:r>
            <a:r>
              <a:rPr dirty="0"/>
              <a:t> </a:t>
            </a:r>
            <a:r>
              <a:rPr dirty="0" err="1"/>
              <a:t>mezinárodní</a:t>
            </a:r>
            <a:r>
              <a:rPr dirty="0"/>
              <a:t> </a:t>
            </a:r>
            <a:r>
              <a:rPr dirty="0" err="1"/>
              <a:t>charakter</a:t>
            </a:r>
            <a:r>
              <a:rPr dirty="0"/>
              <a:t> </a:t>
            </a:r>
            <a:r>
              <a:rPr dirty="0" err="1"/>
              <a:t>organizace</a:t>
            </a:r>
            <a:r>
              <a:rPr dirty="0"/>
              <a:t>. </a:t>
            </a:r>
            <a:r>
              <a:rPr dirty="0" err="1"/>
              <a:t>Když</a:t>
            </a:r>
            <a:r>
              <a:rPr dirty="0"/>
              <a:t> v </a:t>
            </a:r>
            <a:r>
              <a:rPr dirty="0" err="1"/>
              <a:t>projektu</a:t>
            </a:r>
            <a:r>
              <a:rPr dirty="0"/>
              <a:t> </a:t>
            </a:r>
            <a:r>
              <a:rPr dirty="0" err="1"/>
              <a:t>zazní</a:t>
            </a:r>
            <a:r>
              <a:rPr dirty="0"/>
              <a:t> </a:t>
            </a:r>
            <a:r>
              <a:rPr dirty="0" err="1"/>
              <a:t>podporujeme</a:t>
            </a:r>
            <a:r>
              <a:rPr dirty="0"/>
              <a:t> HL7, je </a:t>
            </a:r>
            <a:r>
              <a:rPr dirty="0" err="1"/>
              <a:t>vhodné</a:t>
            </a:r>
            <a:r>
              <a:rPr dirty="0"/>
              <a:t> </a:t>
            </a:r>
            <a:r>
              <a:rPr dirty="0" err="1"/>
              <a:t>zjistit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standard. Pod </a:t>
            </a:r>
            <a:r>
              <a:rPr dirty="0" err="1"/>
              <a:t>značkou</a:t>
            </a:r>
            <a:r>
              <a:rPr dirty="0"/>
              <a:t> HL7 </a:t>
            </a:r>
            <a:r>
              <a:rPr dirty="0" err="1"/>
              <a:t>totiž</a:t>
            </a:r>
            <a:r>
              <a:rPr dirty="0"/>
              <a:t> </a:t>
            </a:r>
            <a:r>
              <a:rPr dirty="0" err="1"/>
              <a:t>existuje</a:t>
            </a:r>
            <a:r>
              <a:rPr dirty="0"/>
              <a:t> </a:t>
            </a:r>
            <a:r>
              <a:rPr dirty="0" err="1"/>
              <a:t>více</a:t>
            </a:r>
            <a:r>
              <a:rPr dirty="0"/>
              <a:t> </a:t>
            </a:r>
            <a:r>
              <a:rPr dirty="0" err="1"/>
              <a:t>způsobů</a:t>
            </a:r>
            <a:r>
              <a:rPr dirty="0"/>
              <a:t> </a:t>
            </a:r>
            <a:r>
              <a:rPr dirty="0" err="1"/>
              <a:t>výměny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Organizace</a:t>
            </a:r>
            <a:r>
              <a:rPr dirty="0"/>
              <a:t> HL7 a </a:t>
            </a:r>
            <a:r>
              <a:rPr dirty="0" err="1"/>
              <a:t>její</a:t>
            </a:r>
            <a:r>
              <a:rPr dirty="0"/>
              <a:t> </a:t>
            </a:r>
            <a:r>
              <a:rPr dirty="0" err="1"/>
              <a:t>standardy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související</a:t>
            </a:r>
            <a:r>
              <a:rPr dirty="0"/>
              <a:t>, ale </a:t>
            </a:r>
            <a:r>
              <a:rPr dirty="0" err="1"/>
              <a:t>rozdílné</a:t>
            </a:r>
            <a:r>
              <a:rPr dirty="0"/>
              <a:t> </a:t>
            </a:r>
            <a:r>
              <a:rPr dirty="0" err="1"/>
              <a:t>pojmy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https://dev3.hl7.org/about/</a:t>
            </a:r>
            <a:r>
              <a:rPr dirty="0" err="1"/>
              <a:t>index.cfm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165 s.</a:t>
            </a:r>
          </a:p>
          <a:p>
            <a:endParaRPr dirty="0"/>
          </a:p>
          <a:p>
            <a:r>
              <a:rPr dirty="0"/>
              <a:t>Standard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představme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</a:t>
            </a:r>
            <a:r>
              <a:rPr dirty="0" err="1"/>
              <a:t>dohodu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aplikacemi</a:t>
            </a:r>
            <a:r>
              <a:rPr dirty="0"/>
              <a:t>. </a:t>
            </a:r>
            <a:r>
              <a:rPr dirty="0" err="1"/>
              <a:t>Nestačí</a:t>
            </a:r>
            <a:r>
              <a:rPr dirty="0"/>
              <a:t> </a:t>
            </a:r>
            <a:r>
              <a:rPr dirty="0" err="1"/>
              <a:t>poslat</a:t>
            </a:r>
            <a:r>
              <a:rPr dirty="0"/>
              <a:t> </a:t>
            </a:r>
            <a:r>
              <a:rPr dirty="0" err="1"/>
              <a:t>soubor</a:t>
            </a:r>
            <a:r>
              <a:rPr dirty="0"/>
              <a:t> a </a:t>
            </a:r>
            <a:r>
              <a:rPr dirty="0" err="1"/>
              <a:t>doufat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druhá</a:t>
            </a:r>
            <a:r>
              <a:rPr dirty="0"/>
              <a:t> </a:t>
            </a:r>
            <a:r>
              <a:rPr dirty="0" err="1"/>
              <a:t>strana</a:t>
            </a:r>
            <a:r>
              <a:rPr dirty="0"/>
              <a:t> </a:t>
            </a:r>
            <a:r>
              <a:rPr dirty="0" err="1"/>
              <a:t>pozná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položek</a:t>
            </a:r>
            <a:r>
              <a:rPr dirty="0"/>
              <a:t>. Číslo </a:t>
            </a:r>
            <a:r>
              <a:rPr dirty="0" err="1"/>
              <a:t>může</a:t>
            </a:r>
            <a:r>
              <a:rPr dirty="0"/>
              <a:t> </a:t>
            </a:r>
            <a:r>
              <a:rPr dirty="0" err="1"/>
              <a:t>být</a:t>
            </a:r>
            <a:r>
              <a:rPr dirty="0"/>
              <a:t> </a:t>
            </a:r>
            <a:r>
              <a:rPr dirty="0" err="1"/>
              <a:t>výsledek</a:t>
            </a:r>
            <a:r>
              <a:rPr dirty="0"/>
              <a:t> </a:t>
            </a:r>
            <a:r>
              <a:rPr dirty="0" err="1"/>
              <a:t>testu</a:t>
            </a:r>
            <a:r>
              <a:rPr dirty="0"/>
              <a:t>, </a:t>
            </a:r>
            <a:r>
              <a:rPr dirty="0" err="1"/>
              <a:t>dávka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hodnocení</a:t>
            </a:r>
            <a:r>
              <a:rPr dirty="0"/>
              <a:t> </a:t>
            </a:r>
            <a:r>
              <a:rPr dirty="0" err="1"/>
              <a:t>stavu</a:t>
            </a:r>
            <a:r>
              <a:rPr dirty="0"/>
              <a:t>. </a:t>
            </a:r>
            <a:r>
              <a:rPr dirty="0" err="1"/>
              <a:t>Potřebujeme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, </a:t>
            </a:r>
            <a:r>
              <a:rPr dirty="0" err="1"/>
              <a:t>jednotku</a:t>
            </a:r>
            <a:r>
              <a:rPr dirty="0"/>
              <a:t>, </a:t>
            </a:r>
            <a:r>
              <a:rPr dirty="0" err="1"/>
              <a:t>čas</a:t>
            </a:r>
            <a:r>
              <a:rPr dirty="0"/>
              <a:t> a </a:t>
            </a:r>
            <a:r>
              <a:rPr dirty="0" err="1"/>
              <a:t>vazbu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. </a:t>
            </a:r>
            <a:r>
              <a:rPr dirty="0" err="1"/>
              <a:t>Společná</a:t>
            </a:r>
            <a:r>
              <a:rPr dirty="0"/>
              <a:t> </a:t>
            </a:r>
            <a:r>
              <a:rPr dirty="0" err="1"/>
              <a:t>pravidla</a:t>
            </a:r>
            <a:r>
              <a:rPr dirty="0"/>
              <a:t> </a:t>
            </a:r>
            <a:r>
              <a:rPr dirty="0" err="1"/>
              <a:t>určují</a:t>
            </a:r>
            <a:r>
              <a:rPr dirty="0"/>
              <a:t> </a:t>
            </a:r>
            <a:r>
              <a:rPr dirty="0" err="1"/>
              <a:t>strukturu</a:t>
            </a:r>
            <a:r>
              <a:rPr dirty="0"/>
              <a:t> a </a:t>
            </a:r>
            <a:r>
              <a:rPr dirty="0" err="1"/>
              <a:t>způsob</a:t>
            </a:r>
            <a:r>
              <a:rPr dirty="0"/>
              <a:t> </a:t>
            </a:r>
            <a:r>
              <a:rPr dirty="0" err="1"/>
              <a:t>interpretace</a:t>
            </a:r>
            <a:r>
              <a:rPr dirty="0"/>
              <a:t>.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přínosem</a:t>
            </a:r>
            <a:r>
              <a:rPr dirty="0"/>
              <a:t> je </a:t>
            </a:r>
            <a:r>
              <a:rPr dirty="0" err="1"/>
              <a:t>opakovatelnost</a:t>
            </a:r>
            <a:r>
              <a:rPr dirty="0"/>
              <a:t>: </a:t>
            </a:r>
            <a:r>
              <a:rPr dirty="0" err="1"/>
              <a:t>podobný</a:t>
            </a:r>
            <a:r>
              <a:rPr dirty="0"/>
              <a:t> </a:t>
            </a:r>
            <a:r>
              <a:rPr dirty="0" err="1"/>
              <a:t>typ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nemusí</a:t>
            </a:r>
            <a:r>
              <a:rPr dirty="0"/>
              <a:t> </a:t>
            </a:r>
            <a:r>
              <a:rPr dirty="0" err="1"/>
              <a:t>každý</a:t>
            </a:r>
            <a:r>
              <a:rPr dirty="0"/>
              <a:t> </a:t>
            </a:r>
            <a:r>
              <a:rPr dirty="0" err="1"/>
              <a:t>projekt</a:t>
            </a:r>
            <a:r>
              <a:rPr dirty="0"/>
              <a:t> </a:t>
            </a:r>
            <a:r>
              <a:rPr dirty="0" err="1"/>
              <a:t>popisovat</a:t>
            </a:r>
            <a:r>
              <a:rPr dirty="0"/>
              <a:t> </a:t>
            </a:r>
            <a:r>
              <a:rPr dirty="0" err="1"/>
              <a:t>znovu</a:t>
            </a:r>
            <a:r>
              <a:rPr dirty="0"/>
              <a:t> od </a:t>
            </a:r>
            <a:r>
              <a:rPr dirty="0" err="1"/>
              <a:t>začátku</a:t>
            </a:r>
            <a:r>
              <a:rPr dirty="0"/>
              <a:t>. </a:t>
            </a:r>
            <a:r>
              <a:rPr dirty="0" err="1"/>
              <a:t>Samotný</a:t>
            </a:r>
            <a:r>
              <a:rPr dirty="0"/>
              <a:t> standard </a:t>
            </a:r>
            <a:r>
              <a:rPr dirty="0" err="1"/>
              <a:t>nezaručuje</a:t>
            </a:r>
            <a:r>
              <a:rPr dirty="0"/>
              <a:t> </a:t>
            </a:r>
            <a:r>
              <a:rPr dirty="0" err="1"/>
              <a:t>klinickou</a:t>
            </a:r>
            <a:r>
              <a:rPr dirty="0"/>
              <a:t> </a:t>
            </a:r>
            <a:r>
              <a:rPr dirty="0" err="1"/>
              <a:t>správnost</a:t>
            </a:r>
            <a:r>
              <a:rPr dirty="0"/>
              <a:t> </a:t>
            </a:r>
            <a:r>
              <a:rPr dirty="0" err="1"/>
              <a:t>všech</a:t>
            </a:r>
            <a:r>
              <a:rPr dirty="0"/>
              <a:t> </a:t>
            </a:r>
            <a:r>
              <a:rPr dirty="0" err="1"/>
              <a:t>údajů</a:t>
            </a:r>
            <a:r>
              <a:rPr dirty="0"/>
              <a:t>. Pomáhá </a:t>
            </a:r>
            <a:r>
              <a:rPr dirty="0" err="1"/>
              <a:t>však</a:t>
            </a:r>
            <a:r>
              <a:rPr dirty="0"/>
              <a:t> </a:t>
            </a:r>
            <a:r>
              <a:rPr dirty="0" err="1"/>
              <a:t>vytvořit</a:t>
            </a:r>
            <a:r>
              <a:rPr dirty="0"/>
              <a:t> </a:t>
            </a:r>
            <a:r>
              <a:rPr dirty="0" err="1"/>
              <a:t>předpoklady</a:t>
            </a:r>
            <a:r>
              <a:rPr dirty="0"/>
              <a:t> pro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spolehlivou</a:t>
            </a:r>
            <a:r>
              <a:rPr dirty="0"/>
              <a:t> </a:t>
            </a:r>
            <a:r>
              <a:rPr dirty="0" err="1"/>
              <a:t>výměnu</a:t>
            </a:r>
            <a:r>
              <a:rPr dirty="0"/>
              <a:t> a </a:t>
            </a:r>
            <a:r>
              <a:rPr dirty="0" err="1"/>
              <a:t>kontrolu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overview.html</a:t>
            </a:r>
            <a:endParaRPr dirty="0"/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terminologies.html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240 s.</a:t>
            </a:r>
          </a:p>
          <a:p>
            <a:endParaRPr dirty="0"/>
          </a:p>
          <a:p>
            <a:r>
              <a:rPr dirty="0"/>
              <a:t>V </a:t>
            </a:r>
            <a:r>
              <a:rPr dirty="0" err="1"/>
              <a:t>nemocnici</a:t>
            </a:r>
            <a:r>
              <a:rPr dirty="0"/>
              <a:t> </a:t>
            </a:r>
            <a:r>
              <a:rPr dirty="0" err="1"/>
              <a:t>potřebují</a:t>
            </a:r>
            <a:r>
              <a:rPr dirty="0"/>
              <a:t> </a:t>
            </a:r>
            <a:r>
              <a:rPr dirty="0" err="1"/>
              <a:t>spolupracovat</a:t>
            </a:r>
            <a:r>
              <a:rPr dirty="0"/>
              <a:t> </a:t>
            </a:r>
            <a:r>
              <a:rPr dirty="0" err="1"/>
              <a:t>různé</a:t>
            </a:r>
            <a:r>
              <a:rPr dirty="0"/>
              <a:t> </a:t>
            </a:r>
            <a:r>
              <a:rPr dirty="0" err="1"/>
              <a:t>informační</a:t>
            </a:r>
            <a:r>
              <a:rPr dirty="0"/>
              <a:t> </a:t>
            </a:r>
            <a:r>
              <a:rPr dirty="0" err="1"/>
              <a:t>systémy</a:t>
            </a:r>
            <a:r>
              <a:rPr dirty="0"/>
              <a:t>. Laboratoř </a:t>
            </a:r>
            <a:r>
              <a:rPr dirty="0" err="1"/>
              <a:t>vydává</a:t>
            </a:r>
            <a:r>
              <a:rPr dirty="0"/>
              <a:t> </a:t>
            </a:r>
            <a:r>
              <a:rPr dirty="0" err="1"/>
              <a:t>výsledky</a:t>
            </a:r>
            <a:r>
              <a:rPr dirty="0"/>
              <a:t>, </a:t>
            </a:r>
            <a:r>
              <a:rPr dirty="0" err="1"/>
              <a:t>klinický</a:t>
            </a:r>
            <a:r>
              <a:rPr dirty="0"/>
              <a:t> </a:t>
            </a:r>
            <a:r>
              <a:rPr dirty="0" err="1"/>
              <a:t>systém</a:t>
            </a:r>
            <a:r>
              <a:rPr dirty="0"/>
              <a:t> </a:t>
            </a:r>
            <a:r>
              <a:rPr dirty="0" err="1"/>
              <a:t>pracuje</a:t>
            </a:r>
            <a:r>
              <a:rPr dirty="0"/>
              <a:t> s </a:t>
            </a:r>
            <a:r>
              <a:rPr dirty="0" err="1"/>
              <a:t>diagnózami</a:t>
            </a:r>
            <a:r>
              <a:rPr dirty="0"/>
              <a:t> a </a:t>
            </a:r>
            <a:r>
              <a:rPr dirty="0" err="1"/>
              <a:t>dokumenty</a:t>
            </a:r>
            <a:r>
              <a:rPr dirty="0"/>
              <a:t> a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potřebují</a:t>
            </a:r>
            <a:r>
              <a:rPr dirty="0"/>
              <a:t> </a:t>
            </a:r>
            <a:r>
              <a:rPr dirty="0" err="1"/>
              <a:t>vybrané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. </a:t>
            </a:r>
            <a:r>
              <a:rPr dirty="0" err="1"/>
              <a:t>Standardy</a:t>
            </a:r>
            <a:r>
              <a:rPr dirty="0"/>
              <a:t> HL7 se </a:t>
            </a:r>
            <a:r>
              <a:rPr dirty="0" err="1"/>
              <a:t>využívají</a:t>
            </a:r>
            <a:r>
              <a:rPr dirty="0"/>
              <a:t> pro </a:t>
            </a:r>
            <a:r>
              <a:rPr dirty="0" err="1"/>
              <a:t>tyto</a:t>
            </a:r>
            <a:r>
              <a:rPr dirty="0"/>
              <a:t> </a:t>
            </a:r>
            <a:r>
              <a:rPr dirty="0" err="1"/>
              <a:t>integrační</a:t>
            </a:r>
            <a:r>
              <a:rPr dirty="0"/>
              <a:t> </a:t>
            </a:r>
            <a:r>
              <a:rPr dirty="0" err="1"/>
              <a:t>scénáře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pro </a:t>
            </a:r>
            <a:r>
              <a:rPr dirty="0" err="1"/>
              <a:t>aplikace</a:t>
            </a:r>
            <a:r>
              <a:rPr dirty="0"/>
              <a:t>, </a:t>
            </a:r>
            <a:r>
              <a:rPr dirty="0" err="1"/>
              <a:t>které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ně</a:t>
            </a:r>
            <a:r>
              <a:rPr dirty="0"/>
              <a:t> </a:t>
            </a:r>
            <a:r>
              <a:rPr dirty="0" err="1"/>
              <a:t>navazují</a:t>
            </a:r>
            <a:r>
              <a:rPr dirty="0"/>
              <a:t>. </a:t>
            </a:r>
            <a:r>
              <a:rPr dirty="0" err="1"/>
              <a:t>Strukturované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mohou</a:t>
            </a:r>
            <a:r>
              <a:rPr dirty="0"/>
              <a:t> </a:t>
            </a:r>
            <a:r>
              <a:rPr dirty="0" err="1"/>
              <a:t>také</a:t>
            </a:r>
            <a:r>
              <a:rPr dirty="0"/>
              <a:t> </a:t>
            </a:r>
            <a:r>
              <a:rPr dirty="0" err="1"/>
              <a:t>podpořit</a:t>
            </a:r>
            <a:r>
              <a:rPr dirty="0"/>
              <a:t> </a:t>
            </a:r>
            <a:r>
              <a:rPr dirty="0" err="1"/>
              <a:t>výzkum</a:t>
            </a:r>
            <a:r>
              <a:rPr dirty="0"/>
              <a:t> a </a:t>
            </a:r>
            <a:r>
              <a:rPr dirty="0" err="1"/>
              <a:t>analytiku</a:t>
            </a:r>
            <a:r>
              <a:rPr dirty="0"/>
              <a:t>. </a:t>
            </a:r>
            <a:r>
              <a:rPr dirty="0" err="1"/>
              <a:t>Vždy</a:t>
            </a:r>
            <a:r>
              <a:rPr dirty="0"/>
              <a:t> je </a:t>
            </a:r>
            <a:r>
              <a:rPr dirty="0" err="1"/>
              <a:t>ovšem</a:t>
            </a:r>
            <a:r>
              <a:rPr dirty="0"/>
              <a:t> </a:t>
            </a:r>
            <a:r>
              <a:rPr dirty="0" err="1"/>
              <a:t>potřeba</a:t>
            </a:r>
            <a:r>
              <a:rPr dirty="0"/>
              <a:t> </a:t>
            </a:r>
            <a:r>
              <a:rPr dirty="0" err="1"/>
              <a:t>řešit</a:t>
            </a:r>
            <a:r>
              <a:rPr dirty="0"/>
              <a:t> </a:t>
            </a:r>
            <a:r>
              <a:rPr dirty="0" err="1"/>
              <a:t>kvalitu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, </a:t>
            </a:r>
            <a:r>
              <a:rPr dirty="0" err="1"/>
              <a:t>oprávnění</a:t>
            </a:r>
            <a:r>
              <a:rPr dirty="0"/>
              <a:t> a </a:t>
            </a:r>
            <a:r>
              <a:rPr dirty="0" err="1"/>
              <a:t>pravidla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použití</a:t>
            </a:r>
            <a:r>
              <a:rPr dirty="0"/>
              <a:t>. Standard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povolení</a:t>
            </a:r>
            <a:r>
              <a:rPr dirty="0"/>
              <a:t> k </a:t>
            </a:r>
            <a:r>
              <a:rPr dirty="0" err="1"/>
              <a:t>přístupu</a:t>
            </a:r>
            <a:r>
              <a:rPr dirty="0"/>
              <a:t> k </a:t>
            </a:r>
            <a:r>
              <a:rPr dirty="0" err="1"/>
              <a:t>údajům</a:t>
            </a:r>
            <a:r>
              <a:rPr dirty="0"/>
              <a:t>. Je </a:t>
            </a:r>
            <a:r>
              <a:rPr dirty="0" err="1"/>
              <a:t>společným</a:t>
            </a:r>
            <a:r>
              <a:rPr dirty="0"/>
              <a:t> </a:t>
            </a:r>
            <a:r>
              <a:rPr dirty="0" err="1"/>
              <a:t>technickým</a:t>
            </a:r>
            <a:r>
              <a:rPr dirty="0"/>
              <a:t> a </a:t>
            </a:r>
            <a:r>
              <a:rPr dirty="0" err="1"/>
              <a:t>obsahovým</a:t>
            </a:r>
            <a:r>
              <a:rPr dirty="0"/>
              <a:t> </a:t>
            </a:r>
            <a:r>
              <a:rPr dirty="0" err="1"/>
              <a:t>základem</a:t>
            </a:r>
            <a:r>
              <a:rPr dirty="0"/>
              <a:t>,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kterém</a:t>
            </a:r>
            <a:r>
              <a:rPr dirty="0"/>
              <a:t> </a:t>
            </a:r>
            <a:r>
              <a:rPr dirty="0" err="1"/>
              <a:t>lze</a:t>
            </a:r>
            <a:r>
              <a:rPr dirty="0"/>
              <a:t> </a:t>
            </a:r>
            <a:r>
              <a:rPr dirty="0" err="1"/>
              <a:t>stavět</a:t>
            </a:r>
            <a:r>
              <a:rPr dirty="0"/>
              <a:t> </a:t>
            </a:r>
            <a:r>
              <a:rPr dirty="0" err="1"/>
              <a:t>řešení</a:t>
            </a:r>
            <a:r>
              <a:rPr dirty="0"/>
              <a:t> pro </a:t>
            </a:r>
            <a:r>
              <a:rPr dirty="0" err="1"/>
              <a:t>jednotlivé</a:t>
            </a:r>
            <a:r>
              <a:rPr dirty="0"/>
              <a:t> </a:t>
            </a:r>
            <a:r>
              <a:rPr dirty="0" err="1"/>
              <a:t>účely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overview.html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315 s.</a:t>
            </a:r>
          </a:p>
          <a:p>
            <a:endParaRPr dirty="0"/>
          </a:p>
          <a:p>
            <a:r>
              <a:rPr dirty="0"/>
              <a:t>Pro </a:t>
            </a:r>
            <a:r>
              <a:rPr dirty="0" err="1"/>
              <a:t>úvod</a:t>
            </a:r>
            <a:r>
              <a:rPr dirty="0"/>
              <a:t> </a:t>
            </a:r>
            <a:r>
              <a:rPr dirty="0" err="1"/>
              <a:t>stačí</a:t>
            </a:r>
            <a:r>
              <a:rPr dirty="0"/>
              <a:t> </a:t>
            </a:r>
            <a:r>
              <a:rPr dirty="0" err="1"/>
              <a:t>rozlišit</a:t>
            </a:r>
            <a:r>
              <a:rPr dirty="0"/>
              <a:t> </a:t>
            </a:r>
            <a:r>
              <a:rPr dirty="0" err="1"/>
              <a:t>tři</a:t>
            </a:r>
            <a:r>
              <a:rPr dirty="0"/>
              <a:t> </a:t>
            </a:r>
            <a:r>
              <a:rPr dirty="0" err="1"/>
              <a:t>důležité</a:t>
            </a:r>
            <a:r>
              <a:rPr dirty="0"/>
              <a:t> </a:t>
            </a:r>
            <a:r>
              <a:rPr dirty="0" err="1"/>
              <a:t>způsoby</a:t>
            </a:r>
            <a:r>
              <a:rPr dirty="0"/>
              <a:t>. HL7 V2 je </a:t>
            </a:r>
            <a:r>
              <a:rPr dirty="0" err="1"/>
              <a:t>zprávový</a:t>
            </a:r>
            <a:r>
              <a:rPr dirty="0"/>
              <a:t> standard. </a:t>
            </a:r>
            <a:r>
              <a:rPr dirty="0" err="1"/>
              <a:t>Zpráva</a:t>
            </a:r>
            <a:r>
              <a:rPr dirty="0"/>
              <a:t> </a:t>
            </a:r>
            <a:r>
              <a:rPr dirty="0" err="1"/>
              <a:t>například</a:t>
            </a:r>
            <a:r>
              <a:rPr dirty="0"/>
              <a:t> </a:t>
            </a:r>
            <a:r>
              <a:rPr dirty="0" err="1"/>
              <a:t>oznámí</a:t>
            </a:r>
            <a:r>
              <a:rPr dirty="0"/>
              <a:t> </a:t>
            </a:r>
            <a:r>
              <a:rPr dirty="0" err="1"/>
              <a:t>přijetí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předá</a:t>
            </a:r>
            <a:r>
              <a:rPr dirty="0"/>
              <a:t> </a:t>
            </a:r>
            <a:r>
              <a:rPr dirty="0" err="1"/>
              <a:t>laboratorní</a:t>
            </a:r>
            <a:r>
              <a:rPr dirty="0"/>
              <a:t> </a:t>
            </a:r>
            <a:r>
              <a:rPr dirty="0" err="1"/>
              <a:t>výsledek</a:t>
            </a:r>
            <a:r>
              <a:rPr dirty="0"/>
              <a:t>. CDA je </a:t>
            </a:r>
            <a:r>
              <a:rPr dirty="0" err="1"/>
              <a:t>architektura</a:t>
            </a:r>
            <a:r>
              <a:rPr dirty="0"/>
              <a:t> </a:t>
            </a:r>
            <a:r>
              <a:rPr dirty="0" err="1"/>
              <a:t>klinického</a:t>
            </a:r>
            <a:r>
              <a:rPr dirty="0"/>
              <a:t> </a:t>
            </a:r>
            <a:r>
              <a:rPr dirty="0" err="1"/>
              <a:t>dokumentu</a:t>
            </a:r>
            <a:r>
              <a:rPr dirty="0"/>
              <a:t>, </a:t>
            </a:r>
            <a:r>
              <a:rPr dirty="0" err="1"/>
              <a:t>který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, </a:t>
            </a:r>
            <a:r>
              <a:rPr dirty="0" err="1"/>
              <a:t>čitelný</a:t>
            </a:r>
            <a:r>
              <a:rPr dirty="0"/>
              <a:t> text a </a:t>
            </a:r>
            <a:r>
              <a:rPr dirty="0" err="1"/>
              <a:t>případně</a:t>
            </a:r>
            <a:r>
              <a:rPr dirty="0"/>
              <a:t> </a:t>
            </a:r>
            <a:r>
              <a:rPr dirty="0" err="1"/>
              <a:t>strukturovaný</a:t>
            </a:r>
            <a:r>
              <a:rPr dirty="0"/>
              <a:t> </a:t>
            </a:r>
            <a:r>
              <a:rPr dirty="0" err="1"/>
              <a:t>obsah</a:t>
            </a:r>
            <a:r>
              <a:rPr dirty="0"/>
              <a:t>. FHIR </a:t>
            </a:r>
            <a:r>
              <a:rPr dirty="0" err="1"/>
              <a:t>umožňuje</a:t>
            </a:r>
            <a:r>
              <a:rPr dirty="0"/>
              <a:t> </a:t>
            </a:r>
            <a:r>
              <a:rPr dirty="0" err="1"/>
              <a:t>pracovat</a:t>
            </a:r>
            <a:r>
              <a:rPr dirty="0"/>
              <a:t> s </a:t>
            </a:r>
            <a:r>
              <a:rPr dirty="0" err="1"/>
              <a:t>jednotlivými</a:t>
            </a:r>
            <a:r>
              <a:rPr dirty="0"/>
              <a:t> </a:t>
            </a:r>
            <a:r>
              <a:rPr dirty="0" err="1"/>
              <a:t>datovými</a:t>
            </a:r>
            <a:r>
              <a:rPr dirty="0"/>
              <a:t> </a:t>
            </a:r>
            <a:r>
              <a:rPr dirty="0" err="1"/>
              <a:t>záznamy</a:t>
            </a:r>
            <a:r>
              <a:rPr dirty="0"/>
              <a:t> a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vazbami</a:t>
            </a:r>
            <a:r>
              <a:rPr dirty="0"/>
              <a:t>. Rodina </a:t>
            </a:r>
            <a:r>
              <a:rPr dirty="0" err="1"/>
              <a:t>zahrnuje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standardy</a:t>
            </a:r>
            <a:r>
              <a:rPr dirty="0"/>
              <a:t>, </a:t>
            </a:r>
            <a:r>
              <a:rPr dirty="0" err="1"/>
              <a:t>například</a:t>
            </a:r>
            <a:r>
              <a:rPr dirty="0"/>
              <a:t> Version 3. V </a:t>
            </a:r>
            <a:r>
              <a:rPr dirty="0" err="1"/>
              <a:t>praxi</a:t>
            </a:r>
            <a:r>
              <a:rPr dirty="0"/>
              <a:t> se </a:t>
            </a:r>
            <a:r>
              <a:rPr dirty="0" err="1"/>
              <a:t>jednotlivé</a:t>
            </a:r>
            <a:r>
              <a:rPr dirty="0"/>
              <a:t> </a:t>
            </a:r>
            <a:r>
              <a:rPr dirty="0" err="1"/>
              <a:t>způsoby</a:t>
            </a:r>
            <a:r>
              <a:rPr dirty="0"/>
              <a:t> </a:t>
            </a:r>
            <a:r>
              <a:rPr dirty="0" err="1"/>
              <a:t>doplňují</a:t>
            </a:r>
            <a:r>
              <a:rPr dirty="0"/>
              <a:t> a v </a:t>
            </a:r>
            <a:r>
              <a:rPr dirty="0" err="1"/>
              <a:t>nemocnici</a:t>
            </a:r>
            <a:r>
              <a:rPr dirty="0"/>
              <a:t> </a:t>
            </a:r>
            <a:r>
              <a:rPr dirty="0" err="1"/>
              <a:t>mohou</a:t>
            </a:r>
            <a:r>
              <a:rPr dirty="0"/>
              <a:t> </a:t>
            </a:r>
            <a:r>
              <a:rPr dirty="0" err="1"/>
              <a:t>fungovat</a:t>
            </a:r>
            <a:r>
              <a:rPr dirty="0"/>
              <a:t> </a:t>
            </a:r>
            <a:r>
              <a:rPr dirty="0" err="1"/>
              <a:t>souběžně</a:t>
            </a:r>
            <a:r>
              <a:rPr dirty="0"/>
              <a:t>. </a:t>
            </a:r>
            <a:r>
              <a:rPr dirty="0" err="1"/>
              <a:t>Tým</a:t>
            </a:r>
            <a:r>
              <a:rPr dirty="0"/>
              <a:t> by proto </a:t>
            </a:r>
            <a:r>
              <a:rPr dirty="0" err="1"/>
              <a:t>neměl</a:t>
            </a:r>
            <a:r>
              <a:rPr dirty="0"/>
              <a:t> </a:t>
            </a:r>
            <a:r>
              <a:rPr dirty="0" err="1"/>
              <a:t>očekávat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každý</a:t>
            </a:r>
            <a:r>
              <a:rPr dirty="0"/>
              <a:t> </a:t>
            </a:r>
            <a:r>
              <a:rPr dirty="0" err="1"/>
              <a:t>systém</a:t>
            </a:r>
            <a:r>
              <a:rPr dirty="0"/>
              <a:t> </a:t>
            </a:r>
            <a:r>
              <a:rPr dirty="0" err="1"/>
              <a:t>nabízí</a:t>
            </a:r>
            <a:r>
              <a:rPr dirty="0"/>
              <a:t> </a:t>
            </a:r>
            <a:r>
              <a:rPr dirty="0" err="1"/>
              <a:t>stejný</a:t>
            </a:r>
            <a:r>
              <a:rPr dirty="0"/>
              <a:t> </a:t>
            </a:r>
            <a:r>
              <a:rPr dirty="0" err="1"/>
              <a:t>typ</a:t>
            </a:r>
            <a:r>
              <a:rPr dirty="0"/>
              <a:t> </a:t>
            </a:r>
            <a:r>
              <a:rPr dirty="0" err="1"/>
              <a:t>rozhraní</a:t>
            </a:r>
            <a:r>
              <a:rPr dirty="0"/>
              <a:t>. Pro </a:t>
            </a:r>
            <a:r>
              <a:rPr dirty="0" err="1"/>
              <a:t>nové</a:t>
            </a:r>
            <a:r>
              <a:rPr dirty="0"/>
              <a:t> </a:t>
            </a:r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nás</a:t>
            </a:r>
            <a:r>
              <a:rPr dirty="0"/>
              <a:t> </a:t>
            </a:r>
            <a:r>
              <a:rPr dirty="0" err="1"/>
              <a:t>bude</a:t>
            </a:r>
            <a:r>
              <a:rPr dirty="0"/>
              <a:t> </a:t>
            </a:r>
            <a:r>
              <a:rPr dirty="0" err="1"/>
              <a:t>zajímat</a:t>
            </a:r>
            <a:r>
              <a:rPr dirty="0"/>
              <a:t> </a:t>
            </a:r>
            <a:r>
              <a:rPr dirty="0" err="1"/>
              <a:t>především</a:t>
            </a:r>
            <a:r>
              <a:rPr dirty="0"/>
              <a:t> FHIR.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comparison.html</a:t>
            </a:r>
            <a:endParaRPr dirty="0"/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overview.html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390 s.</a:t>
            </a:r>
          </a:p>
          <a:p>
            <a:endParaRPr dirty="0"/>
          </a:p>
          <a:p>
            <a:r>
              <a:rPr dirty="0"/>
              <a:t>FHIR se </a:t>
            </a:r>
            <a:r>
              <a:rPr dirty="0" err="1"/>
              <a:t>vyslovuje</a:t>
            </a:r>
            <a:r>
              <a:rPr dirty="0"/>
              <a:t> </a:t>
            </a:r>
            <a:r>
              <a:rPr dirty="0" err="1"/>
              <a:t>podobně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</a:t>
            </a:r>
            <a:r>
              <a:rPr dirty="0" err="1"/>
              <a:t>anglické</a:t>
            </a:r>
            <a:r>
              <a:rPr dirty="0"/>
              <a:t> fire. </a:t>
            </a:r>
            <a:r>
              <a:rPr dirty="0" err="1"/>
              <a:t>Staví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zdrojích</a:t>
            </a:r>
            <a:r>
              <a:rPr dirty="0"/>
              <a:t>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standardních</a:t>
            </a:r>
            <a:r>
              <a:rPr dirty="0"/>
              <a:t> </a:t>
            </a:r>
            <a:r>
              <a:rPr dirty="0" err="1"/>
              <a:t>datových</a:t>
            </a:r>
            <a:r>
              <a:rPr dirty="0"/>
              <a:t> </a:t>
            </a:r>
            <a:r>
              <a:rPr dirty="0" err="1"/>
              <a:t>záznamech</a:t>
            </a:r>
            <a:r>
              <a:rPr dirty="0"/>
              <a:t>. </a:t>
            </a:r>
            <a:r>
              <a:rPr dirty="0" err="1"/>
              <a:t>Zdroj</a:t>
            </a:r>
            <a:r>
              <a:rPr dirty="0"/>
              <a:t> Patient </a:t>
            </a:r>
            <a:r>
              <a:rPr dirty="0" err="1"/>
              <a:t>popisuje</a:t>
            </a:r>
            <a:r>
              <a:rPr dirty="0"/>
              <a:t> </a:t>
            </a:r>
            <a:r>
              <a:rPr dirty="0" err="1"/>
              <a:t>osobu</a:t>
            </a:r>
            <a:r>
              <a:rPr dirty="0"/>
              <a:t>, Condition </a:t>
            </a:r>
            <a:r>
              <a:rPr dirty="0" err="1"/>
              <a:t>diagnózu</a:t>
            </a:r>
            <a:r>
              <a:rPr dirty="0"/>
              <a:t> a Observation </a:t>
            </a:r>
            <a:r>
              <a:rPr dirty="0" err="1"/>
              <a:t>například</a:t>
            </a:r>
            <a:r>
              <a:rPr dirty="0"/>
              <a:t> </a:t>
            </a:r>
            <a:r>
              <a:rPr dirty="0" err="1"/>
              <a:t>měření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hodnocení</a:t>
            </a:r>
            <a:r>
              <a:rPr dirty="0"/>
              <a:t>. Reference </a:t>
            </a:r>
            <a:r>
              <a:rPr dirty="0" err="1"/>
              <a:t>propojují</a:t>
            </a:r>
            <a:r>
              <a:rPr dirty="0"/>
              <a:t> </a:t>
            </a:r>
            <a:r>
              <a:rPr dirty="0" err="1"/>
              <a:t>související</a:t>
            </a:r>
            <a:r>
              <a:rPr dirty="0"/>
              <a:t> </a:t>
            </a:r>
            <a:r>
              <a:rPr dirty="0" err="1"/>
              <a:t>záznamy</a:t>
            </a:r>
            <a:r>
              <a:rPr dirty="0"/>
              <a:t>. FHIR </a:t>
            </a:r>
            <a:r>
              <a:rPr dirty="0" err="1"/>
              <a:t>využívá</a:t>
            </a:r>
            <a:r>
              <a:rPr dirty="0"/>
              <a:t> </a:t>
            </a:r>
            <a:r>
              <a:rPr dirty="0" err="1"/>
              <a:t>běžné</a:t>
            </a:r>
            <a:r>
              <a:rPr dirty="0"/>
              <a:t> </a:t>
            </a:r>
            <a:r>
              <a:rPr dirty="0" err="1"/>
              <a:t>webové</a:t>
            </a:r>
            <a:r>
              <a:rPr dirty="0"/>
              <a:t> </a:t>
            </a:r>
            <a:r>
              <a:rPr dirty="0" err="1"/>
              <a:t>technologie</a:t>
            </a:r>
            <a:r>
              <a:rPr dirty="0"/>
              <a:t>. JSON a XML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textové</a:t>
            </a:r>
            <a:r>
              <a:rPr dirty="0"/>
              <a:t> </a:t>
            </a:r>
            <a:r>
              <a:rPr dirty="0" err="1"/>
              <a:t>formáty</a:t>
            </a:r>
            <a:r>
              <a:rPr dirty="0"/>
              <a:t> pro </a:t>
            </a:r>
            <a:r>
              <a:rPr dirty="0" err="1"/>
              <a:t>zápis</a:t>
            </a:r>
            <a:r>
              <a:rPr dirty="0"/>
              <a:t> </a:t>
            </a:r>
            <a:r>
              <a:rPr dirty="0" err="1"/>
              <a:t>strukturovaných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, API je </a:t>
            </a:r>
            <a:r>
              <a:rPr dirty="0" err="1"/>
              <a:t>rozhraní</a:t>
            </a:r>
            <a:r>
              <a:rPr dirty="0"/>
              <a:t> pro </a:t>
            </a:r>
            <a:r>
              <a:rPr dirty="0" err="1"/>
              <a:t>komunikaci</a:t>
            </a:r>
            <a:r>
              <a:rPr dirty="0"/>
              <a:t> </a:t>
            </a:r>
            <a:r>
              <a:rPr dirty="0" err="1"/>
              <a:t>aplikací</a:t>
            </a:r>
            <a:r>
              <a:rPr dirty="0"/>
              <a:t>. FHIR </a:t>
            </a:r>
            <a:r>
              <a:rPr dirty="0" err="1"/>
              <a:t>lze</a:t>
            </a:r>
            <a:r>
              <a:rPr dirty="0"/>
              <a:t> </a:t>
            </a:r>
            <a:r>
              <a:rPr dirty="0" err="1"/>
              <a:t>používat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jinými</a:t>
            </a:r>
            <a:r>
              <a:rPr dirty="0"/>
              <a:t> </a:t>
            </a:r>
            <a:r>
              <a:rPr dirty="0" err="1"/>
              <a:t>způsoby</a:t>
            </a:r>
            <a:r>
              <a:rPr dirty="0"/>
              <a:t> </a:t>
            </a:r>
            <a:r>
              <a:rPr dirty="0" err="1"/>
              <a:t>než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</a:t>
            </a:r>
            <a:r>
              <a:rPr dirty="0" err="1"/>
              <a:t>webové</a:t>
            </a:r>
            <a:r>
              <a:rPr dirty="0"/>
              <a:t> API. Pro </a:t>
            </a:r>
            <a:r>
              <a:rPr dirty="0" err="1"/>
              <a:t>týmy</a:t>
            </a:r>
            <a:r>
              <a:rPr dirty="0"/>
              <a:t> je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přínosem</a:t>
            </a:r>
            <a:r>
              <a:rPr dirty="0"/>
              <a:t> </a:t>
            </a:r>
            <a:r>
              <a:rPr dirty="0" err="1"/>
              <a:t>veřejně</a:t>
            </a:r>
            <a:r>
              <a:rPr dirty="0"/>
              <a:t> </a:t>
            </a:r>
            <a:r>
              <a:rPr dirty="0" err="1"/>
              <a:t>popsaný</a:t>
            </a:r>
            <a:r>
              <a:rPr dirty="0"/>
              <a:t> model a </a:t>
            </a:r>
            <a:r>
              <a:rPr dirty="0" err="1"/>
              <a:t>možnost</a:t>
            </a:r>
            <a:r>
              <a:rPr dirty="0"/>
              <a:t> </a:t>
            </a:r>
            <a:r>
              <a:rPr dirty="0" err="1"/>
              <a:t>začít</a:t>
            </a:r>
            <a:r>
              <a:rPr dirty="0"/>
              <a:t> s </a:t>
            </a:r>
            <a:r>
              <a:rPr dirty="0" err="1"/>
              <a:t>malým</a:t>
            </a:r>
            <a:r>
              <a:rPr dirty="0"/>
              <a:t>, </a:t>
            </a:r>
            <a:r>
              <a:rPr dirty="0" err="1"/>
              <a:t>jasně</a:t>
            </a:r>
            <a:r>
              <a:rPr dirty="0"/>
              <a:t> </a:t>
            </a:r>
            <a:r>
              <a:rPr dirty="0" err="1"/>
              <a:t>vymezeným</a:t>
            </a:r>
            <a:r>
              <a:rPr dirty="0"/>
              <a:t> </a:t>
            </a:r>
            <a:r>
              <a:rPr dirty="0" err="1"/>
              <a:t>souborem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Pro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účel</a:t>
            </a:r>
            <a:r>
              <a:rPr dirty="0"/>
              <a:t> </a:t>
            </a:r>
            <a:r>
              <a:rPr dirty="0" err="1"/>
              <a:t>obecná</a:t>
            </a:r>
            <a:r>
              <a:rPr dirty="0"/>
              <a:t> </a:t>
            </a:r>
            <a:r>
              <a:rPr dirty="0" err="1"/>
              <a:t>pravidla</a:t>
            </a:r>
            <a:r>
              <a:rPr dirty="0"/>
              <a:t> </a:t>
            </a:r>
            <a:r>
              <a:rPr dirty="0" err="1"/>
              <a:t>zpřesňují</a:t>
            </a:r>
            <a:r>
              <a:rPr dirty="0"/>
              <a:t> </a:t>
            </a:r>
            <a:r>
              <a:rPr dirty="0" err="1"/>
              <a:t>profily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overview.html</a:t>
            </a:r>
            <a:endParaRPr dirty="0"/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formats.html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480 s.</a:t>
            </a:r>
          </a:p>
          <a:p>
            <a:endParaRPr dirty="0"/>
          </a:p>
          <a:p>
            <a:r>
              <a:rPr dirty="0" err="1"/>
              <a:t>Evropské</a:t>
            </a:r>
            <a:r>
              <a:rPr dirty="0"/>
              <a:t> </a:t>
            </a:r>
            <a:r>
              <a:rPr dirty="0" err="1"/>
              <a:t>zdravotnictví</a:t>
            </a:r>
            <a:r>
              <a:rPr dirty="0"/>
              <a:t> </a:t>
            </a:r>
            <a:r>
              <a:rPr dirty="0" err="1"/>
              <a:t>potřebuje</a:t>
            </a:r>
            <a:r>
              <a:rPr dirty="0"/>
              <a:t> </a:t>
            </a:r>
            <a:r>
              <a:rPr dirty="0" err="1"/>
              <a:t>sdílet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napříč</a:t>
            </a:r>
            <a:r>
              <a:rPr dirty="0"/>
              <a:t> </a:t>
            </a:r>
            <a:r>
              <a:rPr dirty="0" err="1"/>
              <a:t>systémy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zeměmi</a:t>
            </a:r>
            <a:r>
              <a:rPr dirty="0"/>
              <a:t>. HL7 Europe </a:t>
            </a:r>
            <a:r>
              <a:rPr dirty="0" err="1"/>
              <a:t>vytváří</a:t>
            </a:r>
            <a:r>
              <a:rPr dirty="0"/>
              <a:t> </a:t>
            </a:r>
            <a:r>
              <a:rPr dirty="0" err="1"/>
              <a:t>příručky</a:t>
            </a:r>
            <a:r>
              <a:rPr dirty="0"/>
              <a:t>, </a:t>
            </a:r>
            <a:r>
              <a:rPr dirty="0" err="1"/>
              <a:t>které</a:t>
            </a:r>
            <a:r>
              <a:rPr dirty="0"/>
              <a:t> </a:t>
            </a:r>
            <a:r>
              <a:rPr dirty="0" err="1"/>
              <a:t>podporují</a:t>
            </a:r>
            <a:r>
              <a:rPr dirty="0"/>
              <a:t> </a:t>
            </a:r>
            <a:r>
              <a:rPr dirty="0" err="1"/>
              <a:t>společný</a:t>
            </a:r>
            <a:r>
              <a:rPr dirty="0"/>
              <a:t> </a:t>
            </a:r>
            <a:r>
              <a:rPr dirty="0" err="1"/>
              <a:t>evropský</a:t>
            </a:r>
            <a:r>
              <a:rPr dirty="0"/>
              <a:t> </a:t>
            </a:r>
            <a:r>
              <a:rPr dirty="0" err="1"/>
              <a:t>formát</a:t>
            </a:r>
            <a:r>
              <a:rPr dirty="0"/>
              <a:t> </a:t>
            </a:r>
            <a:r>
              <a:rPr dirty="0" err="1"/>
              <a:t>výměny</a:t>
            </a:r>
            <a:r>
              <a:rPr dirty="0"/>
              <a:t> </a:t>
            </a:r>
            <a:r>
              <a:rPr dirty="0" err="1"/>
              <a:t>elektronických</a:t>
            </a:r>
            <a:r>
              <a:rPr dirty="0"/>
              <a:t> </a:t>
            </a:r>
            <a:r>
              <a:rPr dirty="0" err="1"/>
              <a:t>zdravotních</a:t>
            </a:r>
            <a:r>
              <a:rPr dirty="0"/>
              <a:t> </a:t>
            </a:r>
            <a:r>
              <a:rPr dirty="0" err="1"/>
              <a:t>záznamů</a:t>
            </a:r>
            <a:r>
              <a:rPr dirty="0"/>
              <a:t>. Zkratka EHR </a:t>
            </a:r>
            <a:r>
              <a:rPr dirty="0" err="1"/>
              <a:t>označuje</a:t>
            </a:r>
            <a:r>
              <a:rPr dirty="0"/>
              <a:t> </a:t>
            </a:r>
            <a:r>
              <a:rPr dirty="0" err="1"/>
              <a:t>elektronický</a:t>
            </a:r>
            <a:r>
              <a:rPr dirty="0"/>
              <a:t> </a:t>
            </a:r>
            <a:r>
              <a:rPr dirty="0" err="1"/>
              <a:t>zdravotní</a:t>
            </a:r>
            <a:r>
              <a:rPr dirty="0"/>
              <a:t> </a:t>
            </a:r>
            <a:r>
              <a:rPr dirty="0" err="1"/>
              <a:t>záznam</a:t>
            </a:r>
            <a:r>
              <a:rPr dirty="0"/>
              <a:t>. České </a:t>
            </a:r>
            <a:r>
              <a:rPr dirty="0" err="1"/>
              <a:t>příručky</a:t>
            </a:r>
            <a:r>
              <a:rPr dirty="0"/>
              <a:t> </a:t>
            </a:r>
            <a:r>
              <a:rPr dirty="0" err="1"/>
              <a:t>doplňují</a:t>
            </a:r>
            <a:r>
              <a:rPr dirty="0"/>
              <a:t> </a:t>
            </a:r>
            <a:r>
              <a:rPr dirty="0" err="1"/>
              <a:t>národní</a:t>
            </a:r>
            <a:r>
              <a:rPr dirty="0"/>
              <a:t> </a:t>
            </a:r>
            <a:r>
              <a:rPr dirty="0" err="1"/>
              <a:t>pravidla</a:t>
            </a:r>
            <a:r>
              <a:rPr dirty="0"/>
              <a:t>. </a:t>
            </a:r>
            <a:r>
              <a:rPr dirty="0" err="1"/>
              <a:t>Národní</a:t>
            </a:r>
            <a:r>
              <a:rPr dirty="0"/>
              <a:t> centrum </a:t>
            </a:r>
            <a:r>
              <a:rPr dirty="0" err="1"/>
              <a:t>elektronického</a:t>
            </a:r>
            <a:r>
              <a:rPr dirty="0"/>
              <a:t> </a:t>
            </a:r>
            <a:r>
              <a:rPr dirty="0" err="1"/>
              <a:t>zdravotnictví</a:t>
            </a:r>
            <a:r>
              <a:rPr dirty="0"/>
              <a:t>, NCEZ,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svých</a:t>
            </a:r>
            <a:r>
              <a:rPr dirty="0"/>
              <a:t> </a:t>
            </a:r>
            <a:r>
              <a:rPr dirty="0" err="1"/>
              <a:t>materiálech</a:t>
            </a:r>
            <a:r>
              <a:rPr dirty="0"/>
              <a:t> </a:t>
            </a:r>
            <a:r>
              <a:rPr dirty="0" err="1"/>
              <a:t>uvádí</a:t>
            </a:r>
            <a:r>
              <a:rPr dirty="0"/>
              <a:t> REST API </a:t>
            </a:r>
            <a:r>
              <a:rPr dirty="0" err="1"/>
              <a:t>podle</a:t>
            </a:r>
            <a:r>
              <a:rPr dirty="0"/>
              <a:t> FHIR R4. To </a:t>
            </a:r>
            <a:r>
              <a:rPr dirty="0" err="1"/>
              <a:t>dokládá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 FHIR pro </a:t>
            </a:r>
            <a:r>
              <a:rPr dirty="0" err="1"/>
              <a:t>rozvoj</a:t>
            </a:r>
            <a:r>
              <a:rPr dirty="0"/>
              <a:t> </a:t>
            </a:r>
            <a:r>
              <a:rPr dirty="0" err="1"/>
              <a:t>českých</a:t>
            </a:r>
            <a:r>
              <a:rPr dirty="0"/>
              <a:t> </a:t>
            </a:r>
            <a:r>
              <a:rPr dirty="0" err="1"/>
              <a:t>integrací</a:t>
            </a:r>
            <a:r>
              <a:rPr dirty="0"/>
              <a:t>, </a:t>
            </a:r>
            <a:r>
              <a:rPr dirty="0" err="1"/>
              <a:t>neznamená</a:t>
            </a:r>
            <a:r>
              <a:rPr dirty="0"/>
              <a:t> to </a:t>
            </a:r>
            <a:r>
              <a:rPr dirty="0" err="1"/>
              <a:t>však</a:t>
            </a:r>
            <a:r>
              <a:rPr dirty="0"/>
              <a:t>, </a:t>
            </a:r>
            <a:r>
              <a:rPr dirty="0" err="1"/>
              <a:t>že</a:t>
            </a:r>
            <a:r>
              <a:rPr dirty="0"/>
              <a:t> </a:t>
            </a:r>
            <a:r>
              <a:rPr dirty="0" err="1"/>
              <a:t>všechny</a:t>
            </a:r>
            <a:r>
              <a:rPr dirty="0"/>
              <a:t> </a:t>
            </a:r>
            <a:r>
              <a:rPr dirty="0" err="1"/>
              <a:t>systémy</a:t>
            </a:r>
            <a:r>
              <a:rPr dirty="0"/>
              <a:t> </a:t>
            </a:r>
            <a:r>
              <a:rPr dirty="0" err="1"/>
              <a:t>již</a:t>
            </a:r>
            <a:r>
              <a:rPr dirty="0"/>
              <a:t> </a:t>
            </a:r>
            <a:r>
              <a:rPr dirty="0" err="1"/>
              <a:t>používají</a:t>
            </a:r>
            <a:r>
              <a:rPr dirty="0"/>
              <a:t> </a:t>
            </a:r>
            <a:r>
              <a:rPr dirty="0" err="1"/>
              <a:t>výhradně</a:t>
            </a:r>
            <a:r>
              <a:rPr dirty="0"/>
              <a:t> FHIR. </a:t>
            </a:r>
            <a:r>
              <a:rPr dirty="0" err="1"/>
              <a:t>Současně</a:t>
            </a:r>
            <a:r>
              <a:rPr dirty="0"/>
              <a:t> se </a:t>
            </a:r>
            <a:r>
              <a:rPr dirty="0" err="1"/>
              <a:t>využívá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CDA a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rozhraní</a:t>
            </a:r>
            <a:r>
              <a:rPr dirty="0"/>
              <a:t>. Naše </a:t>
            </a:r>
            <a:r>
              <a:rPr dirty="0" err="1"/>
              <a:t>onkologické</a:t>
            </a:r>
            <a:r>
              <a:rPr dirty="0"/>
              <a:t> </a:t>
            </a:r>
            <a:r>
              <a:rPr dirty="0" err="1"/>
              <a:t>zdroje</a:t>
            </a:r>
            <a:r>
              <a:rPr dirty="0"/>
              <a:t> </a:t>
            </a:r>
            <a:r>
              <a:rPr dirty="0" err="1"/>
              <a:t>vycházejí</a:t>
            </a:r>
            <a:r>
              <a:rPr dirty="0"/>
              <a:t> z FHIR R4.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https://hl7news.hl7.org/2026/01/02/new-hl7-europe-fhir-implementation-guides-to-support-the-european-health-data-space/</a:t>
            </a:r>
          </a:p>
          <a:p>
            <a:r>
              <a:rPr dirty="0"/>
              <a:t>https://hl7.cz/</a:t>
            </a:r>
            <a:r>
              <a:rPr dirty="0" err="1"/>
              <a:t>fhir</a:t>
            </a:r>
            <a:r>
              <a:rPr dirty="0"/>
              <a:t>/core/1.0.0/</a:t>
            </a:r>
            <a:r>
              <a:rPr dirty="0" err="1"/>
              <a:t>en</a:t>
            </a:r>
            <a:r>
              <a:rPr dirty="0"/>
              <a:t>/index-</a:t>
            </a:r>
            <a:r>
              <a:rPr dirty="0" err="1"/>
              <a:t>cs.html</a:t>
            </a:r>
            <a:endParaRPr dirty="0"/>
          </a:p>
          <a:p>
            <a:r>
              <a:rPr dirty="0"/>
              <a:t>https://</a:t>
            </a:r>
            <a:r>
              <a:rPr dirty="0" err="1"/>
              <a:t>ncez.mzcr.cz</a:t>
            </a:r>
            <a:r>
              <a:rPr dirty="0"/>
              <a:t>/cs/node/5515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555 s.</a:t>
            </a:r>
          </a:p>
          <a:p>
            <a:endParaRPr dirty="0"/>
          </a:p>
          <a:p>
            <a:r>
              <a:rPr dirty="0"/>
              <a:t>FHIR </a:t>
            </a:r>
            <a:r>
              <a:rPr dirty="0" err="1"/>
              <a:t>nám</a:t>
            </a:r>
            <a:r>
              <a:rPr dirty="0"/>
              <a:t> </a:t>
            </a:r>
            <a:r>
              <a:rPr dirty="0" err="1"/>
              <a:t>poskytuje</a:t>
            </a:r>
            <a:r>
              <a:rPr dirty="0"/>
              <a:t>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stavební</a:t>
            </a:r>
            <a:r>
              <a:rPr dirty="0"/>
              <a:t> </a:t>
            </a:r>
            <a:r>
              <a:rPr dirty="0" err="1"/>
              <a:t>kameny</a:t>
            </a:r>
            <a:r>
              <a:rPr dirty="0"/>
              <a:t>. V </a:t>
            </a:r>
            <a:r>
              <a:rPr dirty="0" err="1"/>
              <a:t>onkologii</a:t>
            </a:r>
            <a:r>
              <a:rPr dirty="0"/>
              <a:t> </a:t>
            </a:r>
            <a:r>
              <a:rPr dirty="0" err="1"/>
              <a:t>však</a:t>
            </a:r>
            <a:r>
              <a:rPr dirty="0"/>
              <a:t> </a:t>
            </a:r>
            <a:r>
              <a:rPr dirty="0" err="1"/>
              <a:t>ještě</a:t>
            </a:r>
            <a:r>
              <a:rPr dirty="0"/>
              <a:t> </a:t>
            </a:r>
            <a:r>
              <a:rPr dirty="0" err="1"/>
              <a:t>potřebujeme</a:t>
            </a:r>
            <a:r>
              <a:rPr dirty="0"/>
              <a:t> </a:t>
            </a:r>
            <a:r>
              <a:rPr dirty="0" err="1"/>
              <a:t>společně</a:t>
            </a:r>
            <a:r>
              <a:rPr dirty="0"/>
              <a:t> </a:t>
            </a:r>
            <a:r>
              <a:rPr dirty="0" err="1"/>
              <a:t>pojmenovat</a:t>
            </a:r>
            <a:r>
              <a:rPr dirty="0"/>
              <a:t> </a:t>
            </a:r>
            <a:r>
              <a:rPr dirty="0" err="1"/>
              <a:t>klinické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. Co </a:t>
            </a:r>
            <a:r>
              <a:rPr dirty="0" err="1"/>
              <a:t>přesně</a:t>
            </a:r>
            <a:r>
              <a:rPr dirty="0"/>
              <a:t> </a:t>
            </a:r>
            <a:r>
              <a:rPr dirty="0" err="1"/>
              <a:t>myslíme</a:t>
            </a:r>
            <a:r>
              <a:rPr dirty="0"/>
              <a:t> </a:t>
            </a:r>
            <a:r>
              <a:rPr dirty="0" err="1"/>
              <a:t>stadiem</a:t>
            </a:r>
            <a:r>
              <a:rPr dirty="0"/>
              <a:t>? Je to </a:t>
            </a:r>
            <a:r>
              <a:rPr dirty="0" err="1"/>
              <a:t>stav</a:t>
            </a:r>
            <a:r>
              <a:rPr dirty="0"/>
              <a:t> </a:t>
            </a:r>
            <a:r>
              <a:rPr dirty="0" err="1"/>
              <a:t>při</a:t>
            </a:r>
            <a:r>
              <a:rPr dirty="0"/>
              <a:t> </a:t>
            </a:r>
            <a:r>
              <a:rPr dirty="0" err="1"/>
              <a:t>první</a:t>
            </a:r>
            <a:r>
              <a:rPr dirty="0"/>
              <a:t> </a:t>
            </a:r>
            <a:r>
              <a:rPr dirty="0" err="1"/>
              <a:t>diagnóze</a:t>
            </a:r>
            <a:r>
              <a:rPr dirty="0"/>
              <a:t>,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pozdější</a:t>
            </a:r>
            <a:r>
              <a:rPr dirty="0"/>
              <a:t> </a:t>
            </a:r>
            <a:r>
              <a:rPr dirty="0" err="1"/>
              <a:t>vývoj</a:t>
            </a:r>
            <a:r>
              <a:rPr dirty="0"/>
              <a:t>? Jak </a:t>
            </a:r>
            <a:r>
              <a:rPr dirty="0" err="1"/>
              <a:t>popisujeme</a:t>
            </a:r>
            <a:r>
              <a:rPr dirty="0"/>
              <a:t> </a:t>
            </a:r>
            <a:r>
              <a:rPr dirty="0" err="1"/>
              <a:t>léčbu</a:t>
            </a:r>
            <a:r>
              <a:rPr dirty="0"/>
              <a:t> a </a:t>
            </a:r>
            <a:r>
              <a:rPr dirty="0" err="1"/>
              <a:t>odpověď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? </a:t>
            </a:r>
            <a:r>
              <a:rPr dirty="0" err="1"/>
              <a:t>Datový</a:t>
            </a:r>
            <a:r>
              <a:rPr dirty="0"/>
              <a:t> model </a:t>
            </a:r>
            <a:r>
              <a:rPr dirty="0" err="1"/>
              <a:t>určuje</a:t>
            </a:r>
            <a:r>
              <a:rPr dirty="0"/>
              <a:t> </a:t>
            </a:r>
            <a:r>
              <a:rPr dirty="0" err="1"/>
              <a:t>pojmy</a:t>
            </a:r>
            <a:r>
              <a:rPr dirty="0"/>
              <a:t> a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vztahy</a:t>
            </a:r>
            <a:r>
              <a:rPr dirty="0"/>
              <a:t>.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tomu</a:t>
            </a:r>
            <a:r>
              <a:rPr dirty="0"/>
              <a:t>, aby </a:t>
            </a:r>
            <a:r>
              <a:rPr dirty="0" err="1"/>
              <a:t>podobné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měly</a:t>
            </a:r>
            <a:r>
              <a:rPr dirty="0"/>
              <a:t> </a:t>
            </a:r>
            <a:r>
              <a:rPr dirty="0" err="1"/>
              <a:t>mezi</a:t>
            </a:r>
            <a:r>
              <a:rPr dirty="0"/>
              <a:t> </a:t>
            </a:r>
            <a:r>
              <a:rPr dirty="0" err="1"/>
              <a:t>projekty</a:t>
            </a:r>
            <a:r>
              <a:rPr dirty="0"/>
              <a:t> </a:t>
            </a:r>
            <a:r>
              <a:rPr dirty="0" err="1"/>
              <a:t>stejný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. </a:t>
            </a:r>
            <a:r>
              <a:rPr dirty="0" err="1"/>
              <a:t>Takový</a:t>
            </a:r>
            <a:r>
              <a:rPr dirty="0"/>
              <a:t> </a:t>
            </a:r>
            <a:r>
              <a:rPr dirty="0" err="1"/>
              <a:t>základ</a:t>
            </a:r>
            <a:r>
              <a:rPr dirty="0"/>
              <a:t> </a:t>
            </a:r>
            <a:r>
              <a:rPr dirty="0" err="1"/>
              <a:t>podporuje</a:t>
            </a:r>
            <a:r>
              <a:rPr dirty="0"/>
              <a:t> </a:t>
            </a:r>
            <a:r>
              <a:rPr dirty="0" err="1"/>
              <a:t>propojení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 pro </a:t>
            </a:r>
            <a:r>
              <a:rPr dirty="0" err="1"/>
              <a:t>péči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následné</a:t>
            </a:r>
            <a:r>
              <a:rPr dirty="0"/>
              <a:t> </a:t>
            </a:r>
            <a:r>
              <a:rPr dirty="0" err="1"/>
              <a:t>využití</a:t>
            </a:r>
            <a:r>
              <a:rPr dirty="0"/>
              <a:t>. </a:t>
            </a:r>
            <a:r>
              <a:rPr dirty="0" err="1"/>
              <a:t>Právě</a:t>
            </a:r>
            <a:r>
              <a:rPr dirty="0"/>
              <a:t> </a:t>
            </a:r>
            <a:r>
              <a:rPr dirty="0" err="1"/>
              <a:t>této</a:t>
            </a:r>
            <a:r>
              <a:rPr dirty="0"/>
              <a:t> </a:t>
            </a:r>
            <a:r>
              <a:rPr dirty="0" err="1"/>
              <a:t>potřebě</a:t>
            </a:r>
            <a:r>
              <a:rPr dirty="0"/>
              <a:t> se </a:t>
            </a:r>
            <a:r>
              <a:rPr dirty="0" err="1"/>
              <a:t>věnuje</a:t>
            </a:r>
            <a:r>
              <a:rPr dirty="0"/>
              <a:t> </a:t>
            </a:r>
            <a:r>
              <a:rPr dirty="0" err="1"/>
              <a:t>evropský</a:t>
            </a:r>
            <a:r>
              <a:rPr dirty="0"/>
              <a:t> Cancer Common. Následující </a:t>
            </a:r>
            <a:r>
              <a:rPr dirty="0" err="1"/>
              <a:t>snímky</a:t>
            </a:r>
            <a:r>
              <a:rPr dirty="0"/>
              <a:t> </a:t>
            </a:r>
            <a:r>
              <a:rPr dirty="0" err="1"/>
              <a:t>představí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záměr</a:t>
            </a:r>
            <a:r>
              <a:rPr dirty="0"/>
              <a:t>, </a:t>
            </a:r>
            <a:r>
              <a:rPr dirty="0" err="1"/>
              <a:t>obsah</a:t>
            </a:r>
            <a:r>
              <a:rPr dirty="0"/>
              <a:t> a </a:t>
            </a:r>
            <a:r>
              <a:rPr dirty="0" err="1"/>
              <a:t>vztah</a:t>
            </a:r>
            <a:r>
              <a:rPr dirty="0"/>
              <a:t> k </a:t>
            </a:r>
            <a:r>
              <a:rPr dirty="0" err="1"/>
              <a:t>mCODE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630 s.</a:t>
            </a:r>
          </a:p>
          <a:p>
            <a:endParaRPr dirty="0"/>
          </a:p>
          <a:p>
            <a:r>
              <a:rPr dirty="0"/>
              <a:t>ECCDM je European Cancer Common Data Model. HL7 Europe </a:t>
            </a:r>
            <a:r>
              <a:rPr dirty="0" err="1"/>
              <a:t>jej</a:t>
            </a:r>
            <a:r>
              <a:rPr dirty="0"/>
              <a:t> </a:t>
            </a:r>
            <a:r>
              <a:rPr dirty="0" err="1"/>
              <a:t>publikuje</a:t>
            </a:r>
            <a:r>
              <a:rPr dirty="0"/>
              <a:t> v </a:t>
            </a:r>
            <a:r>
              <a:rPr dirty="0" err="1"/>
              <a:t>příručce</a:t>
            </a:r>
            <a:r>
              <a:rPr dirty="0"/>
              <a:t> Common Cancer Model.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ambicí</a:t>
            </a:r>
            <a:r>
              <a:rPr dirty="0"/>
              <a:t> je </a:t>
            </a:r>
            <a:r>
              <a:rPr dirty="0" err="1"/>
              <a:t>nabídnout</a:t>
            </a:r>
            <a:r>
              <a:rPr dirty="0"/>
              <a:t> </a:t>
            </a:r>
            <a:r>
              <a:rPr dirty="0" err="1"/>
              <a:t>minimální</a:t>
            </a:r>
            <a:r>
              <a:rPr dirty="0"/>
              <a:t>, </a:t>
            </a:r>
            <a:r>
              <a:rPr dirty="0" err="1"/>
              <a:t>společný</a:t>
            </a:r>
            <a:r>
              <a:rPr dirty="0"/>
              <a:t> a </a:t>
            </a:r>
            <a:r>
              <a:rPr dirty="0" err="1"/>
              <a:t>postupně</a:t>
            </a:r>
            <a:r>
              <a:rPr dirty="0"/>
              <a:t> </a:t>
            </a:r>
            <a:r>
              <a:rPr dirty="0" err="1"/>
              <a:t>rozšiřitelný</a:t>
            </a:r>
            <a:r>
              <a:rPr dirty="0"/>
              <a:t> </a:t>
            </a:r>
            <a:r>
              <a:rPr dirty="0" err="1"/>
              <a:t>základ</a:t>
            </a:r>
            <a:r>
              <a:rPr dirty="0"/>
              <a:t> </a:t>
            </a:r>
            <a:r>
              <a:rPr dirty="0" err="1"/>
              <a:t>onkologických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Vychází</a:t>
            </a:r>
            <a:r>
              <a:rPr dirty="0"/>
              <a:t> ze </a:t>
            </a:r>
            <a:r>
              <a:rPr dirty="0" err="1"/>
              <a:t>zkušeností</a:t>
            </a:r>
            <a:r>
              <a:rPr dirty="0"/>
              <a:t> </a:t>
            </a:r>
            <a:r>
              <a:rPr dirty="0" err="1"/>
              <a:t>evropských</a:t>
            </a:r>
            <a:r>
              <a:rPr dirty="0"/>
              <a:t> a </a:t>
            </a:r>
            <a:r>
              <a:rPr dirty="0" err="1"/>
              <a:t>dalších</a:t>
            </a:r>
            <a:r>
              <a:rPr dirty="0"/>
              <a:t> </a:t>
            </a:r>
            <a:r>
              <a:rPr dirty="0" err="1"/>
              <a:t>iniciativ</a:t>
            </a:r>
            <a:r>
              <a:rPr dirty="0"/>
              <a:t> a </a:t>
            </a:r>
            <a:r>
              <a:rPr dirty="0" err="1"/>
              <a:t>zohledňuje</a:t>
            </a:r>
            <a:r>
              <a:rPr dirty="0"/>
              <a:t> </a:t>
            </a:r>
            <a:r>
              <a:rPr dirty="0" err="1"/>
              <a:t>také</a:t>
            </a:r>
            <a:r>
              <a:rPr dirty="0"/>
              <a:t> </a:t>
            </a:r>
            <a:r>
              <a:rPr dirty="0" err="1"/>
              <a:t>mCODE</a:t>
            </a:r>
            <a:r>
              <a:rPr dirty="0"/>
              <a:t>. Model je </a:t>
            </a:r>
            <a:r>
              <a:rPr dirty="0" err="1"/>
              <a:t>nezávislý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jednom</a:t>
            </a:r>
            <a:r>
              <a:rPr dirty="0"/>
              <a:t> </a:t>
            </a:r>
            <a:r>
              <a:rPr dirty="0" err="1"/>
              <a:t>konkrétním</a:t>
            </a:r>
            <a:r>
              <a:rPr dirty="0"/>
              <a:t> </a:t>
            </a:r>
            <a:r>
              <a:rPr dirty="0" err="1"/>
              <a:t>nádoru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reprezentaci</a:t>
            </a:r>
            <a:r>
              <a:rPr dirty="0"/>
              <a:t>. </a:t>
            </a:r>
            <a:r>
              <a:rPr dirty="0" err="1"/>
              <a:t>Publikace</a:t>
            </a:r>
            <a:r>
              <a:rPr dirty="0"/>
              <a:t> </a:t>
            </a:r>
            <a:r>
              <a:rPr dirty="0" err="1"/>
              <a:t>podporuje</a:t>
            </a:r>
            <a:r>
              <a:rPr dirty="0"/>
              <a:t> </a:t>
            </a:r>
            <a:r>
              <a:rPr dirty="0" err="1"/>
              <a:t>výhled</a:t>
            </a:r>
            <a:r>
              <a:rPr dirty="0"/>
              <a:t> </a:t>
            </a:r>
            <a:r>
              <a:rPr dirty="0" err="1"/>
              <a:t>převodu</a:t>
            </a:r>
            <a:r>
              <a:rPr dirty="0"/>
              <a:t> do FHIR a </a:t>
            </a:r>
            <a:r>
              <a:rPr dirty="0" err="1"/>
              <a:t>také</a:t>
            </a:r>
            <a:r>
              <a:rPr dirty="0"/>
              <a:t> do OMOP, </a:t>
            </a:r>
            <a:r>
              <a:rPr dirty="0" err="1"/>
              <a:t>který</a:t>
            </a:r>
            <a:r>
              <a:rPr dirty="0"/>
              <a:t> se </a:t>
            </a:r>
            <a:r>
              <a:rPr dirty="0" err="1"/>
              <a:t>používá</a:t>
            </a:r>
            <a:r>
              <a:rPr dirty="0"/>
              <a:t> pro </a:t>
            </a:r>
            <a:r>
              <a:rPr dirty="0" err="1"/>
              <a:t>výzkumná</a:t>
            </a:r>
            <a:r>
              <a:rPr dirty="0"/>
              <a:t> data. K datu </a:t>
            </a:r>
            <a:r>
              <a:rPr dirty="0" err="1"/>
              <a:t>přípravy</a:t>
            </a:r>
            <a:r>
              <a:rPr dirty="0"/>
              <a:t> </a:t>
            </a:r>
            <a:r>
              <a:rPr dirty="0" err="1"/>
              <a:t>využíváme</a:t>
            </a:r>
            <a:r>
              <a:rPr dirty="0"/>
              <a:t> </a:t>
            </a:r>
            <a:r>
              <a:rPr dirty="0" err="1"/>
              <a:t>verzi</a:t>
            </a:r>
            <a:r>
              <a:rPr dirty="0"/>
              <a:t> 1.0.0-ballot. </a:t>
            </a:r>
            <a:r>
              <a:rPr dirty="0" err="1"/>
              <a:t>Jde</a:t>
            </a:r>
            <a:r>
              <a:rPr dirty="0"/>
              <a:t> o model </a:t>
            </a:r>
            <a:r>
              <a:rPr dirty="0" err="1"/>
              <a:t>předložený</a:t>
            </a:r>
            <a:r>
              <a:rPr dirty="0"/>
              <a:t> k </a:t>
            </a:r>
            <a:r>
              <a:rPr dirty="0" err="1"/>
              <a:t>posouzení</a:t>
            </a:r>
            <a:r>
              <a:rPr dirty="0"/>
              <a:t>, </a:t>
            </a:r>
            <a:r>
              <a:rPr dirty="0" err="1"/>
              <a:t>nikoli</a:t>
            </a:r>
            <a:r>
              <a:rPr dirty="0"/>
              <a:t> </a:t>
            </a:r>
            <a:r>
              <a:rPr dirty="0" err="1"/>
              <a:t>finální</a:t>
            </a:r>
            <a:r>
              <a:rPr dirty="0"/>
              <a:t> </a:t>
            </a:r>
            <a:r>
              <a:rPr dirty="0" err="1"/>
              <a:t>normativní</a:t>
            </a:r>
            <a:r>
              <a:rPr dirty="0"/>
              <a:t> </a:t>
            </a:r>
            <a:r>
              <a:rPr dirty="0" err="1"/>
              <a:t>implementaci</a:t>
            </a:r>
            <a:r>
              <a:rPr dirty="0"/>
              <a:t>. </a:t>
            </a:r>
            <a:r>
              <a:rPr dirty="0" err="1"/>
              <a:t>Implementační</a:t>
            </a:r>
            <a:r>
              <a:rPr dirty="0"/>
              <a:t> </a:t>
            </a:r>
            <a:r>
              <a:rPr dirty="0" err="1"/>
              <a:t>části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informativní</a:t>
            </a:r>
            <a:r>
              <a:rPr dirty="0"/>
              <a:t> </a:t>
            </a:r>
            <a:r>
              <a:rPr dirty="0" err="1"/>
              <a:t>charakter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artifacts.html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1658-F401-2BE4-31B3-05836681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DE437-F722-7AEE-D028-3CB5EE3B9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2A235-855F-8DE7-9490-DDABA1703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720 s.</a:t>
            </a:r>
          </a:p>
          <a:p>
            <a:endParaRPr dirty="0"/>
          </a:p>
          <a:p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odděluje</a:t>
            </a:r>
            <a:r>
              <a:rPr dirty="0"/>
              <a:t> </a:t>
            </a:r>
            <a:r>
              <a:rPr dirty="0" err="1"/>
              <a:t>několik</a:t>
            </a:r>
            <a:r>
              <a:rPr dirty="0"/>
              <a:t> </a:t>
            </a:r>
            <a:r>
              <a:rPr dirty="0" err="1"/>
              <a:t>oblastí</a:t>
            </a:r>
            <a:r>
              <a:rPr dirty="0"/>
              <a:t>, </a:t>
            </a:r>
            <a:r>
              <a:rPr dirty="0" err="1"/>
              <a:t>které</a:t>
            </a:r>
            <a:r>
              <a:rPr dirty="0"/>
              <a:t> se </a:t>
            </a:r>
            <a:r>
              <a:rPr dirty="0" err="1"/>
              <a:t>často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volném</a:t>
            </a:r>
            <a:r>
              <a:rPr dirty="0"/>
              <a:t> </a:t>
            </a:r>
            <a:r>
              <a:rPr dirty="0" err="1"/>
              <a:t>textu</a:t>
            </a:r>
            <a:r>
              <a:rPr dirty="0"/>
              <a:t> </a:t>
            </a:r>
            <a:r>
              <a:rPr dirty="0" err="1"/>
              <a:t>prolínají</a:t>
            </a:r>
            <a:r>
              <a:rPr dirty="0"/>
              <a:t>. </a:t>
            </a:r>
            <a:r>
              <a:rPr dirty="0" err="1"/>
              <a:t>Pacient</a:t>
            </a:r>
            <a:r>
              <a:rPr dirty="0"/>
              <a:t> je </a:t>
            </a:r>
            <a:r>
              <a:rPr dirty="0" err="1"/>
              <a:t>osobou</a:t>
            </a:r>
            <a:r>
              <a:rPr dirty="0"/>
              <a:t>, o </a:t>
            </a:r>
            <a:r>
              <a:rPr dirty="0" err="1"/>
              <a:t>níž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vedeme</a:t>
            </a:r>
            <a:r>
              <a:rPr dirty="0"/>
              <a:t>. </a:t>
            </a:r>
            <a:r>
              <a:rPr dirty="0" err="1"/>
              <a:t>Onkologická</a:t>
            </a:r>
            <a:r>
              <a:rPr dirty="0"/>
              <a:t> </a:t>
            </a:r>
            <a:r>
              <a:rPr dirty="0" err="1"/>
              <a:t>diagnóza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a stadium. </a:t>
            </a:r>
            <a:r>
              <a:rPr dirty="0" err="1"/>
              <a:t>Léčebné</a:t>
            </a:r>
            <a:r>
              <a:rPr dirty="0"/>
              <a:t> </a:t>
            </a:r>
            <a:r>
              <a:rPr dirty="0" err="1"/>
              <a:t>epizody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časový</a:t>
            </a:r>
            <a:r>
              <a:rPr dirty="0"/>
              <a:t> </a:t>
            </a:r>
            <a:r>
              <a:rPr dirty="0" err="1"/>
              <a:t>rozsah</a:t>
            </a:r>
            <a:r>
              <a:rPr dirty="0"/>
              <a:t> a </a:t>
            </a:r>
            <a:r>
              <a:rPr dirty="0" err="1"/>
              <a:t>souvislost</a:t>
            </a:r>
            <a:r>
              <a:rPr dirty="0"/>
              <a:t> s </a:t>
            </a:r>
            <a:r>
              <a:rPr dirty="0" err="1"/>
              <a:t>onemocněním</a:t>
            </a:r>
            <a:r>
              <a:rPr dirty="0"/>
              <a:t>. </a:t>
            </a:r>
            <a:r>
              <a:rPr dirty="0" err="1"/>
              <a:t>Pozdější</a:t>
            </a:r>
            <a:r>
              <a:rPr dirty="0"/>
              <a:t> </a:t>
            </a:r>
            <a:r>
              <a:rPr dirty="0" err="1"/>
              <a:t>hodnocení</a:t>
            </a:r>
            <a:r>
              <a:rPr dirty="0"/>
              <a:t> </a:t>
            </a:r>
            <a:r>
              <a:rPr dirty="0" err="1"/>
              <a:t>dokumentuje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vývoj</a:t>
            </a:r>
            <a:r>
              <a:rPr dirty="0"/>
              <a:t> a </a:t>
            </a:r>
            <a:r>
              <a:rPr dirty="0" err="1"/>
              <a:t>odpověď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léčbu</a:t>
            </a:r>
            <a:r>
              <a:rPr dirty="0"/>
              <a:t>. </a:t>
            </a:r>
            <a:r>
              <a:rPr dirty="0" err="1"/>
              <a:t>Takové</a:t>
            </a:r>
            <a:r>
              <a:rPr dirty="0"/>
              <a:t> </a:t>
            </a:r>
            <a:r>
              <a:rPr dirty="0" err="1"/>
              <a:t>rozlišení</a:t>
            </a:r>
            <a:r>
              <a:rPr dirty="0"/>
              <a:t>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zachovat</a:t>
            </a:r>
            <a:r>
              <a:rPr dirty="0"/>
              <a:t> </a:t>
            </a:r>
            <a:r>
              <a:rPr dirty="0" err="1"/>
              <a:t>historii</a:t>
            </a:r>
            <a:r>
              <a:rPr dirty="0"/>
              <a:t>. </a:t>
            </a:r>
            <a:r>
              <a:rPr dirty="0" err="1"/>
              <a:t>Počáteční</a:t>
            </a:r>
            <a:r>
              <a:rPr dirty="0"/>
              <a:t> stadium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současným</a:t>
            </a:r>
            <a:r>
              <a:rPr dirty="0"/>
              <a:t> </a:t>
            </a:r>
            <a:r>
              <a:rPr dirty="0" err="1"/>
              <a:t>stavem</a:t>
            </a:r>
            <a:r>
              <a:rPr dirty="0"/>
              <a:t>. Model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mimo</a:t>
            </a:r>
            <a:r>
              <a:rPr dirty="0"/>
              <a:t> </a:t>
            </a:r>
            <a:r>
              <a:rPr dirty="0" err="1"/>
              <a:t>jiné</a:t>
            </a:r>
            <a:r>
              <a:rPr dirty="0"/>
              <a:t> </a:t>
            </a:r>
            <a:r>
              <a:rPr dirty="0" err="1"/>
              <a:t>CancerConditionAtDiagnosis</a:t>
            </a:r>
            <a:r>
              <a:rPr dirty="0"/>
              <a:t>, </a:t>
            </a:r>
            <a:r>
              <a:rPr dirty="0" err="1"/>
              <a:t>CancerStage</a:t>
            </a:r>
            <a:r>
              <a:rPr dirty="0"/>
              <a:t>, Surgery, Radiotherapy, </a:t>
            </a:r>
            <a:r>
              <a:rPr dirty="0" err="1"/>
              <a:t>SystemicTreatment</a:t>
            </a:r>
            <a:r>
              <a:rPr dirty="0"/>
              <a:t>, </a:t>
            </a:r>
            <a:r>
              <a:rPr dirty="0" err="1"/>
              <a:t>ClinicalCancerProgression</a:t>
            </a:r>
            <a:r>
              <a:rPr dirty="0"/>
              <a:t>, </a:t>
            </a:r>
            <a:r>
              <a:rPr dirty="0" err="1"/>
              <a:t>OverallCancerTreatmentResponse</a:t>
            </a:r>
            <a:r>
              <a:rPr dirty="0"/>
              <a:t> a </a:t>
            </a:r>
            <a:r>
              <a:rPr dirty="0" err="1"/>
              <a:t>LastFollowUp</a:t>
            </a:r>
            <a:r>
              <a:rPr dirty="0"/>
              <a:t>. Technické </a:t>
            </a:r>
            <a:r>
              <a:rPr dirty="0" err="1"/>
              <a:t>názvy</a:t>
            </a:r>
            <a:r>
              <a:rPr dirty="0"/>
              <a:t> </a:t>
            </a:r>
            <a:r>
              <a:rPr dirty="0" err="1"/>
              <a:t>slouží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</a:t>
            </a:r>
            <a:r>
              <a:rPr dirty="0" err="1"/>
              <a:t>rozcestník</a:t>
            </a:r>
            <a:r>
              <a:rPr dirty="0"/>
              <a:t> v </a:t>
            </a:r>
            <a:r>
              <a:rPr dirty="0" err="1"/>
              <a:t>dokumentaci</a:t>
            </a:r>
            <a:r>
              <a:rPr dirty="0"/>
              <a:t>, </a:t>
            </a:r>
            <a:r>
              <a:rPr dirty="0" err="1"/>
              <a:t>hlavní</a:t>
            </a:r>
            <a:r>
              <a:rPr dirty="0"/>
              <a:t> je </a:t>
            </a:r>
            <a:r>
              <a:rPr dirty="0" err="1"/>
              <a:t>pochopení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oblastí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artifacts.html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StructureDefinition-ClinicalCancerProgression.html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1C16D-6D4E-CB4A-E1A6-CB442DAB17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8208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97C2-C205-420C-1E97-A130CF7D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9A1BF-6BF1-D4BE-1D4C-013C8617C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06A6B-1C19-EDB4-28F6-61F86ACFE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720 s.</a:t>
            </a:r>
          </a:p>
          <a:p>
            <a:endParaRPr dirty="0"/>
          </a:p>
          <a:p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odděluje</a:t>
            </a:r>
            <a:r>
              <a:rPr dirty="0"/>
              <a:t> </a:t>
            </a:r>
            <a:r>
              <a:rPr dirty="0" err="1"/>
              <a:t>několik</a:t>
            </a:r>
            <a:r>
              <a:rPr dirty="0"/>
              <a:t> </a:t>
            </a:r>
            <a:r>
              <a:rPr dirty="0" err="1"/>
              <a:t>oblastí</a:t>
            </a:r>
            <a:r>
              <a:rPr dirty="0"/>
              <a:t>, </a:t>
            </a:r>
            <a:r>
              <a:rPr dirty="0" err="1"/>
              <a:t>které</a:t>
            </a:r>
            <a:r>
              <a:rPr dirty="0"/>
              <a:t> se </a:t>
            </a:r>
            <a:r>
              <a:rPr dirty="0" err="1"/>
              <a:t>často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volném</a:t>
            </a:r>
            <a:r>
              <a:rPr dirty="0"/>
              <a:t> </a:t>
            </a:r>
            <a:r>
              <a:rPr dirty="0" err="1"/>
              <a:t>textu</a:t>
            </a:r>
            <a:r>
              <a:rPr dirty="0"/>
              <a:t> </a:t>
            </a:r>
            <a:r>
              <a:rPr dirty="0" err="1"/>
              <a:t>prolínají</a:t>
            </a:r>
            <a:r>
              <a:rPr dirty="0"/>
              <a:t>. </a:t>
            </a:r>
            <a:r>
              <a:rPr dirty="0" err="1"/>
              <a:t>Pacient</a:t>
            </a:r>
            <a:r>
              <a:rPr dirty="0"/>
              <a:t> je </a:t>
            </a:r>
            <a:r>
              <a:rPr dirty="0" err="1"/>
              <a:t>osobou</a:t>
            </a:r>
            <a:r>
              <a:rPr dirty="0"/>
              <a:t>, o </a:t>
            </a:r>
            <a:r>
              <a:rPr dirty="0" err="1"/>
              <a:t>níž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vedeme</a:t>
            </a:r>
            <a:r>
              <a:rPr dirty="0"/>
              <a:t>. </a:t>
            </a:r>
            <a:r>
              <a:rPr dirty="0" err="1"/>
              <a:t>Onkologická</a:t>
            </a:r>
            <a:r>
              <a:rPr dirty="0"/>
              <a:t> </a:t>
            </a:r>
            <a:r>
              <a:rPr dirty="0" err="1"/>
              <a:t>diagnóza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a stadium. </a:t>
            </a:r>
            <a:r>
              <a:rPr dirty="0" err="1"/>
              <a:t>Léčebné</a:t>
            </a:r>
            <a:r>
              <a:rPr dirty="0"/>
              <a:t> </a:t>
            </a:r>
            <a:r>
              <a:rPr dirty="0" err="1"/>
              <a:t>epizody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časový</a:t>
            </a:r>
            <a:r>
              <a:rPr dirty="0"/>
              <a:t> </a:t>
            </a:r>
            <a:r>
              <a:rPr dirty="0" err="1"/>
              <a:t>rozsah</a:t>
            </a:r>
            <a:r>
              <a:rPr dirty="0"/>
              <a:t> a </a:t>
            </a:r>
            <a:r>
              <a:rPr dirty="0" err="1"/>
              <a:t>souvislost</a:t>
            </a:r>
            <a:r>
              <a:rPr dirty="0"/>
              <a:t> s </a:t>
            </a:r>
            <a:r>
              <a:rPr dirty="0" err="1"/>
              <a:t>onemocněním</a:t>
            </a:r>
            <a:r>
              <a:rPr dirty="0"/>
              <a:t>. </a:t>
            </a:r>
            <a:r>
              <a:rPr dirty="0" err="1"/>
              <a:t>Pozdější</a:t>
            </a:r>
            <a:r>
              <a:rPr dirty="0"/>
              <a:t> </a:t>
            </a:r>
            <a:r>
              <a:rPr dirty="0" err="1"/>
              <a:t>hodnocení</a:t>
            </a:r>
            <a:r>
              <a:rPr dirty="0"/>
              <a:t> </a:t>
            </a:r>
            <a:r>
              <a:rPr dirty="0" err="1"/>
              <a:t>dokumentuje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vývoj</a:t>
            </a:r>
            <a:r>
              <a:rPr dirty="0"/>
              <a:t> a </a:t>
            </a:r>
            <a:r>
              <a:rPr dirty="0" err="1"/>
              <a:t>odpověď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léčbu</a:t>
            </a:r>
            <a:r>
              <a:rPr dirty="0"/>
              <a:t>. </a:t>
            </a:r>
            <a:r>
              <a:rPr dirty="0" err="1"/>
              <a:t>Takové</a:t>
            </a:r>
            <a:r>
              <a:rPr dirty="0"/>
              <a:t> </a:t>
            </a:r>
            <a:r>
              <a:rPr dirty="0" err="1"/>
              <a:t>rozlišení</a:t>
            </a:r>
            <a:r>
              <a:rPr dirty="0"/>
              <a:t>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zachovat</a:t>
            </a:r>
            <a:r>
              <a:rPr dirty="0"/>
              <a:t> </a:t>
            </a:r>
            <a:r>
              <a:rPr dirty="0" err="1"/>
              <a:t>historii</a:t>
            </a:r>
            <a:r>
              <a:rPr dirty="0"/>
              <a:t>. </a:t>
            </a:r>
            <a:r>
              <a:rPr dirty="0" err="1"/>
              <a:t>Počáteční</a:t>
            </a:r>
            <a:r>
              <a:rPr dirty="0"/>
              <a:t> stadium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současným</a:t>
            </a:r>
            <a:r>
              <a:rPr dirty="0"/>
              <a:t> </a:t>
            </a:r>
            <a:r>
              <a:rPr dirty="0" err="1"/>
              <a:t>stavem</a:t>
            </a:r>
            <a:r>
              <a:rPr dirty="0"/>
              <a:t>. Model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mimo</a:t>
            </a:r>
            <a:r>
              <a:rPr dirty="0"/>
              <a:t> </a:t>
            </a:r>
            <a:r>
              <a:rPr dirty="0" err="1"/>
              <a:t>jiné</a:t>
            </a:r>
            <a:r>
              <a:rPr dirty="0"/>
              <a:t> </a:t>
            </a:r>
            <a:r>
              <a:rPr dirty="0" err="1"/>
              <a:t>CancerConditionAtDiagnosis</a:t>
            </a:r>
            <a:r>
              <a:rPr dirty="0"/>
              <a:t>, </a:t>
            </a:r>
            <a:r>
              <a:rPr dirty="0" err="1"/>
              <a:t>CancerStage</a:t>
            </a:r>
            <a:r>
              <a:rPr dirty="0"/>
              <a:t>, Surgery, Radiotherapy, </a:t>
            </a:r>
            <a:r>
              <a:rPr dirty="0" err="1"/>
              <a:t>SystemicTreatment</a:t>
            </a:r>
            <a:r>
              <a:rPr dirty="0"/>
              <a:t>, </a:t>
            </a:r>
            <a:r>
              <a:rPr dirty="0" err="1"/>
              <a:t>ClinicalCancerProgression</a:t>
            </a:r>
            <a:r>
              <a:rPr dirty="0"/>
              <a:t>, </a:t>
            </a:r>
            <a:r>
              <a:rPr dirty="0" err="1"/>
              <a:t>OverallCancerTreatmentResponse</a:t>
            </a:r>
            <a:r>
              <a:rPr dirty="0"/>
              <a:t> a </a:t>
            </a:r>
            <a:r>
              <a:rPr dirty="0" err="1"/>
              <a:t>LastFollowUp</a:t>
            </a:r>
            <a:r>
              <a:rPr dirty="0"/>
              <a:t>. Technické </a:t>
            </a:r>
            <a:r>
              <a:rPr dirty="0" err="1"/>
              <a:t>názvy</a:t>
            </a:r>
            <a:r>
              <a:rPr dirty="0"/>
              <a:t> </a:t>
            </a:r>
            <a:r>
              <a:rPr dirty="0" err="1"/>
              <a:t>slouží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</a:t>
            </a:r>
            <a:r>
              <a:rPr dirty="0" err="1"/>
              <a:t>rozcestník</a:t>
            </a:r>
            <a:r>
              <a:rPr dirty="0"/>
              <a:t> v </a:t>
            </a:r>
            <a:r>
              <a:rPr dirty="0" err="1"/>
              <a:t>dokumentaci</a:t>
            </a:r>
            <a:r>
              <a:rPr dirty="0"/>
              <a:t>, </a:t>
            </a:r>
            <a:r>
              <a:rPr dirty="0" err="1"/>
              <a:t>hlavní</a:t>
            </a:r>
            <a:r>
              <a:rPr dirty="0"/>
              <a:t> je </a:t>
            </a:r>
            <a:r>
              <a:rPr dirty="0" err="1"/>
              <a:t>pochopení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oblastí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artifacts.html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StructureDefinition-ClinicalCancerProgression.html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D0B6-6B35-6A47-8377-840A74FFBF2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8305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720 s.</a:t>
            </a:r>
          </a:p>
          <a:p>
            <a:endParaRPr dirty="0"/>
          </a:p>
          <a:p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odděluje</a:t>
            </a:r>
            <a:r>
              <a:rPr dirty="0"/>
              <a:t> </a:t>
            </a:r>
            <a:r>
              <a:rPr dirty="0" err="1"/>
              <a:t>několik</a:t>
            </a:r>
            <a:r>
              <a:rPr dirty="0"/>
              <a:t> </a:t>
            </a:r>
            <a:r>
              <a:rPr dirty="0" err="1"/>
              <a:t>oblastí</a:t>
            </a:r>
            <a:r>
              <a:rPr dirty="0"/>
              <a:t>, </a:t>
            </a:r>
            <a:r>
              <a:rPr dirty="0" err="1"/>
              <a:t>které</a:t>
            </a:r>
            <a:r>
              <a:rPr dirty="0"/>
              <a:t> se </a:t>
            </a:r>
            <a:r>
              <a:rPr dirty="0" err="1"/>
              <a:t>často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volném</a:t>
            </a:r>
            <a:r>
              <a:rPr dirty="0"/>
              <a:t> </a:t>
            </a:r>
            <a:r>
              <a:rPr dirty="0" err="1"/>
              <a:t>textu</a:t>
            </a:r>
            <a:r>
              <a:rPr dirty="0"/>
              <a:t> </a:t>
            </a:r>
            <a:r>
              <a:rPr dirty="0" err="1"/>
              <a:t>prolínají</a:t>
            </a:r>
            <a:r>
              <a:rPr dirty="0"/>
              <a:t>. </a:t>
            </a:r>
            <a:r>
              <a:rPr dirty="0" err="1"/>
              <a:t>Pacient</a:t>
            </a:r>
            <a:r>
              <a:rPr dirty="0"/>
              <a:t> je </a:t>
            </a:r>
            <a:r>
              <a:rPr dirty="0" err="1"/>
              <a:t>osobou</a:t>
            </a:r>
            <a:r>
              <a:rPr dirty="0"/>
              <a:t>, o </a:t>
            </a:r>
            <a:r>
              <a:rPr dirty="0" err="1"/>
              <a:t>níž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vedeme</a:t>
            </a:r>
            <a:r>
              <a:rPr dirty="0"/>
              <a:t>. </a:t>
            </a:r>
            <a:r>
              <a:rPr dirty="0" err="1"/>
              <a:t>Onkologická</a:t>
            </a:r>
            <a:r>
              <a:rPr dirty="0"/>
              <a:t> </a:t>
            </a:r>
            <a:r>
              <a:rPr dirty="0" err="1"/>
              <a:t>diagnóza</a:t>
            </a:r>
            <a:r>
              <a:rPr dirty="0"/>
              <a:t>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a stadium. </a:t>
            </a:r>
            <a:r>
              <a:rPr dirty="0" err="1"/>
              <a:t>Léčebné</a:t>
            </a:r>
            <a:r>
              <a:rPr dirty="0"/>
              <a:t> </a:t>
            </a:r>
            <a:r>
              <a:rPr dirty="0" err="1"/>
              <a:t>epizody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časový</a:t>
            </a:r>
            <a:r>
              <a:rPr dirty="0"/>
              <a:t> </a:t>
            </a:r>
            <a:r>
              <a:rPr dirty="0" err="1"/>
              <a:t>rozsah</a:t>
            </a:r>
            <a:r>
              <a:rPr dirty="0"/>
              <a:t> a </a:t>
            </a:r>
            <a:r>
              <a:rPr dirty="0" err="1"/>
              <a:t>souvislost</a:t>
            </a:r>
            <a:r>
              <a:rPr dirty="0"/>
              <a:t> s </a:t>
            </a:r>
            <a:r>
              <a:rPr dirty="0" err="1"/>
              <a:t>onemocněním</a:t>
            </a:r>
            <a:r>
              <a:rPr dirty="0"/>
              <a:t>. </a:t>
            </a:r>
            <a:r>
              <a:rPr dirty="0" err="1"/>
              <a:t>Pozdější</a:t>
            </a:r>
            <a:r>
              <a:rPr dirty="0"/>
              <a:t> </a:t>
            </a:r>
            <a:r>
              <a:rPr dirty="0" err="1"/>
              <a:t>hodnocení</a:t>
            </a:r>
            <a:r>
              <a:rPr dirty="0"/>
              <a:t> </a:t>
            </a:r>
            <a:r>
              <a:rPr dirty="0" err="1"/>
              <a:t>dokumentuje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vývoj</a:t>
            </a:r>
            <a:r>
              <a:rPr dirty="0"/>
              <a:t> a </a:t>
            </a:r>
            <a:r>
              <a:rPr dirty="0" err="1"/>
              <a:t>odpověď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léčbu</a:t>
            </a:r>
            <a:r>
              <a:rPr dirty="0"/>
              <a:t>. </a:t>
            </a:r>
            <a:r>
              <a:rPr dirty="0" err="1"/>
              <a:t>Takové</a:t>
            </a:r>
            <a:r>
              <a:rPr dirty="0"/>
              <a:t> </a:t>
            </a:r>
            <a:r>
              <a:rPr dirty="0" err="1"/>
              <a:t>rozlišení</a:t>
            </a:r>
            <a:r>
              <a:rPr dirty="0"/>
              <a:t>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zachovat</a:t>
            </a:r>
            <a:r>
              <a:rPr dirty="0"/>
              <a:t> </a:t>
            </a:r>
            <a:r>
              <a:rPr dirty="0" err="1"/>
              <a:t>historii</a:t>
            </a:r>
            <a:r>
              <a:rPr dirty="0"/>
              <a:t>. </a:t>
            </a:r>
            <a:r>
              <a:rPr dirty="0" err="1"/>
              <a:t>Počáteční</a:t>
            </a:r>
            <a:r>
              <a:rPr dirty="0"/>
              <a:t> stadium </a:t>
            </a:r>
            <a:r>
              <a:rPr dirty="0" err="1"/>
              <a:t>není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současným</a:t>
            </a:r>
            <a:r>
              <a:rPr dirty="0"/>
              <a:t> </a:t>
            </a:r>
            <a:r>
              <a:rPr dirty="0" err="1"/>
              <a:t>stavem</a:t>
            </a:r>
            <a:r>
              <a:rPr dirty="0"/>
              <a:t>. Model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mimo</a:t>
            </a:r>
            <a:r>
              <a:rPr dirty="0"/>
              <a:t> </a:t>
            </a:r>
            <a:r>
              <a:rPr dirty="0" err="1"/>
              <a:t>jiné</a:t>
            </a:r>
            <a:r>
              <a:rPr dirty="0"/>
              <a:t> </a:t>
            </a:r>
            <a:r>
              <a:rPr dirty="0" err="1"/>
              <a:t>CancerConditionAtDiagnosis</a:t>
            </a:r>
            <a:r>
              <a:rPr dirty="0"/>
              <a:t>, </a:t>
            </a:r>
            <a:r>
              <a:rPr dirty="0" err="1"/>
              <a:t>CancerStage</a:t>
            </a:r>
            <a:r>
              <a:rPr dirty="0"/>
              <a:t>, Surgery, Radiotherapy, </a:t>
            </a:r>
            <a:r>
              <a:rPr dirty="0" err="1"/>
              <a:t>SystemicTreatment</a:t>
            </a:r>
            <a:r>
              <a:rPr dirty="0"/>
              <a:t>, </a:t>
            </a:r>
            <a:r>
              <a:rPr dirty="0" err="1"/>
              <a:t>ClinicalCancerProgression</a:t>
            </a:r>
            <a:r>
              <a:rPr dirty="0"/>
              <a:t>, </a:t>
            </a:r>
            <a:r>
              <a:rPr dirty="0" err="1"/>
              <a:t>OverallCancerTreatmentResponse</a:t>
            </a:r>
            <a:r>
              <a:rPr dirty="0"/>
              <a:t> a </a:t>
            </a:r>
            <a:r>
              <a:rPr dirty="0" err="1"/>
              <a:t>LastFollowUp</a:t>
            </a:r>
            <a:r>
              <a:rPr dirty="0"/>
              <a:t>. Technické </a:t>
            </a:r>
            <a:r>
              <a:rPr dirty="0" err="1"/>
              <a:t>názvy</a:t>
            </a:r>
            <a:r>
              <a:rPr dirty="0"/>
              <a:t> </a:t>
            </a:r>
            <a:r>
              <a:rPr dirty="0" err="1"/>
              <a:t>slouží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</a:t>
            </a:r>
            <a:r>
              <a:rPr dirty="0" err="1"/>
              <a:t>rozcestník</a:t>
            </a:r>
            <a:r>
              <a:rPr dirty="0"/>
              <a:t> v </a:t>
            </a:r>
            <a:r>
              <a:rPr dirty="0" err="1"/>
              <a:t>dokumentaci</a:t>
            </a:r>
            <a:r>
              <a:rPr dirty="0"/>
              <a:t>, </a:t>
            </a:r>
            <a:r>
              <a:rPr dirty="0" err="1"/>
              <a:t>hlavní</a:t>
            </a:r>
            <a:r>
              <a:rPr dirty="0"/>
              <a:t> je </a:t>
            </a:r>
            <a:r>
              <a:rPr dirty="0" err="1"/>
              <a:t>pochopení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oblastí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artifacts.html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StructureDefinition-ClinicalCancerProgression.html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810 s.</a:t>
            </a:r>
          </a:p>
          <a:p>
            <a:endParaRPr dirty="0"/>
          </a:p>
          <a:p>
            <a:r>
              <a:rPr dirty="0" err="1"/>
              <a:t>Odkazovaný</a:t>
            </a:r>
            <a:r>
              <a:rPr dirty="0"/>
              <a:t>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, jak </a:t>
            </a:r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formálně</a:t>
            </a:r>
            <a:r>
              <a:rPr dirty="0"/>
              <a:t> </a:t>
            </a:r>
            <a:r>
              <a:rPr dirty="0" err="1"/>
              <a:t>popisuje</a:t>
            </a:r>
            <a:r>
              <a:rPr dirty="0"/>
              <a:t> </a:t>
            </a:r>
            <a:r>
              <a:rPr dirty="0" err="1"/>
              <a:t>základní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birthDate</a:t>
            </a:r>
            <a:r>
              <a:rPr dirty="0"/>
              <a:t>, </a:t>
            </a:r>
            <a:r>
              <a:rPr dirty="0" err="1"/>
              <a:t>sexAtBirth</a:t>
            </a:r>
            <a:r>
              <a:rPr dirty="0"/>
              <a:t>, </a:t>
            </a:r>
            <a:r>
              <a:rPr dirty="0" err="1"/>
              <a:t>observedSexGender</a:t>
            </a:r>
            <a:r>
              <a:rPr dirty="0"/>
              <a:t> a </a:t>
            </a:r>
            <a:r>
              <a:rPr dirty="0" err="1"/>
              <a:t>comorbiditiesAtCancerDiagnosis</a:t>
            </a:r>
            <a:r>
              <a:rPr dirty="0"/>
              <a:t>. V </a:t>
            </a:r>
            <a:r>
              <a:rPr dirty="0" err="1"/>
              <a:t>edukativním</a:t>
            </a:r>
            <a:r>
              <a:rPr dirty="0"/>
              <a:t> </a:t>
            </a:r>
            <a:r>
              <a:rPr dirty="0" err="1"/>
              <a:t>úvodu</a:t>
            </a:r>
            <a:r>
              <a:rPr dirty="0"/>
              <a:t> </a:t>
            </a:r>
            <a:r>
              <a:rPr dirty="0" err="1"/>
              <a:t>nám</a:t>
            </a:r>
            <a:r>
              <a:rPr dirty="0"/>
              <a:t> </a:t>
            </a:r>
            <a:r>
              <a:rPr dirty="0" err="1"/>
              <a:t>stačí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. </a:t>
            </a:r>
            <a:r>
              <a:rPr dirty="0" err="1"/>
              <a:t>Komorbidity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se </a:t>
            </a:r>
            <a:r>
              <a:rPr dirty="0" err="1"/>
              <a:t>vyskytují</a:t>
            </a:r>
            <a:r>
              <a:rPr dirty="0"/>
              <a:t> </a:t>
            </a:r>
            <a:r>
              <a:rPr dirty="0" err="1"/>
              <a:t>vedle</a:t>
            </a:r>
            <a:r>
              <a:rPr dirty="0"/>
              <a:t> </a:t>
            </a:r>
            <a:r>
              <a:rPr dirty="0" err="1"/>
              <a:t>hlavního</a:t>
            </a:r>
            <a:r>
              <a:rPr dirty="0"/>
              <a:t> </a:t>
            </a:r>
            <a:r>
              <a:rPr dirty="0" err="1"/>
              <a:t>onkologického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. </a:t>
            </a:r>
            <a:r>
              <a:rPr dirty="0" err="1"/>
              <a:t>Důležitá</a:t>
            </a:r>
            <a:r>
              <a:rPr dirty="0"/>
              <a:t> je </a:t>
            </a:r>
            <a:r>
              <a:rPr dirty="0" err="1"/>
              <a:t>hranice</a:t>
            </a:r>
            <a:r>
              <a:rPr dirty="0"/>
              <a:t> </a:t>
            </a:r>
            <a:r>
              <a:rPr dirty="0" err="1"/>
              <a:t>tohoto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: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sám</a:t>
            </a:r>
            <a:r>
              <a:rPr dirty="0"/>
              <a:t> </a:t>
            </a:r>
            <a:r>
              <a:rPr dirty="0" err="1"/>
              <a:t>neobsahuje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onkologický</a:t>
            </a:r>
            <a:r>
              <a:rPr dirty="0"/>
              <a:t> </a:t>
            </a:r>
            <a:r>
              <a:rPr dirty="0" err="1"/>
              <a:t>případ</a:t>
            </a:r>
            <a:r>
              <a:rPr dirty="0"/>
              <a:t>. </a:t>
            </a:r>
            <a:r>
              <a:rPr dirty="0" err="1"/>
              <a:t>Diagnóza</a:t>
            </a:r>
            <a:r>
              <a:rPr dirty="0"/>
              <a:t>, stadium a </a:t>
            </a:r>
            <a:r>
              <a:rPr dirty="0" err="1"/>
              <a:t>léčba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modely</a:t>
            </a:r>
            <a:r>
              <a:rPr dirty="0"/>
              <a:t> a </a:t>
            </a:r>
            <a:r>
              <a:rPr dirty="0" err="1"/>
              <a:t>vztahy</a:t>
            </a:r>
            <a:r>
              <a:rPr dirty="0"/>
              <a:t>. A </a:t>
            </a:r>
            <a:r>
              <a:rPr dirty="0" err="1"/>
              <a:t>jde</a:t>
            </a:r>
            <a:r>
              <a:rPr dirty="0"/>
              <a:t> o </a:t>
            </a:r>
            <a:r>
              <a:rPr dirty="0" err="1"/>
              <a:t>logický</a:t>
            </a:r>
            <a:r>
              <a:rPr dirty="0"/>
              <a:t> model,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popis</a:t>
            </a:r>
            <a:r>
              <a:rPr dirty="0"/>
              <a:t> </a:t>
            </a:r>
            <a:r>
              <a:rPr dirty="0" err="1"/>
              <a:t>požadovaných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Není</a:t>
            </a:r>
            <a:r>
              <a:rPr dirty="0"/>
              <a:t> to </a:t>
            </a:r>
            <a:r>
              <a:rPr dirty="0" err="1"/>
              <a:t>totožné</a:t>
            </a:r>
            <a:r>
              <a:rPr dirty="0"/>
              <a:t> s </a:t>
            </a:r>
            <a:r>
              <a:rPr dirty="0" err="1"/>
              <a:t>konkrétním</a:t>
            </a:r>
            <a:r>
              <a:rPr dirty="0"/>
              <a:t> </a:t>
            </a:r>
            <a:r>
              <a:rPr dirty="0" err="1"/>
              <a:t>profilem</a:t>
            </a:r>
            <a:r>
              <a:rPr dirty="0"/>
              <a:t> FHIR Patient. </a:t>
            </a:r>
            <a:r>
              <a:rPr dirty="0" err="1"/>
              <a:t>Převod</a:t>
            </a:r>
            <a:r>
              <a:rPr dirty="0"/>
              <a:t> do FHIR </a:t>
            </a:r>
            <a:r>
              <a:rPr dirty="0" err="1"/>
              <a:t>vyžaduje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mapování</a:t>
            </a:r>
            <a:r>
              <a:rPr dirty="0"/>
              <a:t> a </a:t>
            </a:r>
            <a:r>
              <a:rPr dirty="0" err="1"/>
              <a:t>pravidla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StructureDefinition-CancerPatient.html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D6E3-BADA-EE68-909C-307AC725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D64A2-830C-63E7-4A65-35007D399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3F93F-A8A0-3398-516B-A9D467348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810 s.</a:t>
            </a:r>
          </a:p>
          <a:p>
            <a:endParaRPr dirty="0"/>
          </a:p>
          <a:p>
            <a:r>
              <a:rPr dirty="0" err="1"/>
              <a:t>Odkazovaný</a:t>
            </a:r>
            <a:r>
              <a:rPr dirty="0"/>
              <a:t>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, jak </a:t>
            </a:r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formálně</a:t>
            </a:r>
            <a:r>
              <a:rPr dirty="0"/>
              <a:t> </a:t>
            </a:r>
            <a:r>
              <a:rPr dirty="0" err="1"/>
              <a:t>popisuje</a:t>
            </a:r>
            <a:r>
              <a:rPr dirty="0"/>
              <a:t> </a:t>
            </a:r>
            <a:r>
              <a:rPr dirty="0" err="1"/>
              <a:t>základní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birthDate</a:t>
            </a:r>
            <a:r>
              <a:rPr dirty="0"/>
              <a:t>, </a:t>
            </a:r>
            <a:r>
              <a:rPr dirty="0" err="1"/>
              <a:t>sexAtBirth</a:t>
            </a:r>
            <a:r>
              <a:rPr dirty="0"/>
              <a:t>, </a:t>
            </a:r>
            <a:r>
              <a:rPr dirty="0" err="1"/>
              <a:t>observedSexGender</a:t>
            </a:r>
            <a:r>
              <a:rPr dirty="0"/>
              <a:t> a </a:t>
            </a:r>
            <a:r>
              <a:rPr dirty="0" err="1"/>
              <a:t>comorbiditiesAtCancerDiagnosis</a:t>
            </a:r>
            <a:r>
              <a:rPr dirty="0"/>
              <a:t>. V </a:t>
            </a:r>
            <a:r>
              <a:rPr dirty="0" err="1"/>
              <a:t>edukativním</a:t>
            </a:r>
            <a:r>
              <a:rPr dirty="0"/>
              <a:t> </a:t>
            </a:r>
            <a:r>
              <a:rPr dirty="0" err="1"/>
              <a:t>úvodu</a:t>
            </a:r>
            <a:r>
              <a:rPr dirty="0"/>
              <a:t> </a:t>
            </a:r>
            <a:r>
              <a:rPr dirty="0" err="1"/>
              <a:t>nám</a:t>
            </a:r>
            <a:r>
              <a:rPr dirty="0"/>
              <a:t> </a:t>
            </a:r>
            <a:r>
              <a:rPr dirty="0" err="1"/>
              <a:t>stačí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. </a:t>
            </a:r>
            <a:r>
              <a:rPr dirty="0" err="1"/>
              <a:t>Komorbidity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se </a:t>
            </a:r>
            <a:r>
              <a:rPr dirty="0" err="1"/>
              <a:t>vyskytují</a:t>
            </a:r>
            <a:r>
              <a:rPr dirty="0"/>
              <a:t> </a:t>
            </a:r>
            <a:r>
              <a:rPr dirty="0" err="1"/>
              <a:t>vedle</a:t>
            </a:r>
            <a:r>
              <a:rPr dirty="0"/>
              <a:t> </a:t>
            </a:r>
            <a:r>
              <a:rPr dirty="0" err="1"/>
              <a:t>hlavního</a:t>
            </a:r>
            <a:r>
              <a:rPr dirty="0"/>
              <a:t> </a:t>
            </a:r>
            <a:r>
              <a:rPr dirty="0" err="1"/>
              <a:t>onkologického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. </a:t>
            </a:r>
            <a:r>
              <a:rPr dirty="0" err="1"/>
              <a:t>Důležitá</a:t>
            </a:r>
            <a:r>
              <a:rPr dirty="0"/>
              <a:t> je </a:t>
            </a:r>
            <a:r>
              <a:rPr dirty="0" err="1"/>
              <a:t>hranice</a:t>
            </a:r>
            <a:r>
              <a:rPr dirty="0"/>
              <a:t> </a:t>
            </a:r>
            <a:r>
              <a:rPr dirty="0" err="1"/>
              <a:t>tohoto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: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sám</a:t>
            </a:r>
            <a:r>
              <a:rPr dirty="0"/>
              <a:t> </a:t>
            </a:r>
            <a:r>
              <a:rPr dirty="0" err="1"/>
              <a:t>neobsahuje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onkologický</a:t>
            </a:r>
            <a:r>
              <a:rPr dirty="0"/>
              <a:t> </a:t>
            </a:r>
            <a:r>
              <a:rPr dirty="0" err="1"/>
              <a:t>případ</a:t>
            </a:r>
            <a:r>
              <a:rPr dirty="0"/>
              <a:t>. </a:t>
            </a:r>
            <a:r>
              <a:rPr dirty="0" err="1"/>
              <a:t>Diagnóza</a:t>
            </a:r>
            <a:r>
              <a:rPr dirty="0"/>
              <a:t>, stadium a </a:t>
            </a:r>
            <a:r>
              <a:rPr dirty="0" err="1"/>
              <a:t>léčba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modely</a:t>
            </a:r>
            <a:r>
              <a:rPr dirty="0"/>
              <a:t> a </a:t>
            </a:r>
            <a:r>
              <a:rPr dirty="0" err="1"/>
              <a:t>vztahy</a:t>
            </a:r>
            <a:r>
              <a:rPr dirty="0"/>
              <a:t>. A </a:t>
            </a:r>
            <a:r>
              <a:rPr dirty="0" err="1"/>
              <a:t>jde</a:t>
            </a:r>
            <a:r>
              <a:rPr dirty="0"/>
              <a:t> o </a:t>
            </a:r>
            <a:r>
              <a:rPr dirty="0" err="1"/>
              <a:t>logický</a:t>
            </a:r>
            <a:r>
              <a:rPr dirty="0"/>
              <a:t> model,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popis</a:t>
            </a:r>
            <a:r>
              <a:rPr dirty="0"/>
              <a:t> </a:t>
            </a:r>
            <a:r>
              <a:rPr dirty="0" err="1"/>
              <a:t>požadovaných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Není</a:t>
            </a:r>
            <a:r>
              <a:rPr dirty="0"/>
              <a:t> to </a:t>
            </a:r>
            <a:r>
              <a:rPr dirty="0" err="1"/>
              <a:t>totožné</a:t>
            </a:r>
            <a:r>
              <a:rPr dirty="0"/>
              <a:t> s </a:t>
            </a:r>
            <a:r>
              <a:rPr dirty="0" err="1"/>
              <a:t>konkrétním</a:t>
            </a:r>
            <a:r>
              <a:rPr dirty="0"/>
              <a:t> </a:t>
            </a:r>
            <a:r>
              <a:rPr dirty="0" err="1"/>
              <a:t>profilem</a:t>
            </a:r>
            <a:r>
              <a:rPr dirty="0"/>
              <a:t> FHIR Patient. </a:t>
            </a:r>
            <a:r>
              <a:rPr dirty="0" err="1"/>
              <a:t>Převod</a:t>
            </a:r>
            <a:r>
              <a:rPr dirty="0"/>
              <a:t> do FHIR </a:t>
            </a:r>
            <a:r>
              <a:rPr dirty="0" err="1"/>
              <a:t>vyžaduje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mapování</a:t>
            </a:r>
            <a:r>
              <a:rPr dirty="0"/>
              <a:t> a </a:t>
            </a:r>
            <a:r>
              <a:rPr dirty="0" err="1"/>
              <a:t>pravidla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StructureDefinition-CancerPatient.html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71D51-57ED-F95C-7B8E-72428AEAB1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255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9ED0-AA3A-4DBD-DEC8-4CAE2B35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7AEA8-EF28-CF4B-4E38-464F27DEA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6BF0D-B530-CB8A-CC8D-48902E786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810 s.</a:t>
            </a:r>
          </a:p>
          <a:p>
            <a:endParaRPr dirty="0"/>
          </a:p>
          <a:p>
            <a:r>
              <a:rPr dirty="0" err="1"/>
              <a:t>Odkazovaný</a:t>
            </a:r>
            <a:r>
              <a:rPr dirty="0"/>
              <a:t>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, jak </a:t>
            </a:r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formálně</a:t>
            </a:r>
            <a:r>
              <a:rPr dirty="0"/>
              <a:t> </a:t>
            </a:r>
            <a:r>
              <a:rPr dirty="0" err="1"/>
              <a:t>popisuje</a:t>
            </a:r>
            <a:r>
              <a:rPr dirty="0"/>
              <a:t> </a:t>
            </a:r>
            <a:r>
              <a:rPr dirty="0" err="1"/>
              <a:t>základní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birthDate</a:t>
            </a:r>
            <a:r>
              <a:rPr dirty="0"/>
              <a:t>, </a:t>
            </a:r>
            <a:r>
              <a:rPr dirty="0" err="1"/>
              <a:t>sexAtBirth</a:t>
            </a:r>
            <a:r>
              <a:rPr dirty="0"/>
              <a:t>, </a:t>
            </a:r>
            <a:r>
              <a:rPr dirty="0" err="1"/>
              <a:t>observedSexGender</a:t>
            </a:r>
            <a:r>
              <a:rPr dirty="0"/>
              <a:t> a </a:t>
            </a:r>
            <a:r>
              <a:rPr dirty="0" err="1"/>
              <a:t>comorbiditiesAtCancerDiagnosis</a:t>
            </a:r>
            <a:r>
              <a:rPr dirty="0"/>
              <a:t>. V </a:t>
            </a:r>
            <a:r>
              <a:rPr dirty="0" err="1"/>
              <a:t>edukativním</a:t>
            </a:r>
            <a:r>
              <a:rPr dirty="0"/>
              <a:t> </a:t>
            </a:r>
            <a:r>
              <a:rPr dirty="0" err="1"/>
              <a:t>úvodu</a:t>
            </a:r>
            <a:r>
              <a:rPr dirty="0"/>
              <a:t> </a:t>
            </a:r>
            <a:r>
              <a:rPr dirty="0" err="1"/>
              <a:t>nám</a:t>
            </a:r>
            <a:r>
              <a:rPr dirty="0"/>
              <a:t> </a:t>
            </a:r>
            <a:r>
              <a:rPr dirty="0" err="1"/>
              <a:t>stačí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. </a:t>
            </a:r>
            <a:r>
              <a:rPr dirty="0" err="1"/>
              <a:t>Komorbidity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se </a:t>
            </a:r>
            <a:r>
              <a:rPr dirty="0" err="1"/>
              <a:t>vyskytují</a:t>
            </a:r>
            <a:r>
              <a:rPr dirty="0"/>
              <a:t> </a:t>
            </a:r>
            <a:r>
              <a:rPr dirty="0" err="1"/>
              <a:t>vedle</a:t>
            </a:r>
            <a:r>
              <a:rPr dirty="0"/>
              <a:t> </a:t>
            </a:r>
            <a:r>
              <a:rPr dirty="0" err="1"/>
              <a:t>hlavního</a:t>
            </a:r>
            <a:r>
              <a:rPr dirty="0"/>
              <a:t> </a:t>
            </a:r>
            <a:r>
              <a:rPr dirty="0" err="1"/>
              <a:t>onkologického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. </a:t>
            </a:r>
            <a:r>
              <a:rPr dirty="0" err="1"/>
              <a:t>Důležitá</a:t>
            </a:r>
            <a:r>
              <a:rPr dirty="0"/>
              <a:t> je </a:t>
            </a:r>
            <a:r>
              <a:rPr dirty="0" err="1"/>
              <a:t>hranice</a:t>
            </a:r>
            <a:r>
              <a:rPr dirty="0"/>
              <a:t> </a:t>
            </a:r>
            <a:r>
              <a:rPr dirty="0" err="1"/>
              <a:t>tohoto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: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sám</a:t>
            </a:r>
            <a:r>
              <a:rPr dirty="0"/>
              <a:t> </a:t>
            </a:r>
            <a:r>
              <a:rPr dirty="0" err="1"/>
              <a:t>neobsahuje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onkologický</a:t>
            </a:r>
            <a:r>
              <a:rPr dirty="0"/>
              <a:t> </a:t>
            </a:r>
            <a:r>
              <a:rPr dirty="0" err="1"/>
              <a:t>případ</a:t>
            </a:r>
            <a:r>
              <a:rPr dirty="0"/>
              <a:t>. </a:t>
            </a:r>
            <a:r>
              <a:rPr dirty="0" err="1"/>
              <a:t>Diagnóza</a:t>
            </a:r>
            <a:r>
              <a:rPr dirty="0"/>
              <a:t>, stadium a </a:t>
            </a:r>
            <a:r>
              <a:rPr dirty="0" err="1"/>
              <a:t>léčba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modely</a:t>
            </a:r>
            <a:r>
              <a:rPr dirty="0"/>
              <a:t> a </a:t>
            </a:r>
            <a:r>
              <a:rPr dirty="0" err="1"/>
              <a:t>vztahy</a:t>
            </a:r>
            <a:r>
              <a:rPr dirty="0"/>
              <a:t>. A </a:t>
            </a:r>
            <a:r>
              <a:rPr dirty="0" err="1"/>
              <a:t>jde</a:t>
            </a:r>
            <a:r>
              <a:rPr dirty="0"/>
              <a:t> o </a:t>
            </a:r>
            <a:r>
              <a:rPr dirty="0" err="1"/>
              <a:t>logický</a:t>
            </a:r>
            <a:r>
              <a:rPr dirty="0"/>
              <a:t> model,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popis</a:t>
            </a:r>
            <a:r>
              <a:rPr dirty="0"/>
              <a:t> </a:t>
            </a:r>
            <a:r>
              <a:rPr dirty="0" err="1"/>
              <a:t>požadovaných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Není</a:t>
            </a:r>
            <a:r>
              <a:rPr dirty="0"/>
              <a:t> to </a:t>
            </a:r>
            <a:r>
              <a:rPr dirty="0" err="1"/>
              <a:t>totožné</a:t>
            </a:r>
            <a:r>
              <a:rPr dirty="0"/>
              <a:t> s </a:t>
            </a:r>
            <a:r>
              <a:rPr dirty="0" err="1"/>
              <a:t>konkrétním</a:t>
            </a:r>
            <a:r>
              <a:rPr dirty="0"/>
              <a:t> </a:t>
            </a:r>
            <a:r>
              <a:rPr dirty="0" err="1"/>
              <a:t>profilem</a:t>
            </a:r>
            <a:r>
              <a:rPr dirty="0"/>
              <a:t> FHIR Patient. </a:t>
            </a:r>
            <a:r>
              <a:rPr dirty="0" err="1"/>
              <a:t>Převod</a:t>
            </a:r>
            <a:r>
              <a:rPr dirty="0"/>
              <a:t> do FHIR </a:t>
            </a:r>
            <a:r>
              <a:rPr dirty="0" err="1"/>
              <a:t>vyžaduje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mapování</a:t>
            </a:r>
            <a:r>
              <a:rPr dirty="0"/>
              <a:t> a </a:t>
            </a:r>
            <a:r>
              <a:rPr dirty="0" err="1"/>
              <a:t>pravidla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StructureDefinition-CancerPatient.html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A319B-ABE3-D345-CAB4-9EB0F72C70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4486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8B238-85FC-2ACC-9375-8B92736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DEDEE-2687-E9D7-F659-83DDABA1F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543D4-BD7D-5A7B-16BF-909BE1D53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810 s.</a:t>
            </a:r>
          </a:p>
          <a:p>
            <a:endParaRPr dirty="0"/>
          </a:p>
          <a:p>
            <a:r>
              <a:rPr dirty="0" err="1"/>
              <a:t>Odkazovaný</a:t>
            </a:r>
            <a:r>
              <a:rPr dirty="0"/>
              <a:t>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, jak </a:t>
            </a:r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formálně</a:t>
            </a:r>
            <a:r>
              <a:rPr dirty="0"/>
              <a:t> </a:t>
            </a:r>
            <a:r>
              <a:rPr dirty="0" err="1"/>
              <a:t>popisuje</a:t>
            </a:r>
            <a:r>
              <a:rPr dirty="0"/>
              <a:t> </a:t>
            </a:r>
            <a:r>
              <a:rPr dirty="0" err="1"/>
              <a:t>základní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birthDate</a:t>
            </a:r>
            <a:r>
              <a:rPr dirty="0"/>
              <a:t>, </a:t>
            </a:r>
            <a:r>
              <a:rPr dirty="0" err="1"/>
              <a:t>sexAtBirth</a:t>
            </a:r>
            <a:r>
              <a:rPr dirty="0"/>
              <a:t>, </a:t>
            </a:r>
            <a:r>
              <a:rPr dirty="0" err="1"/>
              <a:t>observedSexGender</a:t>
            </a:r>
            <a:r>
              <a:rPr dirty="0"/>
              <a:t> a </a:t>
            </a:r>
            <a:r>
              <a:rPr dirty="0" err="1"/>
              <a:t>comorbiditiesAtCancerDiagnosis</a:t>
            </a:r>
            <a:r>
              <a:rPr dirty="0"/>
              <a:t>. V </a:t>
            </a:r>
            <a:r>
              <a:rPr dirty="0" err="1"/>
              <a:t>edukativním</a:t>
            </a:r>
            <a:r>
              <a:rPr dirty="0"/>
              <a:t> </a:t>
            </a:r>
            <a:r>
              <a:rPr dirty="0" err="1"/>
              <a:t>úvodu</a:t>
            </a:r>
            <a:r>
              <a:rPr dirty="0"/>
              <a:t> </a:t>
            </a:r>
            <a:r>
              <a:rPr dirty="0" err="1"/>
              <a:t>nám</a:t>
            </a:r>
            <a:r>
              <a:rPr dirty="0"/>
              <a:t> </a:t>
            </a:r>
            <a:r>
              <a:rPr dirty="0" err="1"/>
              <a:t>stačí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. </a:t>
            </a:r>
            <a:r>
              <a:rPr dirty="0" err="1"/>
              <a:t>Komorbidity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se </a:t>
            </a:r>
            <a:r>
              <a:rPr dirty="0" err="1"/>
              <a:t>vyskytují</a:t>
            </a:r>
            <a:r>
              <a:rPr dirty="0"/>
              <a:t> </a:t>
            </a:r>
            <a:r>
              <a:rPr dirty="0" err="1"/>
              <a:t>vedle</a:t>
            </a:r>
            <a:r>
              <a:rPr dirty="0"/>
              <a:t> </a:t>
            </a:r>
            <a:r>
              <a:rPr dirty="0" err="1"/>
              <a:t>hlavního</a:t>
            </a:r>
            <a:r>
              <a:rPr dirty="0"/>
              <a:t> </a:t>
            </a:r>
            <a:r>
              <a:rPr dirty="0" err="1"/>
              <a:t>onkologického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. </a:t>
            </a:r>
            <a:r>
              <a:rPr dirty="0" err="1"/>
              <a:t>Důležitá</a:t>
            </a:r>
            <a:r>
              <a:rPr dirty="0"/>
              <a:t> je </a:t>
            </a:r>
            <a:r>
              <a:rPr dirty="0" err="1"/>
              <a:t>hranice</a:t>
            </a:r>
            <a:r>
              <a:rPr dirty="0"/>
              <a:t> </a:t>
            </a:r>
            <a:r>
              <a:rPr dirty="0" err="1"/>
              <a:t>tohoto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: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sám</a:t>
            </a:r>
            <a:r>
              <a:rPr dirty="0"/>
              <a:t> </a:t>
            </a:r>
            <a:r>
              <a:rPr dirty="0" err="1"/>
              <a:t>neobsahuje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onkologický</a:t>
            </a:r>
            <a:r>
              <a:rPr dirty="0"/>
              <a:t> </a:t>
            </a:r>
            <a:r>
              <a:rPr dirty="0" err="1"/>
              <a:t>případ</a:t>
            </a:r>
            <a:r>
              <a:rPr dirty="0"/>
              <a:t>. </a:t>
            </a:r>
            <a:r>
              <a:rPr dirty="0" err="1"/>
              <a:t>Diagnóza</a:t>
            </a:r>
            <a:r>
              <a:rPr dirty="0"/>
              <a:t>, stadium a </a:t>
            </a:r>
            <a:r>
              <a:rPr dirty="0" err="1"/>
              <a:t>léčba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modely</a:t>
            </a:r>
            <a:r>
              <a:rPr dirty="0"/>
              <a:t> a </a:t>
            </a:r>
            <a:r>
              <a:rPr dirty="0" err="1"/>
              <a:t>vztahy</a:t>
            </a:r>
            <a:r>
              <a:rPr dirty="0"/>
              <a:t>. A </a:t>
            </a:r>
            <a:r>
              <a:rPr dirty="0" err="1"/>
              <a:t>jde</a:t>
            </a:r>
            <a:r>
              <a:rPr dirty="0"/>
              <a:t> o </a:t>
            </a:r>
            <a:r>
              <a:rPr dirty="0" err="1"/>
              <a:t>logický</a:t>
            </a:r>
            <a:r>
              <a:rPr dirty="0"/>
              <a:t> model,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popis</a:t>
            </a:r>
            <a:r>
              <a:rPr dirty="0"/>
              <a:t> </a:t>
            </a:r>
            <a:r>
              <a:rPr dirty="0" err="1"/>
              <a:t>požadovaných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Není</a:t>
            </a:r>
            <a:r>
              <a:rPr dirty="0"/>
              <a:t> to </a:t>
            </a:r>
            <a:r>
              <a:rPr dirty="0" err="1"/>
              <a:t>totožné</a:t>
            </a:r>
            <a:r>
              <a:rPr dirty="0"/>
              <a:t> s </a:t>
            </a:r>
            <a:r>
              <a:rPr dirty="0" err="1"/>
              <a:t>konkrétním</a:t>
            </a:r>
            <a:r>
              <a:rPr dirty="0"/>
              <a:t> </a:t>
            </a:r>
            <a:r>
              <a:rPr dirty="0" err="1"/>
              <a:t>profilem</a:t>
            </a:r>
            <a:r>
              <a:rPr dirty="0"/>
              <a:t> FHIR Patient. </a:t>
            </a:r>
            <a:r>
              <a:rPr dirty="0" err="1"/>
              <a:t>Převod</a:t>
            </a:r>
            <a:r>
              <a:rPr dirty="0"/>
              <a:t> do FHIR </a:t>
            </a:r>
            <a:r>
              <a:rPr dirty="0" err="1"/>
              <a:t>vyžaduje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mapování</a:t>
            </a:r>
            <a:r>
              <a:rPr dirty="0"/>
              <a:t> a </a:t>
            </a:r>
            <a:r>
              <a:rPr dirty="0" err="1"/>
              <a:t>pravidla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StructureDefinition-CancerPatient.html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27BD-580F-9081-CFAD-FEFCAAFE23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706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B9DC-965B-CD2B-EC7B-41D98794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3FF48-DA1C-427F-5D98-B37CC5680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A4D27-652C-A41E-165C-AF7151831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810 s.</a:t>
            </a:r>
          </a:p>
          <a:p>
            <a:endParaRPr dirty="0"/>
          </a:p>
          <a:p>
            <a:r>
              <a:rPr dirty="0" err="1"/>
              <a:t>Odkazovaný</a:t>
            </a:r>
            <a:r>
              <a:rPr dirty="0"/>
              <a:t>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ukazuje</a:t>
            </a:r>
            <a:r>
              <a:rPr dirty="0"/>
              <a:t>, jak </a:t>
            </a:r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formálně</a:t>
            </a:r>
            <a:r>
              <a:rPr dirty="0"/>
              <a:t> </a:t>
            </a:r>
            <a:r>
              <a:rPr dirty="0" err="1"/>
              <a:t>popisuje</a:t>
            </a:r>
            <a:r>
              <a:rPr dirty="0"/>
              <a:t> </a:t>
            </a:r>
            <a:r>
              <a:rPr dirty="0" err="1"/>
              <a:t>základní</a:t>
            </a:r>
            <a:r>
              <a:rPr dirty="0"/>
              <a:t> </a:t>
            </a:r>
            <a:r>
              <a:rPr dirty="0" err="1"/>
              <a:t>charakteristiky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birthDate</a:t>
            </a:r>
            <a:r>
              <a:rPr dirty="0"/>
              <a:t>, </a:t>
            </a:r>
            <a:r>
              <a:rPr dirty="0" err="1"/>
              <a:t>sexAtBirth</a:t>
            </a:r>
            <a:r>
              <a:rPr dirty="0"/>
              <a:t>, </a:t>
            </a:r>
            <a:r>
              <a:rPr dirty="0" err="1"/>
              <a:t>observedSexGender</a:t>
            </a:r>
            <a:r>
              <a:rPr dirty="0"/>
              <a:t> a </a:t>
            </a:r>
            <a:r>
              <a:rPr dirty="0" err="1"/>
              <a:t>comorbiditiesAtCancerDiagnosis</a:t>
            </a:r>
            <a:r>
              <a:rPr dirty="0"/>
              <a:t>. V </a:t>
            </a:r>
            <a:r>
              <a:rPr dirty="0" err="1"/>
              <a:t>edukativním</a:t>
            </a:r>
            <a:r>
              <a:rPr dirty="0"/>
              <a:t> </a:t>
            </a:r>
            <a:r>
              <a:rPr dirty="0" err="1"/>
              <a:t>úvodu</a:t>
            </a:r>
            <a:r>
              <a:rPr dirty="0"/>
              <a:t> </a:t>
            </a:r>
            <a:r>
              <a:rPr dirty="0" err="1"/>
              <a:t>nám</a:t>
            </a:r>
            <a:r>
              <a:rPr dirty="0"/>
              <a:t> </a:t>
            </a:r>
            <a:r>
              <a:rPr dirty="0" err="1"/>
              <a:t>stačí</a:t>
            </a:r>
            <a:r>
              <a:rPr dirty="0"/>
              <a:t>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. </a:t>
            </a:r>
            <a:r>
              <a:rPr dirty="0" err="1"/>
              <a:t>Komorbidity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, </a:t>
            </a:r>
            <a:r>
              <a:rPr dirty="0" err="1"/>
              <a:t>která</a:t>
            </a:r>
            <a:r>
              <a:rPr dirty="0"/>
              <a:t> se </a:t>
            </a:r>
            <a:r>
              <a:rPr dirty="0" err="1"/>
              <a:t>vyskytují</a:t>
            </a:r>
            <a:r>
              <a:rPr dirty="0"/>
              <a:t> </a:t>
            </a:r>
            <a:r>
              <a:rPr dirty="0" err="1"/>
              <a:t>vedle</a:t>
            </a:r>
            <a:r>
              <a:rPr dirty="0"/>
              <a:t> </a:t>
            </a:r>
            <a:r>
              <a:rPr dirty="0" err="1"/>
              <a:t>hlavního</a:t>
            </a:r>
            <a:r>
              <a:rPr dirty="0"/>
              <a:t> </a:t>
            </a:r>
            <a:r>
              <a:rPr dirty="0" err="1"/>
              <a:t>onkologického</a:t>
            </a:r>
            <a:r>
              <a:rPr dirty="0"/>
              <a:t> </a:t>
            </a:r>
            <a:r>
              <a:rPr dirty="0" err="1"/>
              <a:t>onemocnění</a:t>
            </a:r>
            <a:r>
              <a:rPr dirty="0"/>
              <a:t>. </a:t>
            </a:r>
            <a:r>
              <a:rPr dirty="0" err="1"/>
              <a:t>Důležitá</a:t>
            </a:r>
            <a:r>
              <a:rPr dirty="0"/>
              <a:t> je </a:t>
            </a:r>
            <a:r>
              <a:rPr dirty="0" err="1"/>
              <a:t>hranice</a:t>
            </a:r>
            <a:r>
              <a:rPr dirty="0"/>
              <a:t> </a:t>
            </a:r>
            <a:r>
              <a:rPr dirty="0" err="1"/>
              <a:t>tohoto</a:t>
            </a:r>
            <a:r>
              <a:rPr dirty="0"/>
              <a:t> </a:t>
            </a:r>
            <a:r>
              <a:rPr dirty="0" err="1"/>
              <a:t>modelu</a:t>
            </a:r>
            <a:r>
              <a:rPr dirty="0"/>
              <a:t>: </a:t>
            </a:r>
            <a:r>
              <a:rPr dirty="0" err="1"/>
              <a:t>CancerPatient</a:t>
            </a:r>
            <a:r>
              <a:rPr dirty="0"/>
              <a:t> </a:t>
            </a:r>
            <a:r>
              <a:rPr dirty="0" err="1"/>
              <a:t>sám</a:t>
            </a:r>
            <a:r>
              <a:rPr dirty="0"/>
              <a:t> </a:t>
            </a:r>
            <a:r>
              <a:rPr dirty="0" err="1"/>
              <a:t>neobsahuje</a:t>
            </a:r>
            <a:r>
              <a:rPr dirty="0"/>
              <a:t> </a:t>
            </a:r>
            <a:r>
              <a:rPr dirty="0" err="1"/>
              <a:t>celý</a:t>
            </a:r>
            <a:r>
              <a:rPr dirty="0"/>
              <a:t> </a:t>
            </a:r>
            <a:r>
              <a:rPr dirty="0" err="1"/>
              <a:t>onkologický</a:t>
            </a:r>
            <a:r>
              <a:rPr dirty="0"/>
              <a:t> </a:t>
            </a:r>
            <a:r>
              <a:rPr dirty="0" err="1"/>
              <a:t>případ</a:t>
            </a:r>
            <a:r>
              <a:rPr dirty="0"/>
              <a:t>. </a:t>
            </a:r>
            <a:r>
              <a:rPr dirty="0" err="1"/>
              <a:t>Diagnóza</a:t>
            </a:r>
            <a:r>
              <a:rPr dirty="0"/>
              <a:t>, stadium a </a:t>
            </a:r>
            <a:r>
              <a:rPr dirty="0" err="1"/>
              <a:t>léčba</a:t>
            </a:r>
            <a:r>
              <a:rPr dirty="0"/>
              <a:t> </a:t>
            </a:r>
            <a:r>
              <a:rPr dirty="0" err="1"/>
              <a:t>mají</a:t>
            </a:r>
            <a:r>
              <a:rPr dirty="0"/>
              <a:t>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modely</a:t>
            </a:r>
            <a:r>
              <a:rPr dirty="0"/>
              <a:t> a </a:t>
            </a:r>
            <a:r>
              <a:rPr dirty="0" err="1"/>
              <a:t>vztahy</a:t>
            </a:r>
            <a:r>
              <a:rPr dirty="0"/>
              <a:t>. A </a:t>
            </a:r>
            <a:r>
              <a:rPr dirty="0" err="1"/>
              <a:t>jde</a:t>
            </a:r>
            <a:r>
              <a:rPr dirty="0"/>
              <a:t> o </a:t>
            </a:r>
            <a:r>
              <a:rPr dirty="0" err="1"/>
              <a:t>logický</a:t>
            </a:r>
            <a:r>
              <a:rPr dirty="0"/>
              <a:t> model,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popis</a:t>
            </a:r>
            <a:r>
              <a:rPr dirty="0"/>
              <a:t> </a:t>
            </a:r>
            <a:r>
              <a:rPr dirty="0" err="1"/>
              <a:t>požadovaných</a:t>
            </a:r>
            <a:r>
              <a:rPr dirty="0"/>
              <a:t>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Není</a:t>
            </a:r>
            <a:r>
              <a:rPr dirty="0"/>
              <a:t> to </a:t>
            </a:r>
            <a:r>
              <a:rPr dirty="0" err="1"/>
              <a:t>totožné</a:t>
            </a:r>
            <a:r>
              <a:rPr dirty="0"/>
              <a:t> s </a:t>
            </a:r>
            <a:r>
              <a:rPr dirty="0" err="1"/>
              <a:t>konkrétním</a:t>
            </a:r>
            <a:r>
              <a:rPr dirty="0"/>
              <a:t> </a:t>
            </a:r>
            <a:r>
              <a:rPr dirty="0" err="1"/>
              <a:t>profilem</a:t>
            </a:r>
            <a:r>
              <a:rPr dirty="0"/>
              <a:t> FHIR Patient. </a:t>
            </a:r>
            <a:r>
              <a:rPr dirty="0" err="1"/>
              <a:t>Převod</a:t>
            </a:r>
            <a:r>
              <a:rPr dirty="0"/>
              <a:t> do FHIR </a:t>
            </a:r>
            <a:r>
              <a:rPr dirty="0" err="1"/>
              <a:t>vyžaduje</a:t>
            </a:r>
            <a:r>
              <a:rPr dirty="0"/>
              <a:t>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mapování</a:t>
            </a:r>
            <a:r>
              <a:rPr dirty="0"/>
              <a:t> a </a:t>
            </a:r>
            <a:r>
              <a:rPr dirty="0" err="1"/>
              <a:t>pravidla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  <a:r>
              <a:rPr dirty="0" err="1"/>
              <a:t>StructureDefinition-CancerPatient.html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E1F32-437F-1853-E2DD-C3749BF0DF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2192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900 s.</a:t>
            </a:r>
          </a:p>
          <a:p>
            <a:endParaRPr dirty="0"/>
          </a:p>
          <a:p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znamená</a:t>
            </a:r>
            <a:r>
              <a:rPr dirty="0"/>
              <a:t> minimal Common Oncology Data Elements. Je to </a:t>
            </a:r>
            <a:r>
              <a:rPr dirty="0" err="1"/>
              <a:t>onkologická</a:t>
            </a:r>
            <a:r>
              <a:rPr dirty="0"/>
              <a:t> </a:t>
            </a:r>
            <a:r>
              <a:rPr dirty="0" err="1"/>
              <a:t>implementační</a:t>
            </a:r>
            <a:r>
              <a:rPr dirty="0"/>
              <a:t> </a:t>
            </a:r>
            <a:r>
              <a:rPr dirty="0" err="1"/>
              <a:t>příručka</a:t>
            </a:r>
            <a:r>
              <a:rPr dirty="0"/>
              <a:t> pro FHIR.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profily</a:t>
            </a:r>
            <a:r>
              <a:rPr dirty="0"/>
              <a:t>, </a:t>
            </a:r>
            <a:r>
              <a:rPr dirty="0" err="1"/>
              <a:t>terminologické</a:t>
            </a:r>
            <a:r>
              <a:rPr dirty="0"/>
              <a:t> </a:t>
            </a:r>
            <a:r>
              <a:rPr dirty="0" err="1"/>
              <a:t>vazby</a:t>
            </a:r>
            <a:r>
              <a:rPr dirty="0"/>
              <a:t> a </a:t>
            </a:r>
            <a:r>
              <a:rPr dirty="0" err="1"/>
              <a:t>příklady</a:t>
            </a:r>
            <a:r>
              <a:rPr dirty="0"/>
              <a:t>. </a:t>
            </a:r>
            <a:r>
              <a:rPr dirty="0" err="1"/>
              <a:t>Profil</a:t>
            </a:r>
            <a:r>
              <a:rPr dirty="0"/>
              <a:t> je </a:t>
            </a:r>
            <a:r>
              <a:rPr dirty="0" err="1"/>
              <a:t>zpřesnění</a:t>
            </a:r>
            <a:r>
              <a:rPr dirty="0"/>
              <a:t> </a:t>
            </a:r>
            <a:r>
              <a:rPr dirty="0" err="1"/>
              <a:t>obecného</a:t>
            </a:r>
            <a:r>
              <a:rPr dirty="0"/>
              <a:t> FHIR </a:t>
            </a:r>
            <a:r>
              <a:rPr dirty="0" err="1"/>
              <a:t>zdroje</a:t>
            </a:r>
            <a:r>
              <a:rPr dirty="0"/>
              <a:t> pro </a:t>
            </a:r>
            <a:r>
              <a:rPr dirty="0" err="1"/>
              <a:t>určitý</a:t>
            </a:r>
            <a:r>
              <a:rPr dirty="0"/>
              <a:t> </a:t>
            </a:r>
            <a:r>
              <a:rPr dirty="0" err="1"/>
              <a:t>účel</a:t>
            </a:r>
            <a:r>
              <a:rPr dirty="0"/>
              <a:t>. </a:t>
            </a:r>
            <a:r>
              <a:rPr dirty="0" err="1"/>
              <a:t>Obsah</a:t>
            </a:r>
            <a:r>
              <a:rPr dirty="0"/>
              <a:t> je </a:t>
            </a:r>
            <a:r>
              <a:rPr dirty="0" err="1"/>
              <a:t>uspořádán</a:t>
            </a:r>
            <a:r>
              <a:rPr dirty="0"/>
              <a:t> do </a:t>
            </a:r>
            <a:r>
              <a:rPr dirty="0" err="1"/>
              <a:t>oblastí</a:t>
            </a:r>
            <a:r>
              <a:rPr dirty="0"/>
              <a:t> </a:t>
            </a:r>
            <a:r>
              <a:rPr dirty="0" err="1"/>
              <a:t>pacienta</a:t>
            </a:r>
            <a:r>
              <a:rPr dirty="0"/>
              <a:t>, </a:t>
            </a:r>
            <a:r>
              <a:rPr dirty="0" err="1"/>
              <a:t>onemocnění</a:t>
            </a:r>
            <a:r>
              <a:rPr dirty="0"/>
              <a:t>, </a:t>
            </a:r>
            <a:r>
              <a:rPr dirty="0" err="1"/>
              <a:t>hodnocení</a:t>
            </a:r>
            <a:r>
              <a:rPr dirty="0"/>
              <a:t>, </a:t>
            </a:r>
            <a:r>
              <a:rPr dirty="0" err="1"/>
              <a:t>genomiky</a:t>
            </a:r>
            <a:r>
              <a:rPr dirty="0"/>
              <a:t>, </a:t>
            </a:r>
            <a:r>
              <a:rPr dirty="0" err="1"/>
              <a:t>léčby</a:t>
            </a:r>
            <a:r>
              <a:rPr dirty="0"/>
              <a:t> a </a:t>
            </a:r>
            <a:r>
              <a:rPr dirty="0" err="1"/>
              <a:t>výsledků</a:t>
            </a:r>
            <a:r>
              <a:rPr dirty="0"/>
              <a:t>.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týmu</a:t>
            </a:r>
            <a:r>
              <a:rPr dirty="0"/>
              <a:t> </a:t>
            </a:r>
            <a:r>
              <a:rPr dirty="0" err="1"/>
              <a:t>poskytuje</a:t>
            </a:r>
            <a:r>
              <a:rPr dirty="0"/>
              <a:t> </a:t>
            </a:r>
            <a:r>
              <a:rPr dirty="0" err="1"/>
              <a:t>užitečné</a:t>
            </a:r>
            <a:r>
              <a:rPr dirty="0"/>
              <a:t> </a:t>
            </a:r>
            <a:r>
              <a:rPr dirty="0" err="1"/>
              <a:t>vzory</a:t>
            </a:r>
            <a:r>
              <a:rPr dirty="0"/>
              <a:t> pro </a:t>
            </a:r>
            <a:r>
              <a:rPr dirty="0" err="1"/>
              <a:t>datový</a:t>
            </a:r>
            <a:r>
              <a:rPr dirty="0"/>
              <a:t> </a:t>
            </a:r>
            <a:r>
              <a:rPr dirty="0" err="1"/>
              <a:t>zápis</a:t>
            </a:r>
            <a:r>
              <a:rPr dirty="0"/>
              <a:t>, </a:t>
            </a:r>
            <a:r>
              <a:rPr dirty="0" err="1"/>
              <a:t>například</a:t>
            </a:r>
            <a:r>
              <a:rPr dirty="0"/>
              <a:t> pro </a:t>
            </a:r>
            <a:r>
              <a:rPr dirty="0" err="1"/>
              <a:t>diagnózu</a:t>
            </a:r>
            <a:r>
              <a:rPr dirty="0"/>
              <a:t>, stadium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výsledek</a:t>
            </a:r>
            <a:r>
              <a:rPr dirty="0"/>
              <a:t> </a:t>
            </a:r>
            <a:r>
              <a:rPr dirty="0" err="1"/>
              <a:t>hodnocení</a:t>
            </a:r>
            <a:r>
              <a:rPr dirty="0"/>
              <a:t>. Zde </a:t>
            </a:r>
            <a:r>
              <a:rPr dirty="0" err="1"/>
              <a:t>používáme</a:t>
            </a:r>
            <a:r>
              <a:rPr dirty="0"/>
              <a:t> </a:t>
            </a:r>
            <a:r>
              <a:rPr dirty="0" err="1"/>
              <a:t>stabilní</a:t>
            </a:r>
            <a:r>
              <a:rPr dirty="0"/>
              <a:t> STU4, </a:t>
            </a:r>
            <a:r>
              <a:rPr dirty="0" err="1"/>
              <a:t>verzi</a:t>
            </a:r>
            <a:r>
              <a:rPr dirty="0"/>
              <a:t> 4.0.0. </a:t>
            </a:r>
            <a:r>
              <a:rPr dirty="0" err="1"/>
              <a:t>Americký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 a </a:t>
            </a:r>
            <a:r>
              <a:rPr dirty="0" err="1"/>
              <a:t>návaznost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US Core je </a:t>
            </a:r>
            <a:r>
              <a:rPr dirty="0" err="1"/>
              <a:t>třeba</a:t>
            </a:r>
            <a:r>
              <a:rPr dirty="0"/>
              <a:t> </a:t>
            </a:r>
            <a:r>
              <a:rPr dirty="0" err="1"/>
              <a:t>zohlednit</a:t>
            </a:r>
            <a:r>
              <a:rPr dirty="0"/>
              <a:t> </a:t>
            </a:r>
            <a:r>
              <a:rPr dirty="0" err="1"/>
              <a:t>při</a:t>
            </a:r>
            <a:r>
              <a:rPr dirty="0"/>
              <a:t> </a:t>
            </a:r>
            <a:r>
              <a:rPr dirty="0" err="1"/>
              <a:t>použití</a:t>
            </a:r>
            <a:r>
              <a:rPr dirty="0"/>
              <a:t> v </a:t>
            </a:r>
            <a:r>
              <a:rPr dirty="0" err="1"/>
              <a:t>českém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.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samo</a:t>
            </a:r>
            <a:r>
              <a:rPr dirty="0"/>
              <a:t> </a:t>
            </a:r>
            <a:r>
              <a:rPr dirty="0" err="1"/>
              <a:t>nepokrývá</a:t>
            </a:r>
            <a:r>
              <a:rPr dirty="0"/>
              <a:t> </a:t>
            </a:r>
            <a:r>
              <a:rPr dirty="0" err="1"/>
              <a:t>všechny</a:t>
            </a:r>
            <a:r>
              <a:rPr dirty="0"/>
              <a:t> </a:t>
            </a:r>
            <a:r>
              <a:rPr dirty="0" err="1"/>
              <a:t>dohody</a:t>
            </a:r>
            <a:r>
              <a:rPr dirty="0"/>
              <a:t> </a:t>
            </a:r>
            <a:r>
              <a:rPr dirty="0" err="1"/>
              <a:t>potřebné</a:t>
            </a:r>
            <a:r>
              <a:rPr dirty="0"/>
              <a:t> pro </a:t>
            </a:r>
            <a:r>
              <a:rPr dirty="0" err="1"/>
              <a:t>každou</a:t>
            </a:r>
            <a:r>
              <a:rPr dirty="0"/>
              <a:t> </a:t>
            </a:r>
            <a:r>
              <a:rPr dirty="0" err="1"/>
              <a:t>datovou</a:t>
            </a:r>
            <a:r>
              <a:rPr dirty="0"/>
              <a:t> </a:t>
            </a:r>
            <a:r>
              <a:rPr dirty="0" err="1"/>
              <a:t>výměnu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  <a:r>
              <a:rPr dirty="0" err="1"/>
              <a:t>artifacts.html</a:t>
            </a:r>
            <a:endParaRPr dirty="0"/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  <a:r>
              <a:rPr dirty="0" err="1"/>
              <a:t>StructureDefinition</a:t>
            </a:r>
            <a:r>
              <a:rPr dirty="0"/>
              <a:t>-</a:t>
            </a:r>
            <a:r>
              <a:rPr dirty="0" err="1"/>
              <a:t>mcode</a:t>
            </a:r>
            <a:r>
              <a:rPr dirty="0"/>
              <a:t>-cancer-</a:t>
            </a:r>
            <a:r>
              <a:rPr dirty="0" err="1"/>
              <a:t>patient.html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90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990 s.</a:t>
            </a:r>
          </a:p>
          <a:p>
            <a:endParaRPr dirty="0"/>
          </a:p>
          <a:p>
            <a:r>
              <a:rPr dirty="0" err="1"/>
              <a:t>Srovnání</a:t>
            </a:r>
            <a:r>
              <a:rPr dirty="0"/>
              <a:t> </a:t>
            </a:r>
            <a:r>
              <a:rPr dirty="0" err="1"/>
              <a:t>pomáhá</a:t>
            </a:r>
            <a:r>
              <a:rPr dirty="0"/>
              <a:t> </a:t>
            </a:r>
            <a:r>
              <a:rPr dirty="0" err="1"/>
              <a:t>obě</a:t>
            </a:r>
            <a:r>
              <a:rPr dirty="0"/>
              <a:t> </a:t>
            </a:r>
            <a:r>
              <a:rPr dirty="0" err="1"/>
              <a:t>iniciativy</a:t>
            </a:r>
            <a:r>
              <a:rPr dirty="0"/>
              <a:t> </a:t>
            </a:r>
            <a:r>
              <a:rPr dirty="0" err="1"/>
              <a:t>správně</a:t>
            </a:r>
            <a:r>
              <a:rPr dirty="0"/>
              <a:t> </a:t>
            </a:r>
            <a:r>
              <a:rPr dirty="0" err="1"/>
              <a:t>použít</a:t>
            </a:r>
            <a:r>
              <a:rPr dirty="0"/>
              <a:t>. Cancer Common je </a:t>
            </a:r>
            <a:r>
              <a:rPr dirty="0" err="1"/>
              <a:t>společný</a:t>
            </a:r>
            <a:r>
              <a:rPr dirty="0"/>
              <a:t> model </a:t>
            </a:r>
            <a:r>
              <a:rPr dirty="0" err="1"/>
              <a:t>klinických</a:t>
            </a:r>
            <a:r>
              <a:rPr dirty="0"/>
              <a:t> </a:t>
            </a:r>
            <a:r>
              <a:rPr dirty="0" err="1"/>
              <a:t>pojmů</a:t>
            </a:r>
            <a:r>
              <a:rPr dirty="0"/>
              <a:t> a </a:t>
            </a:r>
            <a:r>
              <a:rPr dirty="0" err="1"/>
              <a:t>vztahů</a:t>
            </a:r>
            <a:r>
              <a:rPr dirty="0"/>
              <a:t>.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nabízí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vyjádření</a:t>
            </a:r>
            <a:r>
              <a:rPr dirty="0"/>
              <a:t> </a:t>
            </a:r>
            <a:r>
              <a:rPr dirty="0" err="1"/>
              <a:t>řady</a:t>
            </a:r>
            <a:r>
              <a:rPr dirty="0"/>
              <a:t> </a:t>
            </a:r>
            <a:r>
              <a:rPr dirty="0" err="1"/>
              <a:t>onkologických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 </a:t>
            </a:r>
            <a:r>
              <a:rPr dirty="0" err="1"/>
              <a:t>pomocí</a:t>
            </a:r>
            <a:r>
              <a:rPr dirty="0"/>
              <a:t> FHIR </a:t>
            </a:r>
            <a:r>
              <a:rPr dirty="0" err="1"/>
              <a:t>profilů</a:t>
            </a:r>
            <a:r>
              <a:rPr dirty="0"/>
              <a:t>. </a:t>
            </a:r>
            <a:r>
              <a:rPr dirty="0" err="1"/>
              <a:t>Mohou</a:t>
            </a:r>
            <a:r>
              <a:rPr dirty="0"/>
              <a:t> </a:t>
            </a:r>
            <a:r>
              <a:rPr dirty="0" err="1"/>
              <a:t>tedy</a:t>
            </a:r>
            <a:r>
              <a:rPr dirty="0"/>
              <a:t> </a:t>
            </a:r>
            <a:r>
              <a:rPr dirty="0" err="1"/>
              <a:t>sloužit</a:t>
            </a:r>
            <a:r>
              <a:rPr dirty="0"/>
              <a:t> </a:t>
            </a:r>
            <a:r>
              <a:rPr dirty="0" err="1"/>
              <a:t>jako</a:t>
            </a:r>
            <a:r>
              <a:rPr dirty="0"/>
              <a:t> </a:t>
            </a:r>
            <a:r>
              <a:rPr dirty="0" err="1"/>
              <a:t>navazující</a:t>
            </a:r>
            <a:r>
              <a:rPr dirty="0"/>
              <a:t> </a:t>
            </a:r>
            <a:r>
              <a:rPr dirty="0" err="1"/>
              <a:t>zdroje</a:t>
            </a:r>
            <a:r>
              <a:rPr dirty="0"/>
              <a:t> </a:t>
            </a:r>
            <a:r>
              <a:rPr dirty="0" err="1"/>
              <a:t>inspirace</a:t>
            </a:r>
            <a:r>
              <a:rPr dirty="0"/>
              <a:t>, ale </a:t>
            </a:r>
            <a:r>
              <a:rPr dirty="0" err="1"/>
              <a:t>nejsou</a:t>
            </a:r>
            <a:r>
              <a:rPr dirty="0"/>
              <a:t> </a:t>
            </a:r>
            <a:r>
              <a:rPr dirty="0" err="1"/>
              <a:t>automaticky</a:t>
            </a:r>
            <a:r>
              <a:rPr dirty="0"/>
              <a:t> </a:t>
            </a:r>
            <a:r>
              <a:rPr dirty="0" err="1"/>
              <a:t>zaměnitelné</a:t>
            </a:r>
            <a:r>
              <a:rPr dirty="0"/>
              <a:t>. Stejný </a:t>
            </a:r>
            <a:r>
              <a:rPr dirty="0" err="1"/>
              <a:t>název</a:t>
            </a:r>
            <a:r>
              <a:rPr dirty="0"/>
              <a:t> </a:t>
            </a:r>
            <a:r>
              <a:rPr dirty="0" err="1"/>
              <a:t>informace</a:t>
            </a:r>
            <a:r>
              <a:rPr dirty="0"/>
              <a:t> </a:t>
            </a:r>
            <a:r>
              <a:rPr dirty="0" err="1"/>
              <a:t>nezaručuje</a:t>
            </a:r>
            <a:r>
              <a:rPr dirty="0"/>
              <a:t> </a:t>
            </a:r>
            <a:r>
              <a:rPr dirty="0" err="1"/>
              <a:t>stejné</a:t>
            </a:r>
            <a:r>
              <a:rPr dirty="0"/>
              <a:t> </a:t>
            </a:r>
            <a:r>
              <a:rPr dirty="0" err="1"/>
              <a:t>definice</a:t>
            </a:r>
            <a:r>
              <a:rPr dirty="0"/>
              <a:t>, </a:t>
            </a:r>
            <a:r>
              <a:rPr dirty="0" err="1"/>
              <a:t>kardinality</a:t>
            </a:r>
            <a:r>
              <a:rPr dirty="0"/>
              <a:t> ani </a:t>
            </a:r>
            <a:r>
              <a:rPr dirty="0" err="1"/>
              <a:t>terminologii</a:t>
            </a:r>
            <a:r>
              <a:rPr dirty="0"/>
              <a:t>. </a:t>
            </a:r>
            <a:r>
              <a:rPr dirty="0" err="1"/>
              <a:t>Převod</a:t>
            </a:r>
            <a:r>
              <a:rPr dirty="0"/>
              <a:t> je </a:t>
            </a:r>
            <a:r>
              <a:rPr dirty="0" err="1"/>
              <a:t>třeba</a:t>
            </a:r>
            <a:r>
              <a:rPr dirty="0"/>
              <a:t> </a:t>
            </a:r>
            <a:r>
              <a:rPr dirty="0" err="1"/>
              <a:t>posoudit</a:t>
            </a:r>
            <a:r>
              <a:rPr dirty="0"/>
              <a:t>. </a:t>
            </a:r>
            <a:r>
              <a:rPr dirty="0" err="1"/>
              <a:t>Evropský</a:t>
            </a:r>
            <a:r>
              <a:rPr dirty="0"/>
              <a:t> model </a:t>
            </a:r>
            <a:r>
              <a:rPr dirty="0" err="1"/>
              <a:t>má</a:t>
            </a:r>
            <a:r>
              <a:rPr dirty="0"/>
              <a:t> </a:t>
            </a:r>
            <a:r>
              <a:rPr dirty="0" err="1"/>
              <a:t>širší</a:t>
            </a:r>
            <a:r>
              <a:rPr dirty="0"/>
              <a:t> </a:t>
            </a:r>
            <a:r>
              <a:rPr dirty="0" err="1"/>
              <a:t>záměr</a:t>
            </a:r>
            <a:r>
              <a:rPr dirty="0"/>
              <a:t> </a:t>
            </a:r>
            <a:r>
              <a:rPr dirty="0" err="1"/>
              <a:t>propojit</a:t>
            </a:r>
            <a:r>
              <a:rPr dirty="0"/>
              <a:t> </a:t>
            </a:r>
            <a:r>
              <a:rPr dirty="0" err="1"/>
              <a:t>primární</a:t>
            </a:r>
            <a:r>
              <a:rPr dirty="0"/>
              <a:t> </a:t>
            </a:r>
            <a:r>
              <a:rPr dirty="0" err="1"/>
              <a:t>péči</a:t>
            </a:r>
            <a:r>
              <a:rPr dirty="0"/>
              <a:t> a </a:t>
            </a:r>
            <a:r>
              <a:rPr dirty="0" err="1"/>
              <a:t>sekundární</a:t>
            </a:r>
            <a:r>
              <a:rPr dirty="0"/>
              <a:t> </a:t>
            </a:r>
            <a:r>
              <a:rPr dirty="0" err="1"/>
              <a:t>využití</a:t>
            </a:r>
            <a:r>
              <a:rPr dirty="0"/>
              <a:t>,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vychází</a:t>
            </a:r>
            <a:r>
              <a:rPr dirty="0"/>
              <a:t> z </a:t>
            </a:r>
            <a:r>
              <a:rPr dirty="0" err="1"/>
              <a:t>amerického</a:t>
            </a:r>
            <a:r>
              <a:rPr dirty="0"/>
              <a:t> </a:t>
            </a:r>
            <a:r>
              <a:rPr dirty="0" err="1"/>
              <a:t>prostředí</a:t>
            </a:r>
            <a:r>
              <a:rPr dirty="0"/>
              <a:t>. České </a:t>
            </a:r>
            <a:r>
              <a:rPr dirty="0" err="1"/>
              <a:t>řešení</a:t>
            </a:r>
            <a:r>
              <a:rPr dirty="0"/>
              <a:t> proto </a:t>
            </a:r>
            <a:r>
              <a:rPr dirty="0" err="1"/>
              <a:t>potřebuje</a:t>
            </a:r>
            <a:r>
              <a:rPr dirty="0"/>
              <a:t> </a:t>
            </a:r>
            <a:r>
              <a:rPr dirty="0" err="1"/>
              <a:t>zohlednit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národní</a:t>
            </a:r>
            <a:r>
              <a:rPr dirty="0"/>
              <a:t> </a:t>
            </a:r>
            <a:r>
              <a:rPr dirty="0" err="1"/>
              <a:t>identifikátory</a:t>
            </a:r>
            <a:r>
              <a:rPr dirty="0"/>
              <a:t> a </a:t>
            </a:r>
            <a:r>
              <a:rPr dirty="0" err="1"/>
              <a:t>profily</a:t>
            </a:r>
            <a:r>
              <a:rPr dirty="0"/>
              <a:t>. Tato </a:t>
            </a:r>
            <a:r>
              <a:rPr dirty="0" err="1"/>
              <a:t>tabulka</a:t>
            </a:r>
            <a:r>
              <a:rPr dirty="0"/>
              <a:t> je </a:t>
            </a:r>
            <a:r>
              <a:rPr dirty="0" err="1"/>
              <a:t>edukativní</a:t>
            </a:r>
            <a:r>
              <a:rPr dirty="0"/>
              <a:t> </a:t>
            </a:r>
            <a:r>
              <a:rPr dirty="0" err="1"/>
              <a:t>srovnání</a:t>
            </a:r>
            <a:r>
              <a:rPr dirty="0"/>
              <a:t> </a:t>
            </a:r>
            <a:r>
              <a:rPr dirty="0" err="1"/>
              <a:t>účelu</a:t>
            </a:r>
            <a:r>
              <a:rPr dirty="0"/>
              <a:t> </a:t>
            </a:r>
            <a:r>
              <a:rPr dirty="0" err="1"/>
              <a:t>obou</a:t>
            </a:r>
            <a:r>
              <a:rPr dirty="0"/>
              <a:t> </a:t>
            </a:r>
            <a:r>
              <a:rPr dirty="0" err="1"/>
              <a:t>zdrojů</a:t>
            </a:r>
            <a:r>
              <a:rPr dirty="0"/>
              <a:t>, </a:t>
            </a:r>
            <a:r>
              <a:rPr dirty="0" err="1"/>
              <a:t>nikoli</a:t>
            </a:r>
            <a:r>
              <a:rPr dirty="0"/>
              <a:t> </a:t>
            </a:r>
            <a:r>
              <a:rPr dirty="0" err="1"/>
              <a:t>oficiální</a:t>
            </a:r>
            <a:r>
              <a:rPr dirty="0"/>
              <a:t> </a:t>
            </a:r>
            <a:r>
              <a:rPr dirty="0" err="1"/>
              <a:t>převodní</a:t>
            </a:r>
            <a:r>
              <a:rPr dirty="0"/>
              <a:t> </a:t>
            </a:r>
            <a:r>
              <a:rPr dirty="0" err="1"/>
              <a:t>mapa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</a:p>
          <a:p>
            <a:r>
              <a:rPr dirty="0"/>
              <a:t>https://hl7.cz/</a:t>
            </a:r>
            <a:r>
              <a:rPr dirty="0" err="1"/>
              <a:t>fhir</a:t>
            </a:r>
            <a:r>
              <a:rPr dirty="0"/>
              <a:t>/core/1.0.0/</a:t>
            </a:r>
            <a:r>
              <a:rPr dirty="0" err="1"/>
              <a:t>en</a:t>
            </a:r>
            <a:r>
              <a:rPr dirty="0"/>
              <a:t>/index-</a:t>
            </a:r>
            <a:r>
              <a:rPr dirty="0" err="1"/>
              <a:t>cs.html</a:t>
            </a:r>
            <a:endParaRPr dirty="0"/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  <a:r>
              <a:rPr dirty="0" err="1"/>
              <a:t>StructureDefinition</a:t>
            </a:r>
            <a:r>
              <a:rPr dirty="0"/>
              <a:t>-</a:t>
            </a:r>
            <a:r>
              <a:rPr dirty="0" err="1"/>
              <a:t>mcode</a:t>
            </a:r>
            <a:r>
              <a:rPr dirty="0"/>
              <a:t>-cancer-</a:t>
            </a:r>
            <a:r>
              <a:rPr dirty="0" err="1"/>
              <a:t>patient.html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75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1080 s.</a:t>
            </a:r>
          </a:p>
          <a:p>
            <a:endParaRPr dirty="0"/>
          </a:p>
          <a:p>
            <a:r>
              <a:rPr dirty="0"/>
              <a:t>Standardy </a:t>
            </a:r>
            <a:r>
              <a:rPr dirty="0" err="1"/>
              <a:t>dávají</a:t>
            </a:r>
            <a:r>
              <a:rPr dirty="0"/>
              <a:t> </a:t>
            </a:r>
            <a:r>
              <a:rPr dirty="0" err="1"/>
              <a:t>týmu</a:t>
            </a:r>
            <a:r>
              <a:rPr dirty="0"/>
              <a:t> </a:t>
            </a:r>
            <a:r>
              <a:rPr dirty="0" err="1"/>
              <a:t>možnost</a:t>
            </a:r>
            <a:r>
              <a:rPr dirty="0"/>
              <a:t> </a:t>
            </a:r>
            <a:r>
              <a:rPr dirty="0" err="1"/>
              <a:t>soustředit</a:t>
            </a:r>
            <a:r>
              <a:rPr dirty="0"/>
              <a:t> 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nápad</a:t>
            </a:r>
            <a:r>
              <a:rPr dirty="0"/>
              <a:t>. Místo </a:t>
            </a:r>
            <a:r>
              <a:rPr dirty="0" err="1"/>
              <a:t>vymýšlení</a:t>
            </a:r>
            <a:r>
              <a:rPr dirty="0"/>
              <a:t> </a:t>
            </a:r>
            <a:r>
              <a:rPr dirty="0" err="1"/>
              <a:t>vlastního</a:t>
            </a:r>
            <a:r>
              <a:rPr dirty="0"/>
              <a:t> </a:t>
            </a:r>
            <a:r>
              <a:rPr dirty="0" err="1"/>
              <a:t>označení</a:t>
            </a:r>
            <a:r>
              <a:rPr dirty="0"/>
              <a:t> </a:t>
            </a:r>
            <a:r>
              <a:rPr dirty="0" err="1"/>
              <a:t>každého</a:t>
            </a:r>
            <a:r>
              <a:rPr dirty="0"/>
              <a:t> </a:t>
            </a:r>
            <a:r>
              <a:rPr dirty="0" err="1"/>
              <a:t>klinického</a:t>
            </a:r>
            <a:r>
              <a:rPr dirty="0"/>
              <a:t> </a:t>
            </a:r>
            <a:r>
              <a:rPr dirty="0" err="1"/>
              <a:t>pojmu</a:t>
            </a:r>
            <a:r>
              <a:rPr dirty="0"/>
              <a:t> </a:t>
            </a:r>
            <a:r>
              <a:rPr dirty="0" err="1"/>
              <a:t>může</a:t>
            </a:r>
            <a:r>
              <a:rPr dirty="0"/>
              <a:t> </a:t>
            </a:r>
            <a:r>
              <a:rPr dirty="0" err="1"/>
              <a:t>použít</a:t>
            </a:r>
            <a:r>
              <a:rPr dirty="0"/>
              <a:t> </a:t>
            </a:r>
            <a:r>
              <a:rPr dirty="0" err="1"/>
              <a:t>existující</a:t>
            </a:r>
            <a:r>
              <a:rPr dirty="0"/>
              <a:t> model. Cancer Common </a:t>
            </a:r>
            <a:r>
              <a:rPr dirty="0" err="1"/>
              <a:t>nabízí</a:t>
            </a:r>
            <a:r>
              <a:rPr dirty="0"/>
              <a:t> </a:t>
            </a:r>
            <a:r>
              <a:rPr dirty="0" err="1"/>
              <a:t>společný</a:t>
            </a:r>
            <a:r>
              <a:rPr dirty="0"/>
              <a:t> </a:t>
            </a:r>
            <a:r>
              <a:rPr dirty="0" err="1"/>
              <a:t>obsah</a:t>
            </a:r>
            <a:r>
              <a:rPr dirty="0"/>
              <a:t>,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vzory</a:t>
            </a:r>
            <a:r>
              <a:rPr dirty="0"/>
              <a:t> a FHIR </a:t>
            </a:r>
            <a:r>
              <a:rPr dirty="0" err="1"/>
              <a:t>technické</a:t>
            </a:r>
            <a:r>
              <a:rPr dirty="0"/>
              <a:t> </a:t>
            </a:r>
            <a:r>
              <a:rPr dirty="0" err="1"/>
              <a:t>stavební</a:t>
            </a:r>
            <a:r>
              <a:rPr dirty="0"/>
              <a:t> </a:t>
            </a:r>
            <a:r>
              <a:rPr dirty="0" err="1"/>
              <a:t>kameny</a:t>
            </a:r>
            <a:r>
              <a:rPr dirty="0"/>
              <a:t>. To </a:t>
            </a:r>
            <a:r>
              <a:rPr dirty="0" err="1"/>
              <a:t>může</a:t>
            </a:r>
            <a:r>
              <a:rPr dirty="0"/>
              <a:t> </a:t>
            </a:r>
            <a:r>
              <a:rPr dirty="0" err="1"/>
              <a:t>zjednodušit</a:t>
            </a:r>
            <a:r>
              <a:rPr dirty="0"/>
              <a:t> </a:t>
            </a:r>
            <a:r>
              <a:rPr dirty="0" err="1"/>
              <a:t>budoucí</a:t>
            </a:r>
            <a:r>
              <a:rPr dirty="0"/>
              <a:t> </a:t>
            </a:r>
            <a:r>
              <a:rPr dirty="0" err="1"/>
              <a:t>propojení</a:t>
            </a:r>
            <a:r>
              <a:rPr dirty="0"/>
              <a:t> a </a:t>
            </a:r>
            <a:r>
              <a:rPr dirty="0" err="1"/>
              <a:t>další</a:t>
            </a:r>
            <a:r>
              <a:rPr dirty="0"/>
              <a:t> </a:t>
            </a:r>
            <a:r>
              <a:rPr dirty="0" err="1"/>
              <a:t>využití</a:t>
            </a:r>
            <a:r>
              <a:rPr dirty="0"/>
              <a:t> dat. </a:t>
            </a:r>
            <a:r>
              <a:rPr dirty="0" err="1"/>
              <a:t>Nejde</a:t>
            </a:r>
            <a:r>
              <a:rPr dirty="0"/>
              <a:t> o </a:t>
            </a:r>
            <a:r>
              <a:rPr dirty="0" err="1"/>
              <a:t>záruku</a:t>
            </a:r>
            <a:r>
              <a:rPr dirty="0"/>
              <a:t> </a:t>
            </a:r>
            <a:r>
              <a:rPr dirty="0" err="1"/>
              <a:t>rychlosti</a:t>
            </a:r>
            <a:r>
              <a:rPr dirty="0"/>
              <a:t> </a:t>
            </a:r>
            <a:r>
              <a:rPr dirty="0" err="1"/>
              <a:t>nebo</a:t>
            </a:r>
            <a:r>
              <a:rPr dirty="0"/>
              <a:t> </a:t>
            </a:r>
            <a:r>
              <a:rPr dirty="0" err="1"/>
              <a:t>klinického</a:t>
            </a:r>
            <a:r>
              <a:rPr dirty="0"/>
              <a:t> </a:t>
            </a:r>
            <a:r>
              <a:rPr dirty="0" err="1"/>
              <a:t>přínosu</a:t>
            </a:r>
            <a:r>
              <a:rPr dirty="0"/>
              <a:t> </a:t>
            </a:r>
            <a:r>
              <a:rPr dirty="0" err="1"/>
              <a:t>každého</a:t>
            </a:r>
            <a:r>
              <a:rPr dirty="0"/>
              <a:t> </a:t>
            </a:r>
            <a:r>
              <a:rPr dirty="0" err="1"/>
              <a:t>projektu</a:t>
            </a:r>
            <a:r>
              <a:rPr dirty="0"/>
              <a:t>. </a:t>
            </a:r>
            <a:r>
              <a:rPr dirty="0" err="1"/>
              <a:t>Výsledek</a:t>
            </a:r>
            <a:r>
              <a:rPr dirty="0"/>
              <a:t> </a:t>
            </a:r>
            <a:r>
              <a:rPr dirty="0" err="1"/>
              <a:t>závisí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kvalitě</a:t>
            </a:r>
            <a:r>
              <a:rPr dirty="0"/>
              <a:t> </a:t>
            </a:r>
            <a:r>
              <a:rPr dirty="0" err="1"/>
              <a:t>návrhu</a:t>
            </a:r>
            <a:r>
              <a:rPr dirty="0"/>
              <a:t> a </a:t>
            </a:r>
            <a:r>
              <a:rPr dirty="0" err="1"/>
              <a:t>dostupných</a:t>
            </a:r>
            <a:r>
              <a:rPr dirty="0"/>
              <a:t> </a:t>
            </a:r>
            <a:r>
              <a:rPr dirty="0" err="1"/>
              <a:t>údajích</a:t>
            </a:r>
            <a:r>
              <a:rPr dirty="0"/>
              <a:t>. Pro </a:t>
            </a:r>
            <a:r>
              <a:rPr dirty="0" err="1"/>
              <a:t>Rakathon</a:t>
            </a:r>
            <a:r>
              <a:rPr dirty="0"/>
              <a:t> </a:t>
            </a:r>
            <a:r>
              <a:rPr dirty="0" err="1"/>
              <a:t>doporučujeme</a:t>
            </a:r>
            <a:r>
              <a:rPr dirty="0"/>
              <a:t> </a:t>
            </a:r>
            <a:r>
              <a:rPr dirty="0" err="1"/>
              <a:t>vybrat</a:t>
            </a:r>
            <a:r>
              <a:rPr dirty="0"/>
              <a:t> </a:t>
            </a:r>
            <a:r>
              <a:rPr dirty="0" err="1"/>
              <a:t>malý</a:t>
            </a:r>
            <a:r>
              <a:rPr dirty="0"/>
              <a:t> </a:t>
            </a:r>
            <a:r>
              <a:rPr dirty="0" err="1"/>
              <a:t>soubor</a:t>
            </a:r>
            <a:r>
              <a:rPr dirty="0"/>
              <a:t> </a:t>
            </a:r>
            <a:r>
              <a:rPr dirty="0" err="1"/>
              <a:t>důležitých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, </a:t>
            </a:r>
            <a:r>
              <a:rPr dirty="0" err="1"/>
              <a:t>vysvětlit</a:t>
            </a:r>
            <a:r>
              <a:rPr dirty="0"/>
              <a:t> </a:t>
            </a:r>
            <a:r>
              <a:rPr dirty="0" err="1"/>
              <a:t>jeho</a:t>
            </a:r>
            <a:r>
              <a:rPr dirty="0"/>
              <a:t> </a:t>
            </a:r>
            <a:r>
              <a:rPr dirty="0" err="1"/>
              <a:t>strukturu</a:t>
            </a:r>
            <a:r>
              <a:rPr dirty="0"/>
              <a:t> a </a:t>
            </a:r>
            <a:r>
              <a:rPr dirty="0" err="1"/>
              <a:t>ověřit</a:t>
            </a:r>
            <a:r>
              <a:rPr dirty="0"/>
              <a:t> </a:t>
            </a:r>
            <a:r>
              <a:rPr dirty="0" err="1"/>
              <a:t>význam</a:t>
            </a:r>
            <a:r>
              <a:rPr dirty="0"/>
              <a:t> s </a:t>
            </a:r>
            <a:r>
              <a:rPr dirty="0" err="1"/>
              <a:t>klinickým</a:t>
            </a:r>
            <a:r>
              <a:rPr dirty="0"/>
              <a:t> </a:t>
            </a:r>
            <a:r>
              <a:rPr dirty="0" err="1"/>
              <a:t>mentorem</a:t>
            </a:r>
            <a:r>
              <a:rPr dirty="0"/>
              <a:t>. U AI je </a:t>
            </a:r>
            <a:r>
              <a:rPr dirty="0" err="1"/>
              <a:t>zásadní</a:t>
            </a:r>
            <a:r>
              <a:rPr dirty="0"/>
              <a:t> </a:t>
            </a:r>
            <a:r>
              <a:rPr dirty="0" err="1"/>
              <a:t>zachovat</a:t>
            </a:r>
            <a:r>
              <a:rPr dirty="0"/>
              <a:t> </a:t>
            </a:r>
            <a:r>
              <a:rPr dirty="0" err="1"/>
              <a:t>původ</a:t>
            </a:r>
            <a:r>
              <a:rPr dirty="0"/>
              <a:t> </a:t>
            </a:r>
            <a:r>
              <a:rPr dirty="0" err="1"/>
              <a:t>tvrzení</a:t>
            </a:r>
            <a:r>
              <a:rPr dirty="0"/>
              <a:t> a </a:t>
            </a:r>
            <a:r>
              <a:rPr dirty="0" err="1"/>
              <a:t>rozlišovat</a:t>
            </a:r>
            <a:r>
              <a:rPr dirty="0"/>
              <a:t> </a:t>
            </a:r>
            <a:r>
              <a:rPr dirty="0" err="1"/>
              <a:t>známé</a:t>
            </a:r>
            <a:r>
              <a:rPr dirty="0"/>
              <a:t> a </a:t>
            </a:r>
            <a:r>
              <a:rPr dirty="0" err="1"/>
              <a:t>chybějící</a:t>
            </a:r>
            <a:r>
              <a:rPr dirty="0"/>
              <a:t> </a:t>
            </a:r>
            <a:r>
              <a:rPr dirty="0" err="1"/>
              <a:t>údaje</a:t>
            </a:r>
            <a:r>
              <a:rPr dirty="0"/>
              <a:t>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/R4/</a:t>
            </a:r>
            <a:r>
              <a:rPr dirty="0" err="1"/>
              <a:t>overview.html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45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1155 s.</a:t>
            </a:r>
          </a:p>
          <a:p>
            <a:endParaRPr dirty="0"/>
          </a:p>
          <a:p>
            <a:r>
              <a:rPr dirty="0"/>
              <a:t>Závěrem </a:t>
            </a:r>
            <a:r>
              <a:rPr dirty="0" err="1"/>
              <a:t>zopakujte</a:t>
            </a:r>
            <a:r>
              <a:rPr dirty="0"/>
              <a:t> </a:t>
            </a:r>
            <a:r>
              <a:rPr dirty="0" err="1"/>
              <a:t>rozdělení</a:t>
            </a:r>
            <a:r>
              <a:rPr dirty="0"/>
              <a:t> </a:t>
            </a:r>
            <a:r>
              <a:rPr dirty="0" err="1"/>
              <a:t>rolí</a:t>
            </a:r>
            <a:r>
              <a:rPr dirty="0"/>
              <a:t>: HL7 je </a:t>
            </a:r>
            <a:r>
              <a:rPr dirty="0" err="1"/>
              <a:t>organizace</a:t>
            </a:r>
            <a:r>
              <a:rPr dirty="0"/>
              <a:t> a </a:t>
            </a:r>
            <a:r>
              <a:rPr dirty="0" err="1"/>
              <a:t>rodina</a:t>
            </a:r>
            <a:r>
              <a:rPr dirty="0"/>
              <a:t> </a:t>
            </a:r>
            <a:r>
              <a:rPr dirty="0" err="1"/>
              <a:t>standardů</a:t>
            </a:r>
            <a:r>
              <a:rPr dirty="0"/>
              <a:t>. FHIR </a:t>
            </a:r>
            <a:r>
              <a:rPr dirty="0" err="1"/>
              <a:t>umožňuje</a:t>
            </a:r>
            <a:r>
              <a:rPr dirty="0"/>
              <a:t> </a:t>
            </a:r>
            <a:r>
              <a:rPr dirty="0" err="1"/>
              <a:t>strukturovanou</a:t>
            </a:r>
            <a:r>
              <a:rPr dirty="0"/>
              <a:t> </a:t>
            </a:r>
            <a:r>
              <a:rPr dirty="0" err="1"/>
              <a:t>výměnu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Evropský</a:t>
            </a:r>
            <a:r>
              <a:rPr dirty="0"/>
              <a:t> Cancer Common </a:t>
            </a:r>
            <a:r>
              <a:rPr dirty="0" err="1"/>
              <a:t>sjednocuje</a:t>
            </a:r>
            <a:r>
              <a:rPr dirty="0"/>
              <a:t> </a:t>
            </a:r>
            <a:r>
              <a:rPr dirty="0" err="1"/>
              <a:t>klinické</a:t>
            </a:r>
            <a:r>
              <a:rPr dirty="0"/>
              <a:t> </a:t>
            </a:r>
            <a:r>
              <a:rPr dirty="0" err="1"/>
              <a:t>pojmy</a:t>
            </a:r>
            <a:r>
              <a:rPr dirty="0"/>
              <a:t> a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nabízí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FHIR </a:t>
            </a:r>
            <a:r>
              <a:rPr dirty="0" err="1"/>
              <a:t>profily</a:t>
            </a:r>
            <a:r>
              <a:rPr dirty="0"/>
              <a:t>. Týmy </a:t>
            </a:r>
            <a:r>
              <a:rPr dirty="0" err="1"/>
              <a:t>mohou</a:t>
            </a:r>
            <a:r>
              <a:rPr dirty="0"/>
              <a:t> </a:t>
            </a:r>
            <a:r>
              <a:rPr dirty="0" err="1"/>
              <a:t>navázat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veřejné</a:t>
            </a:r>
            <a:r>
              <a:rPr dirty="0"/>
              <a:t> </a:t>
            </a:r>
            <a:r>
              <a:rPr dirty="0" err="1"/>
              <a:t>zdroje</a:t>
            </a:r>
            <a:r>
              <a:rPr dirty="0"/>
              <a:t> a </a:t>
            </a:r>
            <a:r>
              <a:rPr dirty="0" err="1"/>
              <a:t>zapojit</a:t>
            </a:r>
            <a:r>
              <a:rPr dirty="0"/>
              <a:t> se do </a:t>
            </a:r>
            <a:r>
              <a:rPr dirty="0" err="1"/>
              <a:t>odborné</a:t>
            </a:r>
            <a:r>
              <a:rPr dirty="0"/>
              <a:t> </a:t>
            </a:r>
            <a:r>
              <a:rPr dirty="0" err="1"/>
              <a:t>komunity</a:t>
            </a:r>
            <a:r>
              <a:rPr dirty="0"/>
              <a:t>. </a:t>
            </a:r>
            <a:r>
              <a:rPr dirty="0" err="1"/>
              <a:t>Odkazy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snímku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klikatelné</a:t>
            </a:r>
            <a:r>
              <a:rPr dirty="0"/>
              <a:t>. U </a:t>
            </a:r>
            <a:r>
              <a:rPr dirty="0" err="1"/>
              <a:t>průběžných</a:t>
            </a:r>
            <a:r>
              <a:rPr dirty="0"/>
              <a:t> </a:t>
            </a:r>
            <a:r>
              <a:rPr dirty="0" err="1"/>
              <a:t>buildů</a:t>
            </a:r>
            <a:r>
              <a:rPr dirty="0"/>
              <a:t> se </a:t>
            </a:r>
            <a:r>
              <a:rPr dirty="0" err="1"/>
              <a:t>obsah</a:t>
            </a:r>
            <a:r>
              <a:rPr dirty="0"/>
              <a:t> </a:t>
            </a:r>
            <a:r>
              <a:rPr dirty="0" err="1"/>
              <a:t>mění</a:t>
            </a:r>
            <a:r>
              <a:rPr dirty="0"/>
              <a:t>, proto pro </a:t>
            </a:r>
            <a:r>
              <a:rPr dirty="0" err="1"/>
              <a:t>implementaci</a:t>
            </a:r>
            <a:r>
              <a:rPr dirty="0"/>
              <a:t> </a:t>
            </a:r>
            <a:r>
              <a:rPr dirty="0" err="1"/>
              <a:t>vyberte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publikovanou</a:t>
            </a:r>
            <a:r>
              <a:rPr dirty="0"/>
              <a:t> </a:t>
            </a:r>
            <a:r>
              <a:rPr dirty="0" err="1"/>
              <a:t>verzi</a:t>
            </a:r>
            <a:r>
              <a:rPr dirty="0"/>
              <a:t>. V </a:t>
            </a:r>
            <a:r>
              <a:rPr dirty="0" err="1"/>
              <a:t>této</a:t>
            </a:r>
            <a:r>
              <a:rPr dirty="0"/>
              <a:t> </a:t>
            </a:r>
            <a:r>
              <a:rPr dirty="0" err="1"/>
              <a:t>prezentaci</a:t>
            </a:r>
            <a:r>
              <a:rPr dirty="0"/>
              <a:t> </a:t>
            </a:r>
            <a:r>
              <a:rPr dirty="0" err="1"/>
              <a:t>používáme</a:t>
            </a:r>
            <a:r>
              <a:rPr dirty="0"/>
              <a:t> Cancer Common 1.0.0-ballot a </a:t>
            </a:r>
            <a:r>
              <a:rPr dirty="0" err="1"/>
              <a:t>mCODE</a:t>
            </a:r>
            <a:r>
              <a:rPr dirty="0"/>
              <a:t> STU4 4.0.0. </a:t>
            </a:r>
            <a:r>
              <a:rPr dirty="0" err="1"/>
              <a:t>Zdroje</a:t>
            </a:r>
            <a:r>
              <a:rPr dirty="0"/>
              <a:t> </a:t>
            </a:r>
            <a:r>
              <a:rPr dirty="0" err="1"/>
              <a:t>byly</a:t>
            </a:r>
            <a:r>
              <a:rPr dirty="0"/>
              <a:t> </a:t>
            </a:r>
            <a:r>
              <a:rPr dirty="0" err="1"/>
              <a:t>posouzeny</a:t>
            </a:r>
            <a:r>
              <a:rPr dirty="0"/>
              <a:t> k 10. </a:t>
            </a:r>
            <a:r>
              <a:rPr dirty="0" err="1"/>
              <a:t>říjnu</a:t>
            </a:r>
            <a:r>
              <a:rPr dirty="0"/>
              <a:t> 2026.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https://dev3.hl7.org/about/</a:t>
            </a:r>
            <a:r>
              <a:rPr dirty="0" err="1"/>
              <a:t>index.cfm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</a:p>
          <a:p>
            <a:r>
              <a:rPr dirty="0"/>
              <a:t>https://hl7.cz/</a:t>
            </a:r>
            <a:r>
              <a:rPr dirty="0" err="1"/>
              <a:t>fhir</a:t>
            </a:r>
            <a:r>
              <a:rPr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9F68-F8EF-E6F8-E6F7-999CDD89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AF486-953F-91AC-F2C4-E00F833BF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EEC58-0358-B78B-D8B0-E49054F21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ČAS: 45 s. Celkem </a:t>
            </a:r>
            <a:r>
              <a:rPr dirty="0" err="1"/>
              <a:t>před</a:t>
            </a:r>
            <a:r>
              <a:rPr dirty="0"/>
              <a:t> </a:t>
            </a:r>
            <a:r>
              <a:rPr dirty="0" err="1"/>
              <a:t>tímto</a:t>
            </a:r>
            <a:r>
              <a:rPr dirty="0"/>
              <a:t> </a:t>
            </a:r>
            <a:r>
              <a:rPr dirty="0" err="1"/>
              <a:t>snímkem</a:t>
            </a:r>
            <a:r>
              <a:rPr dirty="0"/>
              <a:t>: 1155 s.</a:t>
            </a:r>
          </a:p>
          <a:p>
            <a:endParaRPr dirty="0"/>
          </a:p>
          <a:p>
            <a:r>
              <a:rPr dirty="0"/>
              <a:t>Závěrem </a:t>
            </a:r>
            <a:r>
              <a:rPr dirty="0" err="1"/>
              <a:t>zopakujte</a:t>
            </a:r>
            <a:r>
              <a:rPr dirty="0"/>
              <a:t> </a:t>
            </a:r>
            <a:r>
              <a:rPr dirty="0" err="1"/>
              <a:t>rozdělení</a:t>
            </a:r>
            <a:r>
              <a:rPr dirty="0"/>
              <a:t> </a:t>
            </a:r>
            <a:r>
              <a:rPr dirty="0" err="1"/>
              <a:t>rolí</a:t>
            </a:r>
            <a:r>
              <a:rPr dirty="0"/>
              <a:t>: HL7 je </a:t>
            </a:r>
            <a:r>
              <a:rPr dirty="0" err="1"/>
              <a:t>organizace</a:t>
            </a:r>
            <a:r>
              <a:rPr dirty="0"/>
              <a:t> a </a:t>
            </a:r>
            <a:r>
              <a:rPr dirty="0" err="1"/>
              <a:t>rodina</a:t>
            </a:r>
            <a:r>
              <a:rPr dirty="0"/>
              <a:t> </a:t>
            </a:r>
            <a:r>
              <a:rPr dirty="0" err="1"/>
              <a:t>standardů</a:t>
            </a:r>
            <a:r>
              <a:rPr dirty="0"/>
              <a:t>. FHIR </a:t>
            </a:r>
            <a:r>
              <a:rPr dirty="0" err="1"/>
              <a:t>umožňuje</a:t>
            </a:r>
            <a:r>
              <a:rPr dirty="0"/>
              <a:t> </a:t>
            </a:r>
            <a:r>
              <a:rPr dirty="0" err="1"/>
              <a:t>strukturovanou</a:t>
            </a:r>
            <a:r>
              <a:rPr dirty="0"/>
              <a:t> </a:t>
            </a:r>
            <a:r>
              <a:rPr dirty="0" err="1"/>
              <a:t>výměnu</a:t>
            </a:r>
            <a:r>
              <a:rPr dirty="0"/>
              <a:t> </a:t>
            </a:r>
            <a:r>
              <a:rPr dirty="0" err="1"/>
              <a:t>informací</a:t>
            </a:r>
            <a:r>
              <a:rPr dirty="0"/>
              <a:t>. </a:t>
            </a:r>
            <a:r>
              <a:rPr dirty="0" err="1"/>
              <a:t>Evropský</a:t>
            </a:r>
            <a:r>
              <a:rPr dirty="0"/>
              <a:t> Cancer Common </a:t>
            </a:r>
            <a:r>
              <a:rPr dirty="0" err="1"/>
              <a:t>sjednocuje</a:t>
            </a:r>
            <a:r>
              <a:rPr dirty="0"/>
              <a:t> </a:t>
            </a:r>
            <a:r>
              <a:rPr dirty="0" err="1"/>
              <a:t>klinické</a:t>
            </a:r>
            <a:r>
              <a:rPr dirty="0"/>
              <a:t> </a:t>
            </a:r>
            <a:r>
              <a:rPr dirty="0" err="1"/>
              <a:t>pojmy</a:t>
            </a:r>
            <a:r>
              <a:rPr dirty="0"/>
              <a:t> a </a:t>
            </a:r>
            <a:r>
              <a:rPr dirty="0" err="1"/>
              <a:t>mCODE</a:t>
            </a:r>
            <a:r>
              <a:rPr dirty="0"/>
              <a:t> </a:t>
            </a:r>
            <a:r>
              <a:rPr dirty="0" err="1"/>
              <a:t>nabízí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FHIR </a:t>
            </a:r>
            <a:r>
              <a:rPr dirty="0" err="1"/>
              <a:t>profily</a:t>
            </a:r>
            <a:r>
              <a:rPr dirty="0"/>
              <a:t>. Týmy </a:t>
            </a:r>
            <a:r>
              <a:rPr dirty="0" err="1"/>
              <a:t>mohou</a:t>
            </a:r>
            <a:r>
              <a:rPr dirty="0"/>
              <a:t> </a:t>
            </a:r>
            <a:r>
              <a:rPr dirty="0" err="1"/>
              <a:t>navázat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veřejné</a:t>
            </a:r>
            <a:r>
              <a:rPr dirty="0"/>
              <a:t> </a:t>
            </a:r>
            <a:r>
              <a:rPr dirty="0" err="1"/>
              <a:t>zdroje</a:t>
            </a:r>
            <a:r>
              <a:rPr dirty="0"/>
              <a:t> a </a:t>
            </a:r>
            <a:r>
              <a:rPr dirty="0" err="1"/>
              <a:t>zapojit</a:t>
            </a:r>
            <a:r>
              <a:rPr dirty="0"/>
              <a:t> se do </a:t>
            </a:r>
            <a:r>
              <a:rPr dirty="0" err="1"/>
              <a:t>odborné</a:t>
            </a:r>
            <a:r>
              <a:rPr dirty="0"/>
              <a:t> </a:t>
            </a:r>
            <a:r>
              <a:rPr dirty="0" err="1"/>
              <a:t>komunity</a:t>
            </a:r>
            <a:r>
              <a:rPr dirty="0"/>
              <a:t>. </a:t>
            </a:r>
            <a:r>
              <a:rPr dirty="0" err="1"/>
              <a:t>Odkazy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snímku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klikatelné</a:t>
            </a:r>
            <a:r>
              <a:rPr dirty="0"/>
              <a:t>. U </a:t>
            </a:r>
            <a:r>
              <a:rPr dirty="0" err="1"/>
              <a:t>průběžných</a:t>
            </a:r>
            <a:r>
              <a:rPr dirty="0"/>
              <a:t> </a:t>
            </a:r>
            <a:r>
              <a:rPr dirty="0" err="1"/>
              <a:t>buildů</a:t>
            </a:r>
            <a:r>
              <a:rPr dirty="0"/>
              <a:t> se </a:t>
            </a:r>
            <a:r>
              <a:rPr dirty="0" err="1"/>
              <a:t>obsah</a:t>
            </a:r>
            <a:r>
              <a:rPr dirty="0"/>
              <a:t> </a:t>
            </a:r>
            <a:r>
              <a:rPr dirty="0" err="1"/>
              <a:t>mění</a:t>
            </a:r>
            <a:r>
              <a:rPr dirty="0"/>
              <a:t>, proto pro </a:t>
            </a:r>
            <a:r>
              <a:rPr dirty="0" err="1"/>
              <a:t>implementaci</a:t>
            </a:r>
            <a:r>
              <a:rPr dirty="0"/>
              <a:t> </a:t>
            </a:r>
            <a:r>
              <a:rPr dirty="0" err="1"/>
              <a:t>vyberte</a:t>
            </a:r>
            <a:r>
              <a:rPr dirty="0"/>
              <a:t> </a:t>
            </a:r>
            <a:r>
              <a:rPr dirty="0" err="1"/>
              <a:t>konkrétní</a:t>
            </a:r>
            <a:r>
              <a:rPr dirty="0"/>
              <a:t> </a:t>
            </a:r>
            <a:r>
              <a:rPr dirty="0" err="1"/>
              <a:t>publikovanou</a:t>
            </a:r>
            <a:r>
              <a:rPr dirty="0"/>
              <a:t> </a:t>
            </a:r>
            <a:r>
              <a:rPr dirty="0" err="1"/>
              <a:t>verzi</a:t>
            </a:r>
            <a:r>
              <a:rPr dirty="0"/>
              <a:t>. V </a:t>
            </a:r>
            <a:r>
              <a:rPr dirty="0" err="1"/>
              <a:t>této</a:t>
            </a:r>
            <a:r>
              <a:rPr dirty="0"/>
              <a:t> </a:t>
            </a:r>
            <a:r>
              <a:rPr dirty="0" err="1"/>
              <a:t>prezentaci</a:t>
            </a:r>
            <a:r>
              <a:rPr dirty="0"/>
              <a:t> </a:t>
            </a:r>
            <a:r>
              <a:rPr dirty="0" err="1"/>
              <a:t>používáme</a:t>
            </a:r>
            <a:r>
              <a:rPr dirty="0"/>
              <a:t> Cancer Common 1.0.0-ballot a </a:t>
            </a:r>
            <a:r>
              <a:rPr dirty="0" err="1"/>
              <a:t>mCODE</a:t>
            </a:r>
            <a:r>
              <a:rPr dirty="0"/>
              <a:t> STU4 4.0.0. </a:t>
            </a:r>
            <a:r>
              <a:rPr dirty="0" err="1"/>
              <a:t>Zdroje</a:t>
            </a:r>
            <a:r>
              <a:rPr dirty="0"/>
              <a:t> </a:t>
            </a:r>
            <a:r>
              <a:rPr dirty="0" err="1"/>
              <a:t>byly</a:t>
            </a:r>
            <a:r>
              <a:rPr dirty="0"/>
              <a:t> </a:t>
            </a:r>
            <a:r>
              <a:rPr dirty="0" err="1"/>
              <a:t>posouzeny</a:t>
            </a:r>
            <a:r>
              <a:rPr dirty="0"/>
              <a:t> k 10. </a:t>
            </a:r>
            <a:r>
              <a:rPr dirty="0" err="1"/>
              <a:t>říjnu</a:t>
            </a:r>
            <a:r>
              <a:rPr dirty="0"/>
              <a:t> 2026.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ZDROJE (</a:t>
            </a:r>
            <a:r>
              <a:rPr dirty="0" err="1"/>
              <a:t>ověřeno</a:t>
            </a:r>
            <a:r>
              <a:rPr dirty="0"/>
              <a:t> 10. 10. 2026):</a:t>
            </a:r>
          </a:p>
          <a:p>
            <a:r>
              <a:rPr dirty="0"/>
              <a:t>https://dev3.hl7.org/about/</a:t>
            </a:r>
            <a:r>
              <a:rPr dirty="0" err="1"/>
              <a:t>index.cfm</a:t>
            </a:r>
            <a:endParaRPr dirty="0"/>
          </a:p>
          <a:p>
            <a:r>
              <a:rPr dirty="0"/>
              <a:t>https://hl7.eu/</a:t>
            </a:r>
            <a:r>
              <a:rPr dirty="0" err="1"/>
              <a:t>fhir</a:t>
            </a:r>
            <a:r>
              <a:rPr dirty="0"/>
              <a:t>/cancer-common/</a:t>
            </a:r>
          </a:p>
          <a:p>
            <a:r>
              <a:rPr dirty="0"/>
              <a:t>https://hl7.org/</a:t>
            </a:r>
            <a:r>
              <a:rPr dirty="0" err="1"/>
              <a:t>fhir</a:t>
            </a:r>
            <a:r>
              <a:rPr dirty="0"/>
              <a:t>/us/</a:t>
            </a:r>
            <a:r>
              <a:rPr dirty="0" err="1"/>
              <a:t>mcode</a:t>
            </a:r>
            <a:r>
              <a:rPr dirty="0"/>
              <a:t>/STU4/</a:t>
            </a:r>
          </a:p>
          <a:p>
            <a:r>
              <a:rPr dirty="0"/>
              <a:t>https://hl7.cz/</a:t>
            </a:r>
            <a:r>
              <a:rPr dirty="0" err="1"/>
              <a:t>fhir</a:t>
            </a:r>
            <a:r>
              <a:rPr dirty="0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AC87-7566-A301-40D2-5926121FA6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1240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1C6B819-523D-4014-AE8D-26EB6C57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9907B68-A778-4ABE-885E-9BB92D518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4C34DE5-9D57-40BC-86B6-D6CEFC7D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0AB2488-9BDE-444E-B525-FDD8B29CC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775DD6-3948-46E0-AA35-BB32E7126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74CBC9C-46BF-4C1F-B58F-59969DBB20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094781-EBBA-4D57-ACFC-5369D369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2F9DFE3-4E3C-4BD9-8C60-CD048DE22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hl7.cz/fhir" TargetMode="External"/><Relationship Id="rId4" Type="http://schemas.openxmlformats.org/officeDocument/2006/relationships/hyperlink" Target="https://hl7.eu/fhi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hl7.eu/fhir/cancer-common/1.0.0-ballot/logicalmodels.html#overview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hl7.cz/fhir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hl7.org/fhir/us/mcode/STU4/" TargetMode="External"/><Relationship Id="rId5" Type="http://schemas.openxmlformats.org/officeDocument/2006/relationships/hyperlink" Target="https://hl7.eu/fhir/cancer-common/" TargetMode="External"/><Relationship Id="rId4" Type="http://schemas.openxmlformats.org/officeDocument/2006/relationships/hyperlink" Target="https://HL7.or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hyperlink" Target="https://www.hl7europe.eu/hl7-europe-working-group-meeting-malaga-2026/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L7: propojené informace pro zdravotnict">
            <a:extLst>
              <a:ext uri="{FF2B5EF4-FFF2-40B4-BE49-F238E27FC236}">
                <a16:creationId xmlns:a16="http://schemas.microsoft.com/office/drawing/2014/main" id="{D35BF6DC-E7AB-4FBD-9E3F-48BF3E537988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HL7: propojené informace pro zdravotnictví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3A9978-4C6B-4FF6-9CC1-AB1B445E0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Úvod">
            <a:extLst>
              <a:ext uri="{FF2B5EF4-FFF2-40B4-BE49-F238E27FC236}">
                <a16:creationId xmlns:a16="http://schemas.microsoft.com/office/drawing/2014/main" id="{A22302CD-B568-42C3-B1C5-E8C5E0F2A0B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Úvod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3B9B8143-872D-4BAD-B408-8C69D7067CA4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Společný jazyk&#10;zdravotnických dat">
            <a:extLst>
              <a:ext uri="{FF2B5EF4-FFF2-40B4-BE49-F238E27FC236}">
                <a16:creationId xmlns:a16="http://schemas.microsoft.com/office/drawing/2014/main" id="{52439F1D-B973-4BC7-A095-DB074467639B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7632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05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405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Společný jazyk</a:t>
            </a:r>
          </a:p>
          <a:p>
            <a:pPr>
              <a:defRPr sz="405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zdravotnických dat</a:t>
            </a:r>
          </a:p>
        </p:txBody>
      </p:sp>
      <p:sp>
        <p:nvSpPr>
          <p:cNvPr id="6" name="Health Level Seven® (HL7®) International">
            <a:extLst>
              <a:ext uri="{FF2B5EF4-FFF2-40B4-BE49-F238E27FC236}">
                <a16:creationId xmlns:a16="http://schemas.microsoft.com/office/drawing/2014/main" id="{8F54AA17-19DE-4218-8349-E452AB98861A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76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Health Level Seven® (HL7®) International</a:t>
            </a:r>
          </a:p>
        </p:txBody>
      </p:sp>
      <p:sp>
        <p:nvSpPr>
          <p:cNvPr id="7" name="Organizace, standardy a onkologická data">
            <a:extLst>
              <a:ext uri="{FF2B5EF4-FFF2-40B4-BE49-F238E27FC236}">
                <a16:creationId xmlns:a16="http://schemas.microsoft.com/office/drawing/2014/main" id="{6053F39A-7FC3-47B0-AD9C-4D8B2664FA84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763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Organizace, standardy a onkologická data</a:t>
            </a:r>
          </a:p>
          <a:p>
            <a:pPr>
              <a:def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Evropský Cancer Common a mCODE</a:t>
            </a:r>
          </a:p>
        </p:txBody>
      </p:sp>
      <p:sp>
        <p:nvSpPr>
          <p:cNvPr id="8" name="Rakathon 2026  /  20 minut">
            <a:extLst>
              <a:ext uri="{FF2B5EF4-FFF2-40B4-BE49-F238E27FC236}">
                <a16:creationId xmlns:a16="http://schemas.microsoft.com/office/drawing/2014/main" id="{9272135A-0F0B-41D9-BCE1-ED35E3B331C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75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20 minut</a:t>
            </a:r>
          </a:p>
        </p:txBody>
      </p:sp>
      <p:sp>
        <p:nvSpPr>
          <p:cNvPr id="9" name="Health Level Seven, HL7, CDA a FHIR jsou">
            <a:extLst>
              <a:ext uri="{FF2B5EF4-FFF2-40B4-BE49-F238E27FC236}">
                <a16:creationId xmlns:a16="http://schemas.microsoft.com/office/drawing/2014/main" id="{B3F97DA5-76BF-433E-AB5B-A23B9DF0A224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25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825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Health Level Seven, HL7, CDA a FHIR jsou registrované ochranné známky Health Level Seven International.</a:t>
            </a:r>
          </a:p>
          <a:p>
            <a:pPr>
              <a:defRPr sz="825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Tato vzdělávací prezentace nepředstavuje schválení nebo doporučení konkrétního produktu organizací HL7.</a:t>
            </a:r>
          </a:p>
        </p:txBody>
      </p:sp>
    </p:spTree>
    <p:extLst>
      <p:ext uri="{BB962C8B-B14F-4D97-AF65-F5344CB8AC3E}">
        <p14:creationId xmlns:p14="http://schemas.microsoft.com/office/powerpoint/2010/main" val="174244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L7 International: organizace a komunita">
            <a:extLst>
              <a:ext uri="{FF2B5EF4-FFF2-40B4-BE49-F238E27FC236}">
                <a16:creationId xmlns:a16="http://schemas.microsoft.com/office/drawing/2014/main" id="{6566570E-E29A-4033-A840-B0D4921856D4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HL7 International: organizace a komunita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00D658-2283-4BA9-ACFC-26C6A96E5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HL7 jako organizace">
            <a:extLst>
              <a:ext uri="{FF2B5EF4-FFF2-40B4-BE49-F238E27FC236}">
                <a16:creationId xmlns:a16="http://schemas.microsoft.com/office/drawing/2014/main" id="{D61A3B09-5378-4E62-A153-ED1A563038F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HL7 jako organizace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A473E048-4622-4076-A70D-31BA0184FAE7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Nezisková organizace rozvíjející zdravot">
            <a:extLst>
              <a:ext uri="{FF2B5EF4-FFF2-40B4-BE49-F238E27FC236}">
                <a16:creationId xmlns:a16="http://schemas.microsoft.com/office/drawing/2014/main" id="{E47A2C12-E262-43D9-A3AC-3EB845D6B37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Nezisková organizace rozvíjející zdravotnické standardy.</a:t>
            </a:r>
          </a:p>
        </p:txBody>
      </p:sp>
      <p:sp>
        <p:nvSpPr>
          <p:cNvPr id="6" name="Společná práce">
            <a:extLst>
              <a:ext uri="{FF2B5EF4-FFF2-40B4-BE49-F238E27FC236}">
                <a16:creationId xmlns:a16="http://schemas.microsoft.com/office/drawing/2014/main" id="{321494DD-FD37-44E5-BA8D-F3B14A587951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Společná práce</a:t>
            </a:r>
          </a:p>
        </p:txBody>
      </p:sp>
      <p:sp>
        <p:nvSpPr>
          <p:cNvPr id="7" name="Zdravotníci, vývojáři a další odborníci ">
            <a:extLst>
              <a:ext uri="{FF2B5EF4-FFF2-40B4-BE49-F238E27FC236}">
                <a16:creationId xmlns:a16="http://schemas.microsoft.com/office/drawing/2014/main" id="{92BF9505-2B59-420A-AAF7-AF4261F8D6F8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Zdravotníci, vývojáři a další odborníci hledají společná pravidla.</a:t>
            </a:r>
          </a:p>
        </p:txBody>
      </p:sp>
      <p:sp>
        <p:nvSpPr>
          <p:cNvPr id="8" name="Mezinárodní dosah">
            <a:extLst>
              <a:ext uri="{FF2B5EF4-FFF2-40B4-BE49-F238E27FC236}">
                <a16:creationId xmlns:a16="http://schemas.microsoft.com/office/drawing/2014/main" id="{7FC9869B-951B-4043-892D-0B2F1365D02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Mezinárodní dosah</a:t>
            </a:r>
          </a:p>
        </p:txBody>
      </p:sp>
      <p:sp>
        <p:nvSpPr>
          <p:cNvPr id="9" name="Mezinárodní specifikace doplňují evropsk">
            <a:extLst>
              <a:ext uri="{FF2B5EF4-FFF2-40B4-BE49-F238E27FC236}">
                <a16:creationId xmlns:a16="http://schemas.microsoft.com/office/drawing/2014/main" id="{F26F4F21-CBE1-40CC-A806-26861486FCB0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Mezinárodní specifikace doplňují evropské i národní komunity.</a:t>
            </a:r>
          </a:p>
        </p:txBody>
      </p:sp>
      <p:sp>
        <p:nvSpPr>
          <p:cNvPr id="10" name="Veřejné zdroje">
            <a:extLst>
              <a:ext uri="{FF2B5EF4-FFF2-40B4-BE49-F238E27FC236}">
                <a16:creationId xmlns:a16="http://schemas.microsoft.com/office/drawing/2014/main" id="{C5A2F091-B66D-4D26-876D-2EB8A991663E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Veřejné zdroje</a:t>
            </a:r>
          </a:p>
        </p:txBody>
      </p:sp>
      <p:sp>
        <p:nvSpPr>
          <p:cNvPr id="11" name="Specifikace, příklady a vzdělávání pomáh">
            <a:extLst>
              <a:ext uri="{FF2B5EF4-FFF2-40B4-BE49-F238E27FC236}">
                <a16:creationId xmlns:a16="http://schemas.microsoft.com/office/drawing/2014/main" id="{51FC14E2-9C55-4A93-9BE5-D0805D7EAEF9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Specifikace, příklady a vzdělávání pomáhají při vývoji aplikací.</a:t>
            </a:r>
          </a:p>
        </p:txBody>
      </p:sp>
      <p:sp>
        <p:nvSpPr>
          <p:cNvPr id="12" name="Pro týmy je HL7 zdrojem znalostí i partn">
            <a:extLst>
              <a:ext uri="{FF2B5EF4-FFF2-40B4-BE49-F238E27FC236}">
                <a16:creationId xmlns:a16="http://schemas.microsoft.com/office/drawing/2014/main" id="{9A2BC674-8B37-415A-9292-DA5915717C1D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Pro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týmy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je HL7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zdrojem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znalostí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partnerem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pro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interoperabilitu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892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 znamená zkratka HL7">
            <a:extLst>
              <a:ext uri="{FF2B5EF4-FFF2-40B4-BE49-F238E27FC236}">
                <a16:creationId xmlns:a16="http://schemas.microsoft.com/office/drawing/2014/main" id="{FB8EA104-8035-487C-A303-E7DB0A731C5F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Co znamená zkratka HL7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A8285F-2C04-418A-AA2C-8073EEDB9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Základy HL7">
            <a:extLst>
              <a:ext uri="{FF2B5EF4-FFF2-40B4-BE49-F238E27FC236}">
                <a16:creationId xmlns:a16="http://schemas.microsoft.com/office/drawing/2014/main" id="{C4B182BE-A1A5-409E-AD1C-A14B3C83D98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Základy HL7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033EEEDB-B168-44E7-B752-72A689927B52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Health Level Seven International">
            <a:extLst>
              <a:ext uri="{FF2B5EF4-FFF2-40B4-BE49-F238E27FC236}">
                <a16:creationId xmlns:a16="http://schemas.microsoft.com/office/drawing/2014/main" id="{0038A91B-7452-484C-9288-7523AC873D4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Health Level Seven International</a:t>
            </a:r>
          </a:p>
        </p:txBody>
      </p:sp>
      <p:sp>
        <p:nvSpPr>
          <p:cNvPr id="6" name="Health">
            <a:extLst>
              <a:ext uri="{FF2B5EF4-FFF2-40B4-BE49-F238E27FC236}">
                <a16:creationId xmlns:a16="http://schemas.microsoft.com/office/drawing/2014/main" id="{3D87309F-1DB9-48F1-B157-0EEF36D0A188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Health</a:t>
            </a:r>
          </a:p>
        </p:txBody>
      </p:sp>
      <p:sp>
        <p:nvSpPr>
          <p:cNvPr id="7" name="Zdraví a informace pro poskytování péče.">
            <a:extLst>
              <a:ext uri="{FF2B5EF4-FFF2-40B4-BE49-F238E27FC236}">
                <a16:creationId xmlns:a16="http://schemas.microsoft.com/office/drawing/2014/main" id="{DE07155F-7ABA-4F85-97B8-8A477E33B678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Zdraví a informace pro poskytování péče.</a:t>
            </a:r>
          </a:p>
        </p:txBody>
      </p:sp>
      <p:sp>
        <p:nvSpPr>
          <p:cNvPr id="8" name="Level Seven">
            <a:extLst>
              <a:ext uri="{FF2B5EF4-FFF2-40B4-BE49-F238E27FC236}">
                <a16:creationId xmlns:a16="http://schemas.microsoft.com/office/drawing/2014/main" id="{047C3E79-96E1-4107-9BFE-9C1747333A34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Level Seven</a:t>
            </a:r>
          </a:p>
        </p:txBody>
      </p:sp>
      <p:sp>
        <p:nvSpPr>
          <p:cNvPr id="9" name="Sedmá, aplikační vrstva modelu ISO/OSI.">
            <a:extLst>
              <a:ext uri="{FF2B5EF4-FFF2-40B4-BE49-F238E27FC236}">
                <a16:creationId xmlns:a16="http://schemas.microsoft.com/office/drawing/2014/main" id="{21BF518E-84F3-4840-A5ED-4B4F114D0CCF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Sedmá, aplikační vrstva modelu ISO/OSI.</a:t>
            </a:r>
          </a:p>
        </p:txBody>
      </p:sp>
      <p:sp>
        <p:nvSpPr>
          <p:cNvPr id="10" name="Praktický význam">
            <a:extLst>
              <a:ext uri="{FF2B5EF4-FFF2-40B4-BE49-F238E27FC236}">
                <a16:creationId xmlns:a16="http://schemas.microsoft.com/office/drawing/2014/main" id="{B09E637C-C48D-41AD-B6E9-3EA8D850C8BB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Praktický význam</a:t>
            </a:r>
          </a:p>
        </p:txBody>
      </p:sp>
      <p:sp>
        <p:nvSpPr>
          <p:cNvPr id="11" name="Pravidla komunikace mezi zdravotnickými ">
            <a:extLst>
              <a:ext uri="{FF2B5EF4-FFF2-40B4-BE49-F238E27FC236}">
                <a16:creationId xmlns:a16="http://schemas.microsoft.com/office/drawing/2014/main" id="{22249AEE-8898-49F4-9B66-4639C9F4EEFA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Pravidla komunikace mezi zdravotnickými aplikacemi.</a:t>
            </a:r>
          </a:p>
        </p:txBody>
      </p:sp>
      <p:sp>
        <p:nvSpPr>
          <p:cNvPr id="12" name="Název odkazuje na komunikaci aplikací, n">
            <a:extLst>
              <a:ext uri="{FF2B5EF4-FFF2-40B4-BE49-F238E27FC236}">
                <a16:creationId xmlns:a16="http://schemas.microsoft.com/office/drawing/2014/main" id="{91FFB490-1614-4E11-BB4D-3B5C955EDFAC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Název odkazuje na komunikaci aplikací, nikoli na verzi číslo sedm.</a:t>
            </a:r>
          </a:p>
        </p:txBody>
      </p:sp>
    </p:spTree>
    <p:extLst>
      <p:ext uri="{BB962C8B-B14F-4D97-AF65-F5344CB8AC3E}">
        <p14:creationId xmlns:p14="http://schemas.microsoft.com/office/powerpoint/2010/main" val="1686534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 standard přináší aplikacím">
            <a:extLst>
              <a:ext uri="{FF2B5EF4-FFF2-40B4-BE49-F238E27FC236}">
                <a16:creationId xmlns:a16="http://schemas.microsoft.com/office/drawing/2014/main" id="{B3DB246A-E7B2-4B0E-8785-326FED2F70DC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Co standard přináší aplikacím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C561B-E2F0-4FF3-8E20-B2F58892E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Standardy a jejich pří">
            <a:extLst>
              <a:ext uri="{FF2B5EF4-FFF2-40B4-BE49-F238E27FC236}">
                <a16:creationId xmlns:a16="http://schemas.microsoft.com/office/drawing/2014/main" id="{41A3B548-7620-4C72-8A8A-591436FDD5B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Standardy a jejich přínos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4B6785A9-17A0-4563-8666-85C52296D256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Společná pravidla pro strukturu a význam">
            <a:extLst>
              <a:ext uri="{FF2B5EF4-FFF2-40B4-BE49-F238E27FC236}">
                <a16:creationId xmlns:a16="http://schemas.microsoft.com/office/drawing/2014/main" id="{2197DF6D-93C0-46EC-81AC-E60D98564FC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Společná pravidla pro strukturu a význam informací.</a:t>
            </a:r>
          </a:p>
        </p:txBody>
      </p:sp>
      <p:sp>
        <p:nvSpPr>
          <p:cNvPr id="6" name="Struktura">
            <a:extLst>
              <a:ext uri="{FF2B5EF4-FFF2-40B4-BE49-F238E27FC236}">
                <a16:creationId xmlns:a16="http://schemas.microsoft.com/office/drawing/2014/main" id="{1DB2402C-1188-4BAF-8097-A63A07D5A27E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Struktura</a:t>
            </a:r>
          </a:p>
        </p:txBody>
      </p:sp>
      <p:sp>
        <p:nvSpPr>
          <p:cNvPr id="7" name="Aplikace vědí, kam patří pacient, diagnó">
            <a:extLst>
              <a:ext uri="{FF2B5EF4-FFF2-40B4-BE49-F238E27FC236}">
                <a16:creationId xmlns:a16="http://schemas.microsoft.com/office/drawing/2014/main" id="{EB481980-2F67-4F85-BA41-19D448895D9A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Aplikace vědí, kam patří pacient, diagnóza nebo výsledek.</a:t>
            </a:r>
          </a:p>
        </p:txBody>
      </p:sp>
      <p:sp>
        <p:nvSpPr>
          <p:cNvPr id="8" name="Význam">
            <a:extLst>
              <a:ext uri="{FF2B5EF4-FFF2-40B4-BE49-F238E27FC236}">
                <a16:creationId xmlns:a16="http://schemas.microsoft.com/office/drawing/2014/main" id="{A8E5B11B-A98E-4BAF-B58C-CBB6AA4FAE9C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Význam</a:t>
            </a:r>
          </a:p>
        </p:txBody>
      </p:sp>
      <p:sp>
        <p:nvSpPr>
          <p:cNvPr id="9" name="Kód, jednotka a čas pomáhají správně int">
            <a:extLst>
              <a:ext uri="{FF2B5EF4-FFF2-40B4-BE49-F238E27FC236}">
                <a16:creationId xmlns:a16="http://schemas.microsoft.com/office/drawing/2014/main" id="{C4CE9D93-7768-45FC-836B-CC4538AE7273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Kód, jednotka a čas pomáhají správně interpretovat údaj.</a:t>
            </a:r>
          </a:p>
        </p:txBody>
      </p:sp>
      <p:sp>
        <p:nvSpPr>
          <p:cNvPr id="10" name="Předávání">
            <a:extLst>
              <a:ext uri="{FF2B5EF4-FFF2-40B4-BE49-F238E27FC236}">
                <a16:creationId xmlns:a16="http://schemas.microsoft.com/office/drawing/2014/main" id="{EB10BB7A-AA85-47E4-AD49-340C9686AC2D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Předávání</a:t>
            </a:r>
          </a:p>
        </p:txBody>
      </p:sp>
      <p:sp>
        <p:nvSpPr>
          <p:cNvPr id="11" name="Příjemce může data použít pro další prác">
            <a:extLst>
              <a:ext uri="{FF2B5EF4-FFF2-40B4-BE49-F238E27FC236}">
                <a16:creationId xmlns:a16="http://schemas.microsoft.com/office/drawing/2014/main" id="{944A8DE5-7C64-444A-942D-202C684055D0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Příjemce může data použít pro další práci.</a:t>
            </a:r>
          </a:p>
        </p:txBody>
      </p:sp>
      <p:sp>
        <p:nvSpPr>
          <p:cNvPr id="12" name="Přínos: méně nejasností při propojení rů">
            <a:extLst>
              <a:ext uri="{FF2B5EF4-FFF2-40B4-BE49-F238E27FC236}">
                <a16:creationId xmlns:a16="http://schemas.microsoft.com/office/drawing/2014/main" id="{C7E01C77-28F2-4295-955F-EE29581D799D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Přínos: méně nejasností při propojení různých systémů.</a:t>
            </a:r>
          </a:p>
        </p:txBody>
      </p:sp>
    </p:spTree>
    <p:extLst>
      <p:ext uri="{BB962C8B-B14F-4D97-AF65-F5344CB8AC3E}">
        <p14:creationId xmlns:p14="http://schemas.microsoft.com/office/powerpoint/2010/main" val="64416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de se HL7 používá">
            <a:extLst>
              <a:ext uri="{FF2B5EF4-FFF2-40B4-BE49-F238E27FC236}">
                <a16:creationId xmlns:a16="http://schemas.microsoft.com/office/drawing/2014/main" id="{2EFAB337-A200-4E12-9D75-0CD8BE486843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Kde se HL7 používá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1349F9-346B-4067-B07C-A39C605A2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Použití HL7">
            <a:extLst>
              <a:ext uri="{FF2B5EF4-FFF2-40B4-BE49-F238E27FC236}">
                <a16:creationId xmlns:a16="http://schemas.microsoft.com/office/drawing/2014/main" id="{92EBC279-6C97-4970-A02C-BCCF8EA9FE6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Použití HL7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86D40693-9996-41FA-9E08-F3B058253C1E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Při sdílení informací mezi různými částm">
            <a:extLst>
              <a:ext uri="{FF2B5EF4-FFF2-40B4-BE49-F238E27FC236}">
                <a16:creationId xmlns:a16="http://schemas.microsoft.com/office/drawing/2014/main" id="{555ED319-EC7B-4ECE-8160-0C876037632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Při sdílení informací mezi různými částmi zdravotnictví.</a:t>
            </a:r>
          </a:p>
        </p:txBody>
      </p:sp>
      <p:sp>
        <p:nvSpPr>
          <p:cNvPr id="6" name="Nemocnice">
            <a:extLst>
              <a:ext uri="{FF2B5EF4-FFF2-40B4-BE49-F238E27FC236}">
                <a16:creationId xmlns:a16="http://schemas.microsoft.com/office/drawing/2014/main" id="{F0FFFD8C-76EC-4667-99D7-FA05956D8F60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Nemocnice</a:t>
            </a:r>
          </a:p>
        </p:txBody>
      </p:sp>
      <p:sp>
        <p:nvSpPr>
          <p:cNvPr id="7" name="Propojení klinických, laboratorních a da">
            <a:extLst>
              <a:ext uri="{FF2B5EF4-FFF2-40B4-BE49-F238E27FC236}">
                <a16:creationId xmlns:a16="http://schemas.microsoft.com/office/drawing/2014/main" id="{B6AC72CA-2DE5-42F5-B4E8-A93CE288C349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Propojení klinických, laboratorních a dalších systémů.</a:t>
            </a:r>
          </a:p>
        </p:txBody>
      </p:sp>
      <p:sp>
        <p:nvSpPr>
          <p:cNvPr id="8" name="Aplikace pro péči">
            <a:extLst>
              <a:ext uri="{FF2B5EF4-FFF2-40B4-BE49-F238E27FC236}">
                <a16:creationId xmlns:a16="http://schemas.microsoft.com/office/drawing/2014/main" id="{4DA67228-A5BB-4689-ABFB-4F3F030FB1A2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Aplikace pro péči</a:t>
            </a:r>
          </a:p>
        </p:txBody>
      </p:sp>
      <p:sp>
        <p:nvSpPr>
          <p:cNvPr id="9" name="Přístup ke zdravotním záznamům a výsledk">
            <a:extLst>
              <a:ext uri="{FF2B5EF4-FFF2-40B4-BE49-F238E27FC236}">
                <a16:creationId xmlns:a16="http://schemas.microsoft.com/office/drawing/2014/main" id="{5BBF2F32-F512-446B-983E-11E95129B3FF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Přístup ke zdravotním záznamům a výsledkům vyšetření.</a:t>
            </a:r>
          </a:p>
        </p:txBody>
      </p:sp>
      <p:sp>
        <p:nvSpPr>
          <p:cNvPr id="10" name="Výzkum a analytika">
            <a:extLst>
              <a:ext uri="{FF2B5EF4-FFF2-40B4-BE49-F238E27FC236}">
                <a16:creationId xmlns:a16="http://schemas.microsoft.com/office/drawing/2014/main" id="{418B67CF-54B1-4A9E-B2BE-42493C5207CF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Výzkum a analytika</a:t>
            </a:r>
          </a:p>
        </p:txBody>
      </p:sp>
      <p:sp>
        <p:nvSpPr>
          <p:cNvPr id="11" name="Strukturovaná data jako základ pro další">
            <a:extLst>
              <a:ext uri="{FF2B5EF4-FFF2-40B4-BE49-F238E27FC236}">
                <a16:creationId xmlns:a16="http://schemas.microsoft.com/office/drawing/2014/main" id="{ADD31777-76BE-46C0-9FEF-B54ACC01DA62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Strukturovaná data jako základ pro další využití.</a:t>
            </a:r>
          </a:p>
        </p:txBody>
      </p:sp>
      <p:sp>
        <p:nvSpPr>
          <p:cNvPr id="12" name="Stejná informace může podpořit péči i da">
            <a:extLst>
              <a:ext uri="{FF2B5EF4-FFF2-40B4-BE49-F238E27FC236}">
                <a16:creationId xmlns:a16="http://schemas.microsoft.com/office/drawing/2014/main" id="{FF19B0CF-448F-40EC-892B-870831576102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Stejná informace může podpořit péči i další práci s daty.</a:t>
            </a:r>
          </a:p>
        </p:txBody>
      </p:sp>
    </p:spTree>
    <p:extLst>
      <p:ext uri="{BB962C8B-B14F-4D97-AF65-F5344CB8AC3E}">
        <p14:creationId xmlns:p14="http://schemas.microsoft.com/office/powerpoint/2010/main" val="728058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dina standardů HL7">
            <a:extLst>
              <a:ext uri="{FF2B5EF4-FFF2-40B4-BE49-F238E27FC236}">
                <a16:creationId xmlns:a16="http://schemas.microsoft.com/office/drawing/2014/main" id="{48091611-08BF-4ADC-995C-857D1EBFDB03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Rodina standardů HL7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BF1061-B003-40A1-A495-CC594DF93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Standardy a jejich pří">
            <a:extLst>
              <a:ext uri="{FF2B5EF4-FFF2-40B4-BE49-F238E27FC236}">
                <a16:creationId xmlns:a16="http://schemas.microsoft.com/office/drawing/2014/main" id="{73FE8247-CD3A-4524-BA1F-3C7A1A26A69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Standardy a jejich přínos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BF0BA7A3-59E1-43AF-B699-BA1E7EBC7031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53B060-B64E-4EC8-A525-9761AB78EA3F}"/>
              </a:ext>
            </a:extLst>
          </p:cNvPr>
          <p:cNvGraphicFramePr/>
          <p:nvPr/>
        </p:nvGraphicFramePr>
        <p:xfrm>
          <a:off x="609600" y="1981200"/>
          <a:ext cx="10972800" cy="3476624"/>
        </p:xfrm>
        <a:graphic>
          <a:graphicData uri="http://schemas.openxmlformats.org/drawingml/2006/table">
            <a:tbl>
              <a:tblPr/>
              <a:tblGrid>
                <a:gridCol w="43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 předává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Typické použití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HL7 Version 2 (V2)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Zprávu o události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Příjem pacienta, objednávky</a:t>
                      </a:r>
                    </a:p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výsledky vyšetření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Clinical Document</a:t>
                      </a:r>
                    </a:p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Architecture (CDA)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Klinický dokument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Propouštěcí zpráva</a:t>
                      </a:r>
                    </a:p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pacientský souhrn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Fast Healthcare Interoperability</a:t>
                      </a:r>
                    </a:p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Resources (FHIR)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Propojené datové záznamy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Moderní aplikace</a:t>
                      </a:r>
                    </a:p>
                    <a:p>
                      <a:r>
                        <a:rPr sz="187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programová rozhraní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HIR je moderní člen rodiny HL7. V2 a CD">
            <a:extLst>
              <a:ext uri="{FF2B5EF4-FFF2-40B4-BE49-F238E27FC236}">
                <a16:creationId xmlns:a16="http://schemas.microsoft.com/office/drawing/2014/main" id="{8F5296E2-A999-44FD-B902-2D5B72B396EF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FHIR je moderní člen rodiny HL7. V2 a CDA se dál používají.</a:t>
            </a:r>
          </a:p>
        </p:txBody>
      </p:sp>
    </p:spTree>
    <p:extLst>
      <p:ext uri="{BB962C8B-B14F-4D97-AF65-F5344CB8AC3E}">
        <p14:creationId xmlns:p14="http://schemas.microsoft.com/office/powerpoint/2010/main" val="200121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HIR: zdravotnická data pro moderní apli">
            <a:extLst>
              <a:ext uri="{FF2B5EF4-FFF2-40B4-BE49-F238E27FC236}">
                <a16:creationId xmlns:a16="http://schemas.microsoft.com/office/drawing/2014/main" id="{FB16A59A-C83E-4BFE-B0EB-B83A2ED87C9E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FHIR: zdravotnická data pro moderní aplikace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0BFC7-C367-4E61-9B54-8FD3AFA1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HL7 FHIR">
            <a:extLst>
              <a:ext uri="{FF2B5EF4-FFF2-40B4-BE49-F238E27FC236}">
                <a16:creationId xmlns:a16="http://schemas.microsoft.com/office/drawing/2014/main" id="{B8F9ED27-92D2-47FE-9B98-794CEE70BAC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HL7 FHIR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676E33EF-46F0-44AB-B241-F94C4123B5EF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Fast Healthcare Interoperability Resourc">
            <a:extLst>
              <a:ext uri="{FF2B5EF4-FFF2-40B4-BE49-F238E27FC236}">
                <a16:creationId xmlns:a16="http://schemas.microsoft.com/office/drawing/2014/main" id="{67BA0695-FBB6-4CDD-A536-48EC265451F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Fast Healthcare Interoperability Resources</a:t>
            </a:r>
          </a:p>
        </p:txBody>
      </p:sp>
      <p:sp>
        <p:nvSpPr>
          <p:cNvPr id="6" name="Malé stavební bloky">
            <a:extLst>
              <a:ext uri="{FF2B5EF4-FFF2-40B4-BE49-F238E27FC236}">
                <a16:creationId xmlns:a16="http://schemas.microsoft.com/office/drawing/2014/main" id="{D6DCCA7C-54A7-4845-B854-7733E36081F9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Malé stavební bloky</a:t>
            </a:r>
          </a:p>
        </p:txBody>
      </p:sp>
      <p:sp>
        <p:nvSpPr>
          <p:cNvPr id="7" name="Patient popisuje pacienta, Condition dia">
            <a:extLst>
              <a:ext uri="{FF2B5EF4-FFF2-40B4-BE49-F238E27FC236}">
                <a16:creationId xmlns:a16="http://schemas.microsoft.com/office/drawing/2014/main" id="{AC232786-1941-4EF4-952F-FD8CAE7C0218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Patient popisuje pacienta, Condition diagnózu, Observation výsledek.</a:t>
            </a:r>
          </a:p>
        </p:txBody>
      </p:sp>
      <p:sp>
        <p:nvSpPr>
          <p:cNvPr id="8" name="Propojené informace">
            <a:extLst>
              <a:ext uri="{FF2B5EF4-FFF2-40B4-BE49-F238E27FC236}">
                <a16:creationId xmlns:a16="http://schemas.microsoft.com/office/drawing/2014/main" id="{A454098B-1C65-4F8E-B84D-1AC4C400CB2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Propojené informace</a:t>
            </a:r>
          </a:p>
        </p:txBody>
      </p:sp>
      <p:sp>
        <p:nvSpPr>
          <p:cNvPr id="9" name="Odkazy určují, které záznamy spolu souvi">
            <a:extLst>
              <a:ext uri="{FF2B5EF4-FFF2-40B4-BE49-F238E27FC236}">
                <a16:creationId xmlns:a16="http://schemas.microsoft.com/office/drawing/2014/main" id="{EF92F564-9F21-4C62-BF03-8B98DC3FAB37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Odkazy určují, které záznamy spolu souvisejí.</a:t>
            </a:r>
          </a:p>
        </p:txBody>
      </p:sp>
      <p:sp>
        <p:nvSpPr>
          <p:cNvPr id="10" name="Webové technologie">
            <a:extLst>
              <a:ext uri="{FF2B5EF4-FFF2-40B4-BE49-F238E27FC236}">
                <a16:creationId xmlns:a16="http://schemas.microsoft.com/office/drawing/2014/main" id="{542B39AF-EF95-4C79-A670-B664AC93D934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Webové technologie</a:t>
            </a:r>
          </a:p>
        </p:txBody>
      </p:sp>
      <p:sp>
        <p:nvSpPr>
          <p:cNvPr id="11" name="JSON nebo XML a API, tedy rozhraní pro k">
            <a:extLst>
              <a:ext uri="{FF2B5EF4-FFF2-40B4-BE49-F238E27FC236}">
                <a16:creationId xmlns:a16="http://schemas.microsoft.com/office/drawing/2014/main" id="{7858D473-C7DB-48F9-A061-EF84DBC0AD75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JSON nebo XML a API, tedy rozhraní pro komunikaci programů.</a:t>
            </a:r>
          </a:p>
        </p:txBody>
      </p:sp>
      <p:sp>
        <p:nvSpPr>
          <p:cNvPr id="12" name="Aplikace může pracovat s konkrétními úda">
            <a:extLst>
              <a:ext uri="{FF2B5EF4-FFF2-40B4-BE49-F238E27FC236}">
                <a16:creationId xmlns:a16="http://schemas.microsoft.com/office/drawing/2014/main" id="{D2FEC07F-A6BB-4E68-BA12-BD9BD257EB75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Aplikace může pracovat s konkrétními údaji o pacientovi.</a:t>
            </a:r>
          </a:p>
        </p:txBody>
      </p:sp>
    </p:spTree>
    <p:extLst>
      <p:ext uri="{BB962C8B-B14F-4D97-AF65-F5344CB8AC3E}">
        <p14:creationId xmlns:p14="http://schemas.microsoft.com/office/powerpoint/2010/main" val="173313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HIR v Evropě a v České republice">
            <a:extLst>
              <a:ext uri="{FF2B5EF4-FFF2-40B4-BE49-F238E27FC236}">
                <a16:creationId xmlns:a16="http://schemas.microsoft.com/office/drawing/2014/main" id="{4AE3A645-1741-4D20-A3A1-9E8B3E6ABE85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FHIR v Evropě a v České republice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3AD24-66CE-401D-AB09-596499A17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a a ČR">
            <a:extLst>
              <a:ext uri="{FF2B5EF4-FFF2-40B4-BE49-F238E27FC236}">
                <a16:creationId xmlns:a16="http://schemas.microsoft.com/office/drawing/2014/main" id="{08AB404F-9BC2-48A7-97E1-0BBF46E7C65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Evropa a ČR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4018441E-6710-46D1-8A86-71BE18786A95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Společný základ pro rozvoj výměny zdravo">
            <a:extLst>
              <a:ext uri="{FF2B5EF4-FFF2-40B4-BE49-F238E27FC236}">
                <a16:creationId xmlns:a16="http://schemas.microsoft.com/office/drawing/2014/main" id="{FEF39A74-D534-4DD3-8102-F91E9CB1191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Společný základ pro rozvoj výměny zdravotnických dat.</a:t>
            </a:r>
          </a:p>
        </p:txBody>
      </p:sp>
      <p:sp>
        <p:nvSpPr>
          <p:cNvPr id="6" name="HL7 Europe">
            <a:extLst>
              <a:ext uri="{FF2B5EF4-FFF2-40B4-BE49-F238E27FC236}">
                <a16:creationId xmlns:a16="http://schemas.microsoft.com/office/drawing/2014/main" id="{3298CE3B-39E0-4599-B922-6B12F174CD78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HL7 Europe</a:t>
            </a:r>
          </a:p>
        </p:txBody>
      </p:sp>
      <p:sp>
        <p:nvSpPr>
          <p:cNvPr id="7" name="Evropské implementační příručky podporuj">
            <a:extLst>
              <a:ext uri="{FF2B5EF4-FFF2-40B4-BE49-F238E27FC236}">
                <a16:creationId xmlns:a16="http://schemas.microsoft.com/office/drawing/2014/main" id="{1AB8054E-51DE-4FFE-A021-5E3015688E05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Nařízení EHDS stanovuje povinné použití FHIR pro prioritní typy EHR. 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  <a:hlinkClick r:id="rId4"/>
              </a:rPr>
              <a:t>https://hl7.eu/fhir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endParaRPr sz="2025" b="0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HL7 Česká republika">
            <a:extLst>
              <a:ext uri="{FF2B5EF4-FFF2-40B4-BE49-F238E27FC236}">
                <a16:creationId xmlns:a16="http://schemas.microsoft.com/office/drawing/2014/main" id="{69D6BBA4-A8C3-46BF-BB12-91928D0E896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HL7 Česká republika</a:t>
            </a:r>
          </a:p>
        </p:txBody>
      </p:sp>
      <p:sp>
        <p:nvSpPr>
          <p:cNvPr id="9" name="Národní profily a příručky pro klinické ">
            <a:extLst>
              <a:ext uri="{FF2B5EF4-FFF2-40B4-BE49-F238E27FC236}">
                <a16:creationId xmlns:a16="http://schemas.microsoft.com/office/drawing/2014/main" id="{9B604155-1B79-42BE-8F81-BD5634B86E03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Národní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profily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příručky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pro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klinické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informace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kompatibilní s EU specifikací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.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  <a:hlinkClick r:id="rId5"/>
              </a:rPr>
              <a:t>https://hl7.cz/fhir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endParaRPr sz="2025" b="0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Česká digitalizace">
            <a:extLst>
              <a:ext uri="{FF2B5EF4-FFF2-40B4-BE49-F238E27FC236}">
                <a16:creationId xmlns:a16="http://schemas.microsoft.com/office/drawing/2014/main" id="{64BE39B1-4008-40B4-B0FA-C573401262BF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Česká digitalizace</a:t>
            </a:r>
          </a:p>
        </p:txBody>
      </p:sp>
      <p:sp>
        <p:nvSpPr>
          <p:cNvPr id="11" name="NCEZ uvádí rozhraní FHIR R4 pro výměnu z">
            <a:extLst>
              <a:ext uri="{FF2B5EF4-FFF2-40B4-BE49-F238E27FC236}">
                <a16:creationId xmlns:a16="http://schemas.microsoft.com/office/drawing/2014/main" id="{6E333EF3-EED6-4C74-AE3E-3114AB6BC8E3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NCEZ uvádí rozhraní FHIR R4 pro výměnu zdravotních záznamů.</a:t>
            </a:r>
          </a:p>
        </p:txBody>
      </p:sp>
      <p:sp>
        <p:nvSpPr>
          <p:cNvPr id="12" name="Nový projekt může navázat na evropská i ">
            <a:extLst>
              <a:ext uri="{FF2B5EF4-FFF2-40B4-BE49-F238E27FC236}">
                <a16:creationId xmlns:a16="http://schemas.microsoft.com/office/drawing/2014/main" id="{D77D11C7-9C62-400A-9CFC-4FBCC212CAD7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Nový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projekt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může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navázat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na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evropská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česká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725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pravidla</a:t>
            </a:r>
            <a:r>
              <a:rPr sz="1725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032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č onkologie potřebuje společný model">
            <a:extLst>
              <a:ext uri="{FF2B5EF4-FFF2-40B4-BE49-F238E27FC236}">
                <a16:creationId xmlns:a16="http://schemas.microsoft.com/office/drawing/2014/main" id="{B76E541A-3F6B-4138-9F68-8B6F7761862C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Proč onkologie potřebuje společný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5EED36-8C1E-40CE-862C-B05CB96F0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Onkologické modely">
            <a:extLst>
              <a:ext uri="{FF2B5EF4-FFF2-40B4-BE49-F238E27FC236}">
                <a16:creationId xmlns:a16="http://schemas.microsoft.com/office/drawing/2014/main" id="{D980075F-D7DE-48CC-B773-917F85C9972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Onkologické modely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D06D8D1A-5941-4C51-B406-5877A924E07B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Stejné klinické pojmy napříč aplikacemi ">
            <a:extLst>
              <a:ext uri="{FF2B5EF4-FFF2-40B4-BE49-F238E27FC236}">
                <a16:creationId xmlns:a16="http://schemas.microsoft.com/office/drawing/2014/main" id="{CCD4C468-25EF-4FFF-BE59-41D6CFE758E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Stejné klinické pojmy napříč aplikacemi a projekty.</a:t>
            </a:r>
          </a:p>
        </p:txBody>
      </p:sp>
      <p:sp>
        <p:nvSpPr>
          <p:cNvPr id="6" name="Společný obsah">
            <a:extLst>
              <a:ext uri="{FF2B5EF4-FFF2-40B4-BE49-F238E27FC236}">
                <a16:creationId xmlns:a16="http://schemas.microsoft.com/office/drawing/2014/main" id="{A135DD84-CF80-4344-B5DE-480A661995ED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Společný obsah</a:t>
            </a:r>
          </a:p>
        </p:txBody>
      </p:sp>
      <p:sp>
        <p:nvSpPr>
          <p:cNvPr id="7" name="Co víme o pacientovi, nádoru, léčbě a je">
            <a:extLst>
              <a:ext uri="{FF2B5EF4-FFF2-40B4-BE49-F238E27FC236}">
                <a16:creationId xmlns:a16="http://schemas.microsoft.com/office/drawing/2014/main" id="{6A1E3C46-2F9B-4AE7-863E-110F982A7A0A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Co víme o pacientovi, nádoru, léčbě a jejím výsledku?</a:t>
            </a:r>
          </a:p>
        </p:txBody>
      </p:sp>
      <p:sp>
        <p:nvSpPr>
          <p:cNvPr id="8" name="Srovnatelnost">
            <a:extLst>
              <a:ext uri="{FF2B5EF4-FFF2-40B4-BE49-F238E27FC236}">
                <a16:creationId xmlns:a16="http://schemas.microsoft.com/office/drawing/2014/main" id="{94391C4C-1E65-4B2E-AEFA-4F9A2039ACD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Srovnatelnost</a:t>
            </a:r>
          </a:p>
        </p:txBody>
      </p:sp>
      <p:sp>
        <p:nvSpPr>
          <p:cNvPr id="9" name="Rozlišení údajů usnadňuje jejich propoje">
            <a:extLst>
              <a:ext uri="{FF2B5EF4-FFF2-40B4-BE49-F238E27FC236}">
                <a16:creationId xmlns:a16="http://schemas.microsoft.com/office/drawing/2014/main" id="{950DEC68-4800-47CD-88BE-73FBA2F149C0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Rozlišení údajů usnadňuje jejich propojení a interpretaci.</a:t>
            </a:r>
          </a:p>
        </p:txBody>
      </p:sp>
      <p:sp>
        <p:nvSpPr>
          <p:cNvPr id="10" name="Opakované využití">
            <a:extLst>
              <a:ext uri="{FF2B5EF4-FFF2-40B4-BE49-F238E27FC236}">
                <a16:creationId xmlns:a16="http://schemas.microsoft.com/office/drawing/2014/main" id="{9FF2930E-CCF2-4A2D-8E20-E8A6F0274374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Opakované využití</a:t>
            </a:r>
          </a:p>
        </p:txBody>
      </p:sp>
      <p:sp>
        <p:nvSpPr>
          <p:cNvPr id="11" name="Data mohou sloužit péči, výzkumu i analy">
            <a:extLst>
              <a:ext uri="{FF2B5EF4-FFF2-40B4-BE49-F238E27FC236}">
                <a16:creationId xmlns:a16="http://schemas.microsoft.com/office/drawing/2014/main" id="{91D6040E-D655-42AB-9FB2-3B043EAC461C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Data mohou sloužit péči, výzkumu i analytice.</a:t>
            </a:r>
          </a:p>
        </p:txBody>
      </p:sp>
      <p:sp>
        <p:nvSpPr>
          <p:cNvPr id="12" name="Datový model říká, které informace popis">
            <a:extLst>
              <a:ext uri="{FF2B5EF4-FFF2-40B4-BE49-F238E27FC236}">
                <a16:creationId xmlns:a16="http://schemas.microsoft.com/office/drawing/2014/main" id="{21F5CD46-A05E-4C80-9641-8C8AE771A5EA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Datový model říká, které informace popisujeme a jak spolu souvisejí.</a:t>
            </a:r>
          </a:p>
        </p:txBody>
      </p:sp>
    </p:spTree>
    <p:extLst>
      <p:ext uri="{BB962C8B-B14F-4D97-AF65-F5344CB8AC3E}">
        <p14:creationId xmlns:p14="http://schemas.microsoft.com/office/powerpoint/2010/main" val="79673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cer Common: evropský model onkologick">
            <a:extLst>
              <a:ext uri="{FF2B5EF4-FFF2-40B4-BE49-F238E27FC236}">
                <a16:creationId xmlns:a16="http://schemas.microsoft.com/office/drawing/2014/main" id="{E484855F-1356-44B7-86CD-BA85F08CDE81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Cancer Common: evropský model onkologických dat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A71900-9552-4E38-9736-44330289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9F9B8531-1EDA-401F-9305-BF45F43BAF8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3AFC5F71-5241-4791-A3AA-13A3FEEC562F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European Cancer Common Data Model (ECCDM">
            <a:extLst>
              <a:ext uri="{FF2B5EF4-FFF2-40B4-BE49-F238E27FC236}">
                <a16:creationId xmlns:a16="http://schemas.microsoft.com/office/drawing/2014/main" id="{0F3AF7E3-B063-4B72-BCF5-CC7DC218FE6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European Cancer Common Data Model (ECCDM)</a:t>
            </a:r>
          </a:p>
        </p:txBody>
      </p:sp>
      <p:sp>
        <p:nvSpPr>
          <p:cNvPr id="6" name="Evropský kontext">
            <a:extLst>
              <a:ext uri="{FF2B5EF4-FFF2-40B4-BE49-F238E27FC236}">
                <a16:creationId xmlns:a16="http://schemas.microsoft.com/office/drawing/2014/main" id="{D8BF084C-8C45-4C17-B075-2B686D216EA3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Evropský kontext</a:t>
            </a:r>
          </a:p>
        </p:txBody>
      </p:sp>
      <p:sp>
        <p:nvSpPr>
          <p:cNvPr id="7" name="Společný základ vycházející ze zkušenost">
            <a:extLst>
              <a:ext uri="{FF2B5EF4-FFF2-40B4-BE49-F238E27FC236}">
                <a16:creationId xmlns:a16="http://schemas.microsoft.com/office/drawing/2014/main" id="{203CF749-E460-4E73-A3CF-CAB0826B00F6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Společný základ vycházející ze zkušeností evropských projektů.</a:t>
            </a:r>
          </a:p>
        </p:txBody>
      </p:sp>
      <p:sp>
        <p:nvSpPr>
          <p:cNvPr id="8" name="Napříč nádory">
            <a:extLst>
              <a:ext uri="{FF2B5EF4-FFF2-40B4-BE49-F238E27FC236}">
                <a16:creationId xmlns:a16="http://schemas.microsoft.com/office/drawing/2014/main" id="{5DA984A3-2C0A-4696-96D7-B38800C55C44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Napříč nádory</a:t>
            </a:r>
          </a:p>
        </p:txBody>
      </p:sp>
      <p:sp>
        <p:nvSpPr>
          <p:cNvPr id="9" name="Minimální, rozšiřitelný model pro různé ">
            <a:extLst>
              <a:ext uri="{FF2B5EF4-FFF2-40B4-BE49-F238E27FC236}">
                <a16:creationId xmlns:a16="http://schemas.microsoft.com/office/drawing/2014/main" id="{DBE26F3B-A9AA-4A37-A5C1-AFA335E8C525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Minimální, rozšiřitelný model pro různé typy onemocnění.</a:t>
            </a:r>
          </a:p>
        </p:txBody>
      </p:sp>
      <p:sp>
        <p:nvSpPr>
          <p:cNvPr id="10" name="Péče i výzkum">
            <a:extLst>
              <a:ext uri="{FF2B5EF4-FFF2-40B4-BE49-F238E27FC236}">
                <a16:creationId xmlns:a16="http://schemas.microsoft.com/office/drawing/2014/main" id="{5ACFDF16-BEAA-485E-997E-0E5DB2246942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Péče i výzkum</a:t>
            </a:r>
          </a:p>
        </p:txBody>
      </p:sp>
      <p:sp>
        <p:nvSpPr>
          <p:cNvPr id="11" name="Společné pojmy pro klinická data a jejic">
            <a:extLst>
              <a:ext uri="{FF2B5EF4-FFF2-40B4-BE49-F238E27FC236}">
                <a16:creationId xmlns:a16="http://schemas.microsoft.com/office/drawing/2014/main" id="{D6AE6B73-4997-422C-850D-19B025C7DA73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Společné pojmy pro klinická data a jejich další využití.</a:t>
            </a:r>
          </a:p>
        </p:txBody>
      </p:sp>
      <p:sp>
        <p:nvSpPr>
          <p:cNvPr id="12" name="Publikace 1.0.0-ballot: model k posouzen">
            <a:extLst>
              <a:ext uri="{FF2B5EF4-FFF2-40B4-BE49-F238E27FC236}">
                <a16:creationId xmlns:a16="http://schemas.microsoft.com/office/drawing/2014/main" id="{FE554B1E-42F5-40B3-89D7-6D05A18CF81D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Publikace 1.0.0-ballot: model k posouzení, implementace se dále rozvíjí.</a:t>
            </a:r>
          </a:p>
        </p:txBody>
      </p:sp>
    </p:spTree>
    <p:extLst>
      <p:ext uri="{BB962C8B-B14F-4D97-AF65-F5344CB8AC3E}">
        <p14:creationId xmlns:p14="http://schemas.microsoft.com/office/powerpoint/2010/main" val="184314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F9972-3946-39B6-F69D-CB8C1AFA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aké informace evropský model propojuje">
            <a:extLst>
              <a:ext uri="{FF2B5EF4-FFF2-40B4-BE49-F238E27FC236}">
                <a16:creationId xmlns:a16="http://schemas.microsoft.com/office/drawing/2014/main" id="{B580A37A-714B-C19B-61E2-6E5E82450846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315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Konceptuální</a:t>
            </a:r>
            <a:r>
              <a:rPr sz="315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model</a:t>
            </a:r>
            <a:r>
              <a:rPr lang="cs-CZ" sz="315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péče o onkologického pacienta</a:t>
            </a:r>
            <a:endParaRPr sz="315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379DE4-D54E-46D4-3768-DDA540A75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4CD047E0-9AFC-0A8C-BAEF-FA15CF06D32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dirty="0" err="1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</a:t>
            </a:r>
            <a:r>
              <a:rPr sz="1050" b="0" dirty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 2026  /  </a:t>
            </a:r>
            <a:r>
              <a:rPr sz="1050" b="0" dirty="0" err="1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Evropský</a:t>
            </a:r>
            <a:r>
              <a:rPr sz="1050" b="0" dirty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 Cancer Common</a:t>
            </a:r>
            <a:r>
              <a:rPr lang="cs-CZ" sz="1050" b="0" dirty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 Model</a:t>
            </a:r>
            <a:endParaRPr sz="1050" b="0" dirty="0">
              <a:solidFill>
                <a:srgbClr val="66666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FB93C0D-82CD-EE19-D6E8-9DDEC54C665D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BA605-0FA7-E097-EC1B-6B0E2EAA2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430" y="1564021"/>
            <a:ext cx="7317404" cy="477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5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1F04D-501C-2936-5227-D27E6A394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aké informace evropský model propojuje">
            <a:extLst>
              <a:ext uri="{FF2B5EF4-FFF2-40B4-BE49-F238E27FC236}">
                <a16:creationId xmlns:a16="http://schemas.microsoft.com/office/drawing/2014/main" id="{FB89B46B-D300-C364-B529-D4C74D33A5DA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315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Logický informační</a:t>
            </a:r>
            <a:r>
              <a:rPr sz="315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C53FF2-6727-43FF-D8F8-D2523048A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DDDE762C-593C-680B-917D-739985D6CBD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dirty="0" err="1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</a:t>
            </a:r>
            <a:r>
              <a:rPr sz="1050" b="0" dirty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 2026  /  </a:t>
            </a:r>
            <a:r>
              <a:rPr sz="1050" b="0" dirty="0" err="1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Evropský</a:t>
            </a:r>
            <a:r>
              <a:rPr sz="1050" b="0" dirty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 Cancer Common</a:t>
            </a:r>
            <a:r>
              <a:rPr lang="cs-CZ" sz="1050" b="0" dirty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 Model</a:t>
            </a:r>
            <a:endParaRPr sz="1050" b="0" dirty="0">
              <a:solidFill>
                <a:srgbClr val="66666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FC028BBE-B818-2E2A-3EE7-17EBDA7F3668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1F91C-D4D0-55F6-7917-3FA06D7D8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105" y="2001716"/>
            <a:ext cx="9451789" cy="2854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F51C88-47B3-A224-0A5D-0A96EF92150A}"/>
              </a:ext>
            </a:extLst>
          </p:cNvPr>
          <p:cNvSpPr txBox="1"/>
          <p:nvPr/>
        </p:nvSpPr>
        <p:spPr>
          <a:xfrm>
            <a:off x="609600" y="1367758"/>
            <a:ext cx="1037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Formální, s</a:t>
            </a:r>
            <a:r>
              <a:rPr lang="en-CZ" dirty="0"/>
              <a:t>trojově zpracovatelná reprezentace konceptuálního modelu.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C6BEC-B142-958B-4818-9619BCC1A9C6}"/>
              </a:ext>
            </a:extLst>
          </p:cNvPr>
          <p:cNvSpPr txBox="1"/>
          <p:nvPr/>
        </p:nvSpPr>
        <p:spPr>
          <a:xfrm>
            <a:off x="609600" y="5663133"/>
            <a:ext cx="987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/>
              </a:rPr>
              <a:t>https://hl7.eu/fhir/cancer-common/1.0.0-ballot/logicalmodels.html#overview</a:t>
            </a:r>
            <a:r>
              <a:rPr lang="en-GB" dirty="0"/>
              <a:t> 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3308924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Jaké informace evropský model propojuje">
            <a:extLst>
              <a:ext uri="{FF2B5EF4-FFF2-40B4-BE49-F238E27FC236}">
                <a16:creationId xmlns:a16="http://schemas.microsoft.com/office/drawing/2014/main" id="{7E9C0040-F1F7-40D0-8928-789D19FAD8E7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Jaké informace evropský model propojuje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06874-9298-414E-A99F-D2E88DDD2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871B040F-0619-4969-836D-C2669D992EE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CFBC836A-2C49-4D9F-BAA2-11EA22E294F0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B526AB-EA1D-431C-9F8E-3F1F5155E23A}"/>
              </a:ext>
            </a:extLst>
          </p:cNvPr>
          <p:cNvGraphicFramePr/>
          <p:nvPr/>
        </p:nvGraphicFramePr>
        <p:xfrm>
          <a:off x="609600" y="2019300"/>
          <a:ext cx="10972800" cy="3476625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Oblast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 popisuje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Pacient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Základní charakteristiky a další onemocnění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Diagnóza a stadium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Typ nádoru, lokalizaci a počáteční rozsah nemoci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Léčebné epizody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Chirurgii, radioterapii a systémovou léčbu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Vývoj onemocnění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Změny stavu, odpověď na léčbu a kontroly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nkologická data mají časový kontext. No">
            <a:extLst>
              <a:ext uri="{FF2B5EF4-FFF2-40B4-BE49-F238E27FC236}">
                <a16:creationId xmlns:a16="http://schemas.microsoft.com/office/drawing/2014/main" id="{F0CA230D-0F86-496F-BE52-ED15315BA8E7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Onkologická data mají časový kontext. Nové hodnocení doplňuje historii.</a:t>
            </a:r>
          </a:p>
        </p:txBody>
      </p:sp>
    </p:spTree>
    <p:extLst>
      <p:ext uri="{BB962C8B-B14F-4D97-AF65-F5344CB8AC3E}">
        <p14:creationId xmlns:p14="http://schemas.microsoft.com/office/powerpoint/2010/main" val="1522936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cerPatient: základní popis pacienta">
            <a:extLst>
              <a:ext uri="{FF2B5EF4-FFF2-40B4-BE49-F238E27FC236}">
                <a16:creationId xmlns:a16="http://schemas.microsoft.com/office/drawing/2014/main" id="{B0ABD6D2-F5A4-463C-A79C-37D0018EAF5D}"/>
              </a:ext>
            </a:extLst>
          </p:cNvPr>
          <p:cNvSpPr>
            <a:spLocks noGrp="1"/>
          </p:cNvSpPr>
          <p:nvPr/>
        </p:nvSpPr>
        <p:spPr>
          <a:xfrm>
            <a:off x="609600" y="516191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Příklad - </a:t>
            </a:r>
            <a:r>
              <a:rPr sz="2800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CancerPatient</a:t>
            </a:r>
            <a:endParaRPr sz="280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12D71E-B7D8-4494-8C10-B2339CDB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75376947-3349-4B12-9AC2-0F7295470ED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8DECA939-1579-439D-9A2D-14BC6ADFD799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Datum narození">
            <a:extLst>
              <a:ext uri="{FF2B5EF4-FFF2-40B4-BE49-F238E27FC236}">
                <a16:creationId xmlns:a16="http://schemas.microsoft.com/office/drawing/2014/main" id="{4BBFACAA-EF04-4788-A917-2DF529E1485E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Datum </a:t>
            </a:r>
            <a:r>
              <a:rPr sz="20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narození</a:t>
            </a:r>
            <a:endParaRPr sz="2025" b="1" dirty="0">
              <a:solidFill>
                <a:srgbClr val="EC22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Základní údaj o pacientovi.">
            <a:extLst>
              <a:ext uri="{FF2B5EF4-FFF2-40B4-BE49-F238E27FC236}">
                <a16:creationId xmlns:a16="http://schemas.microsoft.com/office/drawing/2014/main" id="{B4082FEC-6B00-4A0F-8B8B-E6EB4272B126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Základní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údaj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o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pacientovi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8" name="Pohlaví a gender">
            <a:extLst>
              <a:ext uri="{FF2B5EF4-FFF2-40B4-BE49-F238E27FC236}">
                <a16:creationId xmlns:a16="http://schemas.microsoft.com/office/drawing/2014/main" id="{CAC77DF8-7F5A-4D5E-80DC-61F4CE643F8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Pohlaví a gender</a:t>
            </a:r>
          </a:p>
        </p:txBody>
      </p:sp>
      <p:sp>
        <p:nvSpPr>
          <p:cNvPr id="9" name="Model rozlišuje pohlaví při narození a p">
            <a:extLst>
              <a:ext uri="{FF2B5EF4-FFF2-40B4-BE49-F238E27FC236}">
                <a16:creationId xmlns:a16="http://schemas.microsoft.com/office/drawing/2014/main" id="{A234CE82-D23E-4390-BF17-9B1FEFBFD285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Model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rozlišuje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pohlaví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při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narození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pozorované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pohlaví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/gender.</a:t>
            </a:r>
          </a:p>
        </p:txBody>
      </p:sp>
      <p:sp>
        <p:nvSpPr>
          <p:cNvPr id="10" name="Další onemocnění">
            <a:extLst>
              <a:ext uri="{FF2B5EF4-FFF2-40B4-BE49-F238E27FC236}">
                <a16:creationId xmlns:a16="http://schemas.microsoft.com/office/drawing/2014/main" id="{E56951B4-BD0A-417E-87F5-E1FB18F70370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Další onemocnění</a:t>
            </a:r>
          </a:p>
        </p:txBody>
      </p:sp>
      <p:sp>
        <p:nvSpPr>
          <p:cNvPr id="11" name="Komorbidity, tedy další nemoci přítomné ">
            <a:extLst>
              <a:ext uri="{FF2B5EF4-FFF2-40B4-BE49-F238E27FC236}">
                <a16:creationId xmlns:a16="http://schemas.microsoft.com/office/drawing/2014/main" id="{E30DD194-18CA-4593-B3B9-67AC499853C4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Komorbidity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tedy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další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nemoci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přítomné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při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diagnóze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nádoru</a:t>
            </a:r>
            <a:r>
              <a:rPr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12" name="CancerPatient je logický model. Diagnóza">
            <a:extLst>
              <a:ext uri="{FF2B5EF4-FFF2-40B4-BE49-F238E27FC236}">
                <a16:creationId xmlns:a16="http://schemas.microsoft.com/office/drawing/2014/main" id="{F445C1A8-6562-41E8-A653-2002D075B963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endParaRPr sz="1725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68C67C-8FEE-3180-BDD5-2D3E55132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278500"/>
            <a:ext cx="7772400" cy="153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15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C50BE-369D-4BE4-9747-0F250AFF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cerPatient: základní popis pacienta">
            <a:extLst>
              <a:ext uri="{FF2B5EF4-FFF2-40B4-BE49-F238E27FC236}">
                <a16:creationId xmlns:a16="http://schemas.microsoft.com/office/drawing/2014/main" id="{5469C8DA-8A76-7CA5-8382-8B8CB35586E9}"/>
              </a:ext>
            </a:extLst>
          </p:cNvPr>
          <p:cNvSpPr>
            <a:spLocks noGrp="1"/>
          </p:cNvSpPr>
          <p:nvPr/>
        </p:nvSpPr>
        <p:spPr>
          <a:xfrm>
            <a:off x="609600" y="516191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Příklad - </a:t>
            </a:r>
            <a:r>
              <a:rPr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Cancer</a:t>
            </a:r>
            <a:r>
              <a:rPr lang="cs-CZ" sz="2800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Stage</a:t>
            </a:r>
            <a:endParaRPr sz="280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3CF23-95A5-90D9-9CA9-874BFA40F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8012F6EE-E3E3-19DB-7428-933181C8AC4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981EC45E-D1F5-D1E0-C90E-3C29A484F6D7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Datum narození">
            <a:extLst>
              <a:ext uri="{FF2B5EF4-FFF2-40B4-BE49-F238E27FC236}">
                <a16:creationId xmlns:a16="http://schemas.microsoft.com/office/drawing/2014/main" id="{FE2C63D9-47B7-E692-BC3A-1A715A104DB6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Typ klasifikace stádia nádoru</a:t>
            </a:r>
            <a:endParaRPr sz="2025" b="1" dirty="0">
              <a:solidFill>
                <a:srgbClr val="EC22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Základní údaj o pacientovi.">
            <a:extLst>
              <a:ext uri="{FF2B5EF4-FFF2-40B4-BE49-F238E27FC236}">
                <a16:creationId xmlns:a16="http://schemas.microsoft.com/office/drawing/2014/main" id="{08F42E68-0372-4389-9A17-34023273B2BA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TNM, FIGO, </a:t>
            </a:r>
            <a:r>
              <a:rPr lang="cs-CZ" sz="2025" b="0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Lugano</a:t>
            </a: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, …</a:t>
            </a:r>
            <a:endParaRPr sz="2025" b="0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Pohlaví a gender">
            <a:extLst>
              <a:ext uri="{FF2B5EF4-FFF2-40B4-BE49-F238E27FC236}">
                <a16:creationId xmlns:a16="http://schemas.microsoft.com/office/drawing/2014/main" id="{2CD6DE0C-C9B4-181E-7F12-E1C782F56578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Komponenty klasifikace stádia</a:t>
            </a:r>
            <a:endParaRPr sz="2025" b="1" dirty="0">
              <a:solidFill>
                <a:srgbClr val="EC22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Model rozlišuje pohlaví při narození a p">
            <a:extLst>
              <a:ext uri="{FF2B5EF4-FFF2-40B4-BE49-F238E27FC236}">
                <a16:creationId xmlns:a16="http://schemas.microsoft.com/office/drawing/2014/main" id="{71D57278-74BD-ABE1-6768-847C1006B11E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T, N, M</a:t>
            </a:r>
            <a:endParaRPr sz="2025" b="0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Další onemocnění">
            <a:extLst>
              <a:ext uri="{FF2B5EF4-FFF2-40B4-BE49-F238E27FC236}">
                <a16:creationId xmlns:a16="http://schemas.microsoft.com/office/drawing/2014/main" id="{E9974293-13FE-A3D2-AFEB-EFF4C530B376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Typ klasifikace</a:t>
            </a:r>
            <a:endParaRPr sz="2025" b="1" dirty="0">
              <a:solidFill>
                <a:srgbClr val="EC22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Komorbidity, tedy další nemoci přítomné ">
            <a:extLst>
              <a:ext uri="{FF2B5EF4-FFF2-40B4-BE49-F238E27FC236}">
                <a16:creationId xmlns:a16="http://schemas.microsoft.com/office/drawing/2014/main" id="{8E8343DB-4230-C555-D5DE-F1F0D9E549BE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025" b="0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Klinická / patologická</a:t>
            </a:r>
            <a:endParaRPr sz="2025" b="0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CancerPatient je logický model. Diagnóza">
            <a:extLst>
              <a:ext uri="{FF2B5EF4-FFF2-40B4-BE49-F238E27FC236}">
                <a16:creationId xmlns:a16="http://schemas.microsoft.com/office/drawing/2014/main" id="{F4A3E1E8-16D3-74DE-386B-7D2846A4DD4C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endParaRPr sz="1725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432DF-027C-A77E-7408-A676533C1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153148"/>
            <a:ext cx="7772400" cy="177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60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F0492-C59D-7F2D-0FEB-0768EE0A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cerPatient: základní popis pacienta">
            <a:extLst>
              <a:ext uri="{FF2B5EF4-FFF2-40B4-BE49-F238E27FC236}">
                <a16:creationId xmlns:a16="http://schemas.microsoft.com/office/drawing/2014/main" id="{9AA91413-92A0-4834-24A9-64743D0DADE0}"/>
              </a:ext>
            </a:extLst>
          </p:cNvPr>
          <p:cNvSpPr>
            <a:spLocks noGrp="1"/>
          </p:cNvSpPr>
          <p:nvPr/>
        </p:nvSpPr>
        <p:spPr>
          <a:xfrm>
            <a:off x="609600" y="516191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Mapování modelu na FHIR</a:t>
            </a:r>
            <a:endParaRPr sz="280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DD341F-9141-40E0-1F93-4A6FB5F07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3BD4095F-02D5-002A-E17E-2E6F530221D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5B183064-1991-5A15-950B-9419D70ED502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2" name="CancerPatient je logický model. Diagnóza">
            <a:extLst>
              <a:ext uri="{FF2B5EF4-FFF2-40B4-BE49-F238E27FC236}">
                <a16:creationId xmlns:a16="http://schemas.microsoft.com/office/drawing/2014/main" id="{EC30395A-8633-4CE9-0794-9063739E6C7D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endParaRPr sz="1725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9CE223-E17C-6D2D-A2E1-2DE2C88B3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77" y="1397133"/>
            <a:ext cx="9998052" cy="38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38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B5CB0-0B78-D4D8-ECAE-535D0C81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cerPatient: základní popis pacienta">
            <a:extLst>
              <a:ext uri="{FF2B5EF4-FFF2-40B4-BE49-F238E27FC236}">
                <a16:creationId xmlns:a16="http://schemas.microsoft.com/office/drawing/2014/main" id="{E6025817-9328-047F-C80A-BBA81A9C0403}"/>
              </a:ext>
            </a:extLst>
          </p:cNvPr>
          <p:cNvSpPr>
            <a:spLocks noGrp="1"/>
          </p:cNvSpPr>
          <p:nvPr/>
        </p:nvSpPr>
        <p:spPr>
          <a:xfrm>
            <a:off x="609600" y="516191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Mapování modelu na OMOP</a:t>
            </a:r>
            <a:endParaRPr sz="280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D7E538-11D5-9B5F-0DC8-907C7F4E2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8AF635BE-75A1-ADA1-A852-641A7977ECD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9064AEF1-F491-B212-06D3-975CA76BF9B7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2" name="CancerPatient je logický model. Diagnóza">
            <a:extLst>
              <a:ext uri="{FF2B5EF4-FFF2-40B4-BE49-F238E27FC236}">
                <a16:creationId xmlns:a16="http://schemas.microsoft.com/office/drawing/2014/main" id="{9C770B9D-64DC-3189-AF7F-CE41265F6BE4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endParaRPr sz="1725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C1E66E-DE80-D418-1A78-E7EA5FD7C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83" y="1247775"/>
            <a:ext cx="9957942" cy="444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57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C837E-409E-98B8-AE79-1B8D9795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cerPatient: základní popis pacienta">
            <a:extLst>
              <a:ext uri="{FF2B5EF4-FFF2-40B4-BE49-F238E27FC236}">
                <a16:creationId xmlns:a16="http://schemas.microsoft.com/office/drawing/2014/main" id="{8C83492E-C9FE-C4B8-1BC9-B21C8EAEDD02}"/>
              </a:ext>
            </a:extLst>
          </p:cNvPr>
          <p:cNvSpPr>
            <a:spLocks noGrp="1"/>
          </p:cNvSpPr>
          <p:nvPr/>
        </p:nvSpPr>
        <p:spPr>
          <a:xfrm>
            <a:off x="609600" y="516191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lang="cs-CZ" sz="2800" b="1" dirty="0" err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Common</a:t>
            </a:r>
            <a:r>
              <a:rPr lang="cs-CZ"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Cancer</a:t>
            </a:r>
            <a:r>
              <a:rPr lang="cs-CZ" sz="2800" b="1" dirty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 Model – další vývoj</a:t>
            </a:r>
            <a:endParaRPr sz="280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78451-1025-68E5-7773-C8A77C87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Evropský Cancer Common">
            <a:extLst>
              <a:ext uri="{FF2B5EF4-FFF2-40B4-BE49-F238E27FC236}">
                <a16:creationId xmlns:a16="http://schemas.microsoft.com/office/drawing/2014/main" id="{93A8D7C6-00DE-F6DA-1AAE-EF92731F819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Evropský Cancer Common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CDB6EBE6-04E2-8714-8E9F-56C339D54EFF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2" name="CancerPatient je logický model. Diagnóza">
            <a:extLst>
              <a:ext uri="{FF2B5EF4-FFF2-40B4-BE49-F238E27FC236}">
                <a16:creationId xmlns:a16="http://schemas.microsoft.com/office/drawing/2014/main" id="{D19F4D90-18B9-7EA5-BA5D-5EE7BB958382}"/>
              </a:ext>
            </a:extLst>
          </p:cNvPr>
          <p:cNvSpPr>
            <a:spLocks noGrp="1"/>
          </p:cNvSpPr>
          <p:nvPr/>
        </p:nvSpPr>
        <p:spPr>
          <a:xfrm>
            <a:off x="609600" y="5661506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endParaRPr sz="1725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0E7E28-0BB9-3844-3A56-EDE8FAE1909B}"/>
              </a:ext>
            </a:extLst>
          </p:cNvPr>
          <p:cNvSpPr txBox="1"/>
          <p:nvPr/>
        </p:nvSpPr>
        <p:spPr>
          <a:xfrm>
            <a:off x="609600" y="1590595"/>
            <a:ext cx="108319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Z" dirty="0"/>
              <a:t>P</a:t>
            </a:r>
            <a:r>
              <a:rPr lang="en-GB" dirty="0"/>
              <a:t>r</a:t>
            </a:r>
            <a:r>
              <a:rPr lang="en-CZ" dirty="0"/>
              <a:t>áce probíhá v pracovních skupinách HL7 EU ve spolupráci kliniků, informatiků, terminologických expertů</a:t>
            </a:r>
          </a:p>
          <a:p>
            <a:pPr marL="285750" indent="-285750">
              <a:buFontTx/>
              <a:buChar char="-"/>
            </a:pPr>
            <a:r>
              <a:rPr lang="en-CZ" dirty="0"/>
              <a:t>Nejbližší cíle:</a:t>
            </a:r>
          </a:p>
          <a:p>
            <a:pPr marL="742950" lvl="1" indent="-285750">
              <a:buFontTx/>
              <a:buChar char="-"/>
            </a:pPr>
            <a:r>
              <a:rPr lang="en-CZ" dirty="0"/>
              <a:t>Dokončit mapování modelu na FHIR</a:t>
            </a:r>
          </a:p>
          <a:p>
            <a:pPr marL="742950" lvl="1" indent="-285750">
              <a:buFontTx/>
              <a:buChar char="-"/>
            </a:pPr>
            <a:r>
              <a:rPr lang="en-CZ" dirty="0"/>
              <a:t>Dokončit mapování modelu na OMOP</a:t>
            </a:r>
          </a:p>
          <a:p>
            <a:pPr marL="742950" lvl="1" indent="-285750">
              <a:buFontTx/>
              <a:buChar char="-"/>
            </a:pPr>
            <a:r>
              <a:rPr lang="en-CZ" dirty="0"/>
              <a:t>Tvorba evropských profilů pro evidenci péče o onkologické pacienty pro primární </a:t>
            </a:r>
            <a:r>
              <a:rPr lang="en-GB" dirty="0"/>
              <a:t>i</a:t>
            </a:r>
            <a:r>
              <a:rPr lang="en-CZ" dirty="0"/>
              <a:t> sekundární zpracování dat</a:t>
            </a: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A2CB765-6994-CD74-2369-266363F7927F}"/>
              </a:ext>
            </a:extLst>
          </p:cNvPr>
          <p:cNvSpPr/>
          <p:nvPr/>
        </p:nvSpPr>
        <p:spPr>
          <a:xfrm>
            <a:off x="924241" y="3918526"/>
            <a:ext cx="996768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EU DR</a:t>
            </a:r>
            <a:endParaRPr lang="en-US" sz="16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19677E9-3754-2B6F-25DA-1873138A8495}"/>
              </a:ext>
            </a:extLst>
          </p:cNvPr>
          <p:cNvSpPr/>
          <p:nvPr/>
        </p:nvSpPr>
        <p:spPr>
          <a:xfrm>
            <a:off x="924240" y="4567170"/>
            <a:ext cx="3378819" cy="563880"/>
          </a:xfrm>
          <a:prstGeom prst="roundRect">
            <a:avLst>
              <a:gd name="adj" fmla="val 13514"/>
            </a:avLst>
          </a:prstGeom>
          <a:solidFill>
            <a:srgbClr val="C7D539"/>
          </a:solidFill>
          <a:ln/>
        </p:spPr>
        <p:txBody>
          <a:bodyPr wrap="square" lIns="180882" tIns="117382" rIns="0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EU Base</a:t>
            </a:r>
            <a:endParaRPr lang="en-US" sz="16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85870CD-2318-90AA-43F1-A3B5EA52A704}"/>
              </a:ext>
            </a:extLst>
          </p:cNvPr>
          <p:cNvSpPr/>
          <p:nvPr/>
        </p:nvSpPr>
        <p:spPr>
          <a:xfrm>
            <a:off x="924240" y="5219950"/>
            <a:ext cx="7112000" cy="563880"/>
          </a:xfrm>
          <a:prstGeom prst="roundRect">
            <a:avLst>
              <a:gd name="adj" fmla="val 13514"/>
            </a:avLst>
          </a:prstGeom>
          <a:solidFill>
            <a:srgbClr val="43546F"/>
          </a:solidFill>
          <a:ln/>
        </p:spPr>
        <p:txBody>
          <a:bodyPr wrap="square" lIns="180882" tIns="117382" rIns="0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 R4</a:t>
            </a:r>
            <a:endParaRPr lang="en-US" sz="160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E83E255-1FAD-3B77-9D18-9A2C646E8917}"/>
              </a:ext>
            </a:extLst>
          </p:cNvPr>
          <p:cNvSpPr/>
          <p:nvPr/>
        </p:nvSpPr>
        <p:spPr>
          <a:xfrm>
            <a:off x="8473376" y="3936307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FABB33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5582E8A5-00EF-4F34-3063-4B77A9582E98}"/>
              </a:ext>
            </a:extLst>
          </p:cNvPr>
          <p:cNvSpPr/>
          <p:nvPr/>
        </p:nvSpPr>
        <p:spPr>
          <a:xfrm>
            <a:off x="8752776" y="3918526"/>
            <a:ext cx="21969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Doménově </a:t>
            </a:r>
            <a:r>
              <a:rPr lang="en-US" sz="1200" b="1" dirty="0" err="1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specifické</a:t>
            </a:r>
            <a:r>
              <a:rPr lang="en-US" sz="1200" b="1" dirty="0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profily</a:t>
            </a:r>
            <a:endParaRPr lang="en-US" sz="12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902287AA-09D6-B9E0-C307-C6F32E6AA015}"/>
              </a:ext>
            </a:extLst>
          </p:cNvPr>
          <p:cNvSpPr/>
          <p:nvPr/>
        </p:nvSpPr>
        <p:spPr>
          <a:xfrm>
            <a:off x="8473376" y="4225866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C7D53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75F8D274-4B4C-0CF8-8494-CA309B910639}"/>
              </a:ext>
            </a:extLst>
          </p:cNvPr>
          <p:cNvSpPr/>
          <p:nvPr/>
        </p:nvSpPr>
        <p:spPr>
          <a:xfrm>
            <a:off x="8752776" y="4208087"/>
            <a:ext cx="1909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Evropské </a:t>
            </a:r>
            <a:r>
              <a:rPr lang="en-US" sz="1200" b="1" dirty="0" err="1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základní</a:t>
            </a:r>
            <a:r>
              <a:rPr lang="en-US" sz="1200" b="1" dirty="0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profily</a:t>
            </a:r>
            <a:endParaRPr lang="en-US" sz="120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FA56C974-9051-A2F0-970D-064D3FB88EC3}"/>
              </a:ext>
            </a:extLst>
          </p:cNvPr>
          <p:cNvSpPr/>
          <p:nvPr/>
        </p:nvSpPr>
        <p:spPr>
          <a:xfrm>
            <a:off x="8473376" y="4515426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43546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54CD7A9F-152A-C6CB-28E8-022F70E7BB5A}"/>
              </a:ext>
            </a:extLst>
          </p:cNvPr>
          <p:cNvSpPr/>
          <p:nvPr/>
        </p:nvSpPr>
        <p:spPr>
          <a:xfrm>
            <a:off x="8752776" y="4497646"/>
            <a:ext cx="10771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mezinárodní</a:t>
            </a:r>
            <a:endParaRPr lang="en-US" sz="120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DDBE0BB-208E-F6C8-F661-FC4411D16705}"/>
              </a:ext>
            </a:extLst>
          </p:cNvPr>
          <p:cNvSpPr/>
          <p:nvPr/>
        </p:nvSpPr>
        <p:spPr>
          <a:xfrm>
            <a:off x="4334692" y="4567170"/>
            <a:ext cx="1761308" cy="563880"/>
          </a:xfrm>
          <a:prstGeom prst="roundRect">
            <a:avLst>
              <a:gd name="adj" fmla="val 13514"/>
            </a:avLst>
          </a:prstGeom>
          <a:solidFill>
            <a:srgbClr val="C7D539"/>
          </a:solidFill>
          <a:ln/>
        </p:spPr>
        <p:txBody>
          <a:bodyPr wrap="square" lIns="180882" tIns="117382" rIns="0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EU API</a:t>
            </a:r>
            <a:endParaRPr lang="en-US" sz="16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C4A05FD7-626E-1010-29CE-D87457F13FFB}"/>
              </a:ext>
            </a:extLst>
          </p:cNvPr>
          <p:cNvSpPr/>
          <p:nvPr/>
        </p:nvSpPr>
        <p:spPr>
          <a:xfrm>
            <a:off x="2018783" y="3918526"/>
            <a:ext cx="996768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 fontScale="85000" lnSpcReduction="100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EU MDR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52B21126-B27A-97CE-FDE4-DFD2A2E67602}"/>
              </a:ext>
            </a:extLst>
          </p:cNvPr>
          <p:cNvSpPr/>
          <p:nvPr/>
        </p:nvSpPr>
        <p:spPr>
          <a:xfrm>
            <a:off x="3113326" y="3918526"/>
            <a:ext cx="996768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EU </a:t>
            </a:r>
            <a:r>
              <a:rPr lang="en-US" sz="1600" b="1" dirty="0" err="1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Img</a:t>
            </a:r>
            <a:endParaRPr lang="en-US" sz="16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B3C3E471-BE36-69CC-E184-F5E46BFB8832}"/>
              </a:ext>
            </a:extLst>
          </p:cNvPr>
          <p:cNvSpPr/>
          <p:nvPr/>
        </p:nvSpPr>
        <p:spPr>
          <a:xfrm>
            <a:off x="4207868" y="3918526"/>
            <a:ext cx="996768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EU PS</a:t>
            </a:r>
            <a:endParaRPr lang="en-US" sz="16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A091DE8D-3CE9-80D0-96C0-E9ECA9177A63}"/>
              </a:ext>
            </a:extLst>
          </p:cNvPr>
          <p:cNvSpPr/>
          <p:nvPr/>
        </p:nvSpPr>
        <p:spPr>
          <a:xfrm>
            <a:off x="5302410" y="3918526"/>
            <a:ext cx="996768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 fontScale="85000" lnSpcReduction="100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EU PMD</a:t>
            </a:r>
            <a:endParaRPr lang="en-US" sz="16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0D768511-AD86-1DC0-21E5-62D43BFB28C9}"/>
              </a:ext>
            </a:extLst>
          </p:cNvPr>
          <p:cNvSpPr/>
          <p:nvPr/>
        </p:nvSpPr>
        <p:spPr>
          <a:xfrm>
            <a:off x="7039472" y="3918526"/>
            <a:ext cx="996768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 fontScale="85000" lnSpcReduction="100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EU CCM</a:t>
            </a:r>
            <a:endParaRPr lang="en-US" sz="16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D6611990-7EDA-5804-29AA-D957A18AB4A7}"/>
              </a:ext>
            </a:extLst>
          </p:cNvPr>
          <p:cNvSpPr/>
          <p:nvPr/>
        </p:nvSpPr>
        <p:spPr>
          <a:xfrm>
            <a:off x="6396952" y="3918526"/>
            <a:ext cx="540919" cy="563880"/>
          </a:xfrm>
          <a:prstGeom prst="roundRect">
            <a:avLst>
              <a:gd name="adj" fmla="val 13514"/>
            </a:avLst>
          </a:prstGeom>
          <a:solidFill>
            <a:srgbClr val="FABB33"/>
          </a:solidFill>
          <a:ln/>
        </p:spPr>
        <p:txBody>
          <a:bodyPr wrap="square" lIns="180882" tIns="117382" rIns="39531" bIns="9198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3A62"/>
                </a:solidFill>
                <a:latin typeface="Arial" pitchFamily="34" charset="0"/>
                <a:cs typeface="Arial" pitchFamily="34" charset="-120"/>
              </a:rPr>
              <a:t>…</a:t>
            </a:r>
            <a:endParaRPr lang="en-US" sz="16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6A20147-906B-8A70-60D8-DADAD0AC1C0E}"/>
              </a:ext>
            </a:extLst>
          </p:cNvPr>
          <p:cNvSpPr/>
          <p:nvPr/>
        </p:nvSpPr>
        <p:spPr>
          <a:xfrm>
            <a:off x="6127633" y="4567170"/>
            <a:ext cx="1908607" cy="563880"/>
          </a:xfrm>
          <a:prstGeom prst="roundRect">
            <a:avLst>
              <a:gd name="adj" fmla="val 13514"/>
            </a:avLst>
          </a:prstGeom>
          <a:solidFill>
            <a:srgbClr val="43546F"/>
          </a:solidFill>
          <a:ln/>
        </p:spPr>
        <p:txBody>
          <a:bodyPr wrap="square" lIns="180882" tIns="117382" rIns="0" bIns="91982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mCode</a:t>
            </a:r>
            <a:endParaRPr lang="en-US" sz="16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9064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CODE: onkologické informace ve FHIR">
            <a:extLst>
              <a:ext uri="{FF2B5EF4-FFF2-40B4-BE49-F238E27FC236}">
                <a16:creationId xmlns:a16="http://schemas.microsoft.com/office/drawing/2014/main" id="{25961FA4-2E69-4783-8DD5-1CABB7F5B24C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mCODE: onkologické informace ve FHIR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80E599-8EEA-4685-B9A3-CB92DCAE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mCODE">
            <a:extLst>
              <a:ext uri="{FF2B5EF4-FFF2-40B4-BE49-F238E27FC236}">
                <a16:creationId xmlns:a16="http://schemas.microsoft.com/office/drawing/2014/main" id="{2201DE20-00AE-400D-8804-E4394B3974D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mCODE</a:t>
            </a:r>
          </a:p>
        </p:txBody>
      </p:sp>
      <p:sp>
        <p:nvSpPr>
          <p:cNvPr id="4" name="13">
            <a:extLst>
              <a:ext uri="{FF2B5EF4-FFF2-40B4-BE49-F238E27FC236}">
                <a16:creationId xmlns:a16="http://schemas.microsoft.com/office/drawing/2014/main" id="{379BA883-5ABC-4FC3-A3B0-8BE0B0FA345E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minimal Common Oncology Data Elements">
            <a:extLst>
              <a:ext uri="{FF2B5EF4-FFF2-40B4-BE49-F238E27FC236}">
                <a16:creationId xmlns:a16="http://schemas.microsoft.com/office/drawing/2014/main" id="{5071F3A2-9B38-4EF6-A89F-D70E7F82914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minimal Common Oncology Data Elements</a:t>
            </a:r>
          </a:p>
        </p:txBody>
      </p:sp>
      <p:sp>
        <p:nvSpPr>
          <p:cNvPr id="6" name="Konkrétní pravidla">
            <a:extLst>
              <a:ext uri="{FF2B5EF4-FFF2-40B4-BE49-F238E27FC236}">
                <a16:creationId xmlns:a16="http://schemas.microsoft.com/office/drawing/2014/main" id="{42B931E4-1C19-478F-B873-6107676B5CE8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Konkrétní pravidla</a:t>
            </a:r>
          </a:p>
        </p:txBody>
      </p:sp>
      <p:sp>
        <p:nvSpPr>
          <p:cNvPr id="7" name="FHIR profily popisují zápis vybraných on">
            <a:extLst>
              <a:ext uri="{FF2B5EF4-FFF2-40B4-BE49-F238E27FC236}">
                <a16:creationId xmlns:a16="http://schemas.microsoft.com/office/drawing/2014/main" id="{34AEE269-A85F-4E16-A31D-FD8149E0C48B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FHIR profily popisují zápis vybraných onkologických informací.</a:t>
            </a:r>
          </a:p>
        </p:txBody>
      </p:sp>
      <p:sp>
        <p:nvSpPr>
          <p:cNvPr id="8" name="Široký klinický záběr">
            <a:extLst>
              <a:ext uri="{FF2B5EF4-FFF2-40B4-BE49-F238E27FC236}">
                <a16:creationId xmlns:a16="http://schemas.microsoft.com/office/drawing/2014/main" id="{92E98612-27A5-4B40-B6F7-DC552A4A1AA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Široký klinický záběr</a:t>
            </a:r>
          </a:p>
        </p:txBody>
      </p:sp>
      <p:sp>
        <p:nvSpPr>
          <p:cNvPr id="9" name="Pacient, nemoc, hodnocení, genomika, léč">
            <a:extLst>
              <a:ext uri="{FF2B5EF4-FFF2-40B4-BE49-F238E27FC236}">
                <a16:creationId xmlns:a16="http://schemas.microsoft.com/office/drawing/2014/main" id="{92A05453-2F26-40DD-97E1-BFEDDB400387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Pacient, nemoc, hodnocení, genomika, léčba a výsledky.</a:t>
            </a:r>
          </a:p>
        </p:txBody>
      </p:sp>
      <p:sp>
        <p:nvSpPr>
          <p:cNvPr id="10" name="Vzor pro vývoj">
            <a:extLst>
              <a:ext uri="{FF2B5EF4-FFF2-40B4-BE49-F238E27FC236}">
                <a16:creationId xmlns:a16="http://schemas.microsoft.com/office/drawing/2014/main" id="{FFCFEB27-89D8-48F3-92AB-DF5DFE20DFFD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Vzor pro vývoj</a:t>
            </a:r>
          </a:p>
        </p:txBody>
      </p:sp>
      <p:sp>
        <p:nvSpPr>
          <p:cNvPr id="11" name="Příklady a terminologie pomáhají při náv">
            <a:extLst>
              <a:ext uri="{FF2B5EF4-FFF2-40B4-BE49-F238E27FC236}">
                <a16:creationId xmlns:a16="http://schemas.microsoft.com/office/drawing/2014/main" id="{07672733-FF69-488E-9CDB-F879613FA05B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Příklady a terminologie pomáhají při návrhu datové reprezentace.</a:t>
            </a:r>
          </a:p>
        </p:txBody>
      </p:sp>
      <p:sp>
        <p:nvSpPr>
          <p:cNvPr id="12" name="Publikace STU4 / 4.0.0 vychází z FHIR R4">
            <a:extLst>
              <a:ext uri="{FF2B5EF4-FFF2-40B4-BE49-F238E27FC236}">
                <a16:creationId xmlns:a16="http://schemas.microsoft.com/office/drawing/2014/main" id="{8649E5A2-F792-4971-B4B3-1189B093BA4D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Publikace STU4 / 4.0.0 vychází z FHIR R4 a amerického kontextu.</a:t>
            </a:r>
          </a:p>
        </p:txBody>
      </p:sp>
    </p:spTree>
    <p:extLst>
      <p:ext uri="{BB962C8B-B14F-4D97-AF65-F5344CB8AC3E}">
        <p14:creationId xmlns:p14="http://schemas.microsoft.com/office/powerpoint/2010/main" val="631100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ncer Common a mCODE se doplňují">
            <a:extLst>
              <a:ext uri="{FF2B5EF4-FFF2-40B4-BE49-F238E27FC236}">
                <a16:creationId xmlns:a16="http://schemas.microsoft.com/office/drawing/2014/main" id="{0D992AB5-E7B7-41F5-8A2D-0AF89B61422D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Cancer Common a mCODE se doplňují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9F8B20-AF4D-4F3C-8A78-6475C4C47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Srovnání modelů">
            <a:extLst>
              <a:ext uri="{FF2B5EF4-FFF2-40B4-BE49-F238E27FC236}">
                <a16:creationId xmlns:a16="http://schemas.microsoft.com/office/drawing/2014/main" id="{931FFAB5-0083-481F-8BDC-FA8545716AB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Srovnání modelů</a:t>
            </a:r>
          </a:p>
        </p:txBody>
      </p:sp>
      <p:sp>
        <p:nvSpPr>
          <p:cNvPr id="4" name="14">
            <a:extLst>
              <a:ext uri="{FF2B5EF4-FFF2-40B4-BE49-F238E27FC236}">
                <a16:creationId xmlns:a16="http://schemas.microsoft.com/office/drawing/2014/main" id="{353C9003-C71C-4C3F-AB33-BAE188ECA64B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42AC40-E1FC-4020-B78E-099F8BFD8BC2}"/>
              </a:ext>
            </a:extLst>
          </p:cNvPr>
          <p:cNvGraphicFramePr/>
          <p:nvPr/>
        </p:nvGraphicFramePr>
        <p:xfrm>
          <a:off x="609600" y="1885950"/>
          <a:ext cx="10972800" cy="36385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71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Cancer Common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mCODE</a:t>
                      </a:r>
                    </a:p>
                  </a:txBody>
                  <a:tcPr marL="133350" marR="133350" marT="76200" marB="76200" anchor="ctr">
                    <a:solidFill>
                      <a:srgbClr val="EC2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Hlavní přínos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Společný klinický model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Konkrétní FHIR reprezentace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Pomáhá odpovědět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Jaké pojmy potřebujeme</a:t>
                      </a:r>
                    </a:p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jak spolu souvisejí?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Jak vybrané informace</a:t>
                      </a:r>
                    </a:p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zapsat do FHIR?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Výchozí kontext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Evropa</a:t>
                      </a:r>
                    </a:p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Péče i výzkum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</a:t>
                      </a:r>
                    </a:p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Návaznost na US Core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Přístup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Konceptuální a logický model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1010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Profily, terminologie a příklady</a:t>
                      </a:r>
                    </a:p>
                  </a:txBody>
                  <a:tcPr marL="133350" marR="133350" marT="76200" marB="762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Pro české použití posoudíme evropský obs">
            <a:extLst>
              <a:ext uri="{FF2B5EF4-FFF2-40B4-BE49-F238E27FC236}">
                <a16:creationId xmlns:a16="http://schemas.microsoft.com/office/drawing/2014/main" id="{7A896CA2-5C46-4694-A996-D908E1FD8FAB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Pro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české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použití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posoudíme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evropský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obsah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, FHIR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profily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národní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pravidla</a:t>
            </a:r>
            <a:r>
              <a:rPr sz="1800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799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řínos pro soutěžní týmy">
            <a:extLst>
              <a:ext uri="{FF2B5EF4-FFF2-40B4-BE49-F238E27FC236}">
                <a16:creationId xmlns:a16="http://schemas.microsoft.com/office/drawing/2014/main" id="{6D1B70D7-3C47-4E20-AE3A-3A74A9C3DD9F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Přínos pro soutěžní týmy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B7ED81-26E7-4CFB-BA4E-33D7116E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Pro týmy Rakathonu">
            <a:extLst>
              <a:ext uri="{FF2B5EF4-FFF2-40B4-BE49-F238E27FC236}">
                <a16:creationId xmlns:a16="http://schemas.microsoft.com/office/drawing/2014/main" id="{1DF6208E-C8BF-410E-A97B-041C218E5B6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Pro týmy Rakathonu</a:t>
            </a:r>
          </a:p>
        </p:txBody>
      </p:sp>
      <p:sp>
        <p:nvSpPr>
          <p:cNvPr id="4" name="15">
            <a:extLst>
              <a:ext uri="{FF2B5EF4-FFF2-40B4-BE49-F238E27FC236}">
                <a16:creationId xmlns:a16="http://schemas.microsoft.com/office/drawing/2014/main" id="{0F2A28C8-7822-4DB9-94C1-9DD9CA6C2F41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Ověřený datový základ pro vlastní nápad.">
            <a:extLst>
              <a:ext uri="{FF2B5EF4-FFF2-40B4-BE49-F238E27FC236}">
                <a16:creationId xmlns:a16="http://schemas.microsoft.com/office/drawing/2014/main" id="{D3EF825B-22F6-4A86-8474-6347150B9F4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Ověřený datový základ pro vlastní nápad.</a:t>
            </a:r>
          </a:p>
        </p:txBody>
      </p:sp>
      <p:sp>
        <p:nvSpPr>
          <p:cNvPr id="6" name="Méně práce od nuly">
            <a:extLst>
              <a:ext uri="{FF2B5EF4-FFF2-40B4-BE49-F238E27FC236}">
                <a16:creationId xmlns:a16="http://schemas.microsoft.com/office/drawing/2014/main" id="{161861F3-3F52-48B7-A5B6-DF474459E789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Méně práce od nuly</a:t>
            </a:r>
          </a:p>
        </p:txBody>
      </p:sp>
      <p:sp>
        <p:nvSpPr>
          <p:cNvPr id="7" name="Existující modely poskytují pojmy, vztah">
            <a:extLst>
              <a:ext uri="{FF2B5EF4-FFF2-40B4-BE49-F238E27FC236}">
                <a16:creationId xmlns:a16="http://schemas.microsoft.com/office/drawing/2014/main" id="{9B578D9D-2EFF-48E2-B683-D8070BED4AE7}"/>
              </a:ext>
            </a:extLst>
          </p:cNvPr>
          <p:cNvSpPr>
            <a:spLocks noGrp="1"/>
          </p:cNvSpPr>
          <p:nvPr/>
        </p:nvSpPr>
        <p:spPr>
          <a:xfrm>
            <a:off x="3857625" y="30099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Existující modely poskytují pojmy, vztahy a příklady.</a:t>
            </a:r>
          </a:p>
        </p:txBody>
      </p:sp>
      <p:sp>
        <p:nvSpPr>
          <p:cNvPr id="8" name="Snazší propojení">
            <a:extLst>
              <a:ext uri="{FF2B5EF4-FFF2-40B4-BE49-F238E27FC236}">
                <a16:creationId xmlns:a16="http://schemas.microsoft.com/office/drawing/2014/main" id="{97FF5E8B-6FF7-4913-B5FA-82F18A8C3C1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Snazší propojení</a:t>
            </a:r>
          </a:p>
        </p:txBody>
      </p:sp>
      <p:sp>
        <p:nvSpPr>
          <p:cNvPr id="9" name="FHIR pomáhá připravit informace pro výmě">
            <a:extLst>
              <a:ext uri="{FF2B5EF4-FFF2-40B4-BE49-F238E27FC236}">
                <a16:creationId xmlns:a16="http://schemas.microsoft.com/office/drawing/2014/main" id="{9AB7489F-8560-4EE8-9CA8-FC276530194C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FHIR pomáhá připravit informace pro výměnu mezi aplikacemi.</a:t>
            </a:r>
          </a:p>
        </p:txBody>
      </p:sp>
      <p:sp>
        <p:nvSpPr>
          <p:cNvPr id="10" name="Data pro další rozvoj">
            <a:extLst>
              <a:ext uri="{FF2B5EF4-FFF2-40B4-BE49-F238E27FC236}">
                <a16:creationId xmlns:a16="http://schemas.microsoft.com/office/drawing/2014/main" id="{2BAC69AA-A6FE-450C-9E8A-0083899836EB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Data pro další rozvoj</a:t>
            </a:r>
          </a:p>
        </p:txBody>
      </p:sp>
      <p:sp>
        <p:nvSpPr>
          <p:cNvPr id="11" name="Společná struktura podporuje analytiku, ">
            <a:extLst>
              <a:ext uri="{FF2B5EF4-FFF2-40B4-BE49-F238E27FC236}">
                <a16:creationId xmlns:a16="http://schemas.microsoft.com/office/drawing/2014/main" id="{D2FB405B-4266-4C41-A869-38ADD5E4C2DD}"/>
              </a:ext>
            </a:extLst>
          </p:cNvPr>
          <p:cNvSpPr>
            <a:spLocks noGrp="1"/>
          </p:cNvSpPr>
          <p:nvPr/>
        </p:nvSpPr>
        <p:spPr>
          <a:xfrm>
            <a:off x="3857625" y="4800600"/>
            <a:ext cx="7429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Společná struktura podporuje analytiku, výzkum a práci s AI.</a:t>
            </a:r>
          </a:p>
        </p:txBody>
      </p:sp>
      <p:sp>
        <p:nvSpPr>
          <p:cNvPr id="12" name="Dobrý prototyp ukáže přínos řešení i sro">
            <a:extLst>
              <a:ext uri="{FF2B5EF4-FFF2-40B4-BE49-F238E27FC236}">
                <a16:creationId xmlns:a16="http://schemas.microsoft.com/office/drawing/2014/main" id="{BB7A7886-FE18-448C-974A-2EC389C9B422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Dobrý prototyp ukáže přínos řešení i srozumitelný způsob práce s daty.</a:t>
            </a:r>
          </a:p>
        </p:txBody>
      </p:sp>
    </p:spTree>
    <p:extLst>
      <p:ext uri="{BB962C8B-B14F-4D97-AF65-F5344CB8AC3E}">
        <p14:creationId xmlns:p14="http://schemas.microsoft.com/office/powerpoint/2010/main" val="452831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řejné zdroje pro další práci">
            <a:extLst>
              <a:ext uri="{FF2B5EF4-FFF2-40B4-BE49-F238E27FC236}">
                <a16:creationId xmlns:a16="http://schemas.microsoft.com/office/drawing/2014/main" id="{9F46326F-6AAA-4812-A370-22BF470A64F8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Veřejné zdroje pro další práci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534942-E617-495D-A0A7-8B435E6B3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Závěr">
            <a:extLst>
              <a:ext uri="{FF2B5EF4-FFF2-40B4-BE49-F238E27FC236}">
                <a16:creationId xmlns:a16="http://schemas.microsoft.com/office/drawing/2014/main" id="{7878E22F-28DB-49C2-8D6E-D9BFFDAF9DD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Závěr</a:t>
            </a:r>
          </a:p>
        </p:txBody>
      </p:sp>
      <p:sp>
        <p:nvSpPr>
          <p:cNvPr id="4" name="16">
            <a:extLst>
              <a:ext uri="{FF2B5EF4-FFF2-40B4-BE49-F238E27FC236}">
                <a16:creationId xmlns:a16="http://schemas.microsoft.com/office/drawing/2014/main" id="{9126672E-D172-4470-A076-0B7FAFA1B221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HL7 nabízí společný základ.&#10;Týmy na něm ">
            <a:extLst>
              <a:ext uri="{FF2B5EF4-FFF2-40B4-BE49-F238E27FC236}">
                <a16:creationId xmlns:a16="http://schemas.microsoft.com/office/drawing/2014/main" id="{3B35BAEC-72C1-4859-94A0-BE3E8A6DF810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1081087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9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HL7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nabízí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společný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základ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pPr>
              <a:defRPr sz="2925" b="1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Týmy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na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něm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cs-CZ"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mohou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stav</a:t>
            </a:r>
            <a:r>
              <a:rPr lang="cs-CZ"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it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vlastní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925" b="1" dirty="0" err="1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řešení</a:t>
            </a:r>
            <a:r>
              <a:rPr sz="2925" b="1" dirty="0">
                <a:solidFill>
                  <a:srgbClr val="EC2227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6" name="HL7 International">
            <a:extLst>
              <a:ext uri="{FF2B5EF4-FFF2-40B4-BE49-F238E27FC236}">
                <a16:creationId xmlns:a16="http://schemas.microsoft.com/office/drawing/2014/main" id="{91E4DF59-342F-44C0-8A6E-295E54E1F8F8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HL7 International</a:t>
            </a:r>
          </a:p>
        </p:txBody>
      </p:sp>
      <p:sp>
        <p:nvSpPr>
          <p:cNvPr id="7" name="https://HL7.org">
            <a:extLst>
              <a:ext uri="{FF2B5EF4-FFF2-40B4-BE49-F238E27FC236}">
                <a16:creationId xmlns:a16="http://schemas.microsoft.com/office/drawing/2014/main" id="{6D8F1813-F8E3-4254-BEB4-42472561654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1076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  <a:hlinkClick r:id="rId4"/>
              </a:rPr>
              <a:t>https://HL7.org</a:t>
            </a:r>
          </a:p>
        </p:txBody>
      </p:sp>
      <p:sp>
        <p:nvSpPr>
          <p:cNvPr id="8" name="Evropský Cancer Common">
            <a:extLst>
              <a:ext uri="{FF2B5EF4-FFF2-40B4-BE49-F238E27FC236}">
                <a16:creationId xmlns:a16="http://schemas.microsoft.com/office/drawing/2014/main" id="{E9ED6C02-106B-4421-B5FA-450F71D63262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Evropský Cancer Common</a:t>
            </a:r>
          </a:p>
        </p:txBody>
      </p:sp>
      <p:sp>
        <p:nvSpPr>
          <p:cNvPr id="9" name="https://hl7.eu/fhir/cancer-common/">
            <a:extLst>
              <a:ext uri="{FF2B5EF4-FFF2-40B4-BE49-F238E27FC236}">
                <a16:creationId xmlns:a16="http://schemas.microsoft.com/office/drawing/2014/main" id="{F3AC1003-7093-4655-B3B4-36E6EC096C1A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1076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  <a:hlinkClick r:id="rId5"/>
              </a:rPr>
              <a:t>https://hl7.eu/fhir/cancer-common/</a:t>
            </a:r>
          </a:p>
        </p:txBody>
      </p:sp>
      <p:sp>
        <p:nvSpPr>
          <p:cNvPr id="10" name="mCODE: stabilní publikace STU4">
            <a:extLst>
              <a:ext uri="{FF2B5EF4-FFF2-40B4-BE49-F238E27FC236}">
                <a16:creationId xmlns:a16="http://schemas.microsoft.com/office/drawing/2014/main" id="{13D1EE70-48B6-4225-808D-0DDB7BCE25B3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mCODE: stabilní publikace STU4</a:t>
            </a:r>
          </a:p>
        </p:txBody>
      </p:sp>
      <p:sp>
        <p:nvSpPr>
          <p:cNvPr id="11" name="https://hl7.org/fhir/us/mcode/STU4/">
            <a:extLst>
              <a:ext uri="{FF2B5EF4-FFF2-40B4-BE49-F238E27FC236}">
                <a16:creationId xmlns:a16="http://schemas.microsoft.com/office/drawing/2014/main" id="{305742FC-5185-4BC3-83D6-A952620C9393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1076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  <a:hlinkClick r:id="rId6"/>
              </a:rPr>
              <a:t>https://hl7.org/fhir/us/mcode/STU4/</a:t>
            </a:r>
          </a:p>
        </p:txBody>
      </p:sp>
      <p:sp>
        <p:nvSpPr>
          <p:cNvPr id="12" name="České FHIR příručky">
            <a:extLst>
              <a:ext uri="{FF2B5EF4-FFF2-40B4-BE49-F238E27FC236}">
                <a16:creationId xmlns:a16="http://schemas.microsoft.com/office/drawing/2014/main" id="{B34E893B-1440-4464-9C6C-9EB39BD6A335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10668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10101"/>
                </a:solidFill>
                <a:latin typeface="DejaVu Sans"/>
                <a:ea typeface="DejaVu Sans"/>
                <a:cs typeface="DejaVu Sans"/>
              </a:rPr>
              <a:t>České FHIR příručky</a:t>
            </a:r>
          </a:p>
        </p:txBody>
      </p:sp>
      <p:sp>
        <p:nvSpPr>
          <p:cNvPr id="13" name="https://hl7.cz/fhir/">
            <a:extLst>
              <a:ext uri="{FF2B5EF4-FFF2-40B4-BE49-F238E27FC236}">
                <a16:creationId xmlns:a16="http://schemas.microsoft.com/office/drawing/2014/main" id="{60A6342B-02AC-4EA0-89FF-3F8FBC9C45AC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1076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EC2227"/>
                </a:solidFill>
                <a:latin typeface="DejaVu Sans"/>
                <a:ea typeface="DejaVu Sans"/>
                <a:cs typeface="DejaVu Sans"/>
                <a:hlinkClick r:id="rId7"/>
              </a:rPr>
              <a:t>https://hl7.cz/fhir/</a:t>
            </a:r>
          </a:p>
        </p:txBody>
      </p:sp>
    </p:spTree>
    <p:extLst>
      <p:ext uri="{BB962C8B-B14F-4D97-AF65-F5344CB8AC3E}">
        <p14:creationId xmlns:p14="http://schemas.microsoft.com/office/powerpoint/2010/main" val="234309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7BC66-1C06-9D75-2691-48F28690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řejné zdroje pro další práci">
            <a:extLst>
              <a:ext uri="{FF2B5EF4-FFF2-40B4-BE49-F238E27FC236}">
                <a16:creationId xmlns:a16="http://schemas.microsoft.com/office/drawing/2014/main" id="{B73E42D7-7E08-B6F6-FC83-2142292B97BC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9429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010101"/>
                </a:solidFill>
                <a:latin typeface="DejaVu Sans"/>
                <a:ea typeface="DejaVu Sans"/>
                <a:cs typeface="DejaVu Sans"/>
              </a:defRPr>
            </a:pPr>
            <a:endParaRPr sz="3150" b="1" dirty="0">
              <a:solidFill>
                <a:srgbClr val="01010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B4EC98-910A-EFCB-E028-27408B13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80708" y="419100"/>
            <a:ext cx="1155634" cy="733425"/>
          </a:xfrm>
          <a:prstGeom prst="rect">
            <a:avLst/>
          </a:prstGeom>
        </p:spPr>
      </p:pic>
      <p:sp>
        <p:nvSpPr>
          <p:cNvPr id="3" name="Rakathon 2026  /  Závěr">
            <a:extLst>
              <a:ext uri="{FF2B5EF4-FFF2-40B4-BE49-F238E27FC236}">
                <a16:creationId xmlns:a16="http://schemas.microsoft.com/office/drawing/2014/main" id="{7E79E234-7C92-2B9E-2CDA-59434F4AB6D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Rakathon 2026  /  Závěr</a:t>
            </a:r>
          </a:p>
        </p:txBody>
      </p:sp>
      <p:sp>
        <p:nvSpPr>
          <p:cNvPr id="4" name="16">
            <a:extLst>
              <a:ext uri="{FF2B5EF4-FFF2-40B4-BE49-F238E27FC236}">
                <a16:creationId xmlns:a16="http://schemas.microsoft.com/office/drawing/2014/main" id="{C5FC5912-D186-A4CD-49FE-5CC23E8CF61C}"/>
              </a:ext>
            </a:extLst>
          </p:cNvPr>
          <p:cNvSpPr>
            <a:spLocks noGrp="1"/>
          </p:cNvSpPr>
          <p:nvPr/>
        </p:nvSpPr>
        <p:spPr>
          <a:xfrm>
            <a:off x="11191875" y="6429375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6666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08E965-5DD8-A960-DA51-6595C7CB5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361" y="1268998"/>
            <a:ext cx="6362700" cy="4152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CB8AD4-EEF0-30C7-4E4E-DE31C8B28BA1}"/>
              </a:ext>
            </a:extLst>
          </p:cNvPr>
          <p:cNvSpPr txBox="1"/>
          <p:nvPr/>
        </p:nvSpPr>
        <p:spPr>
          <a:xfrm>
            <a:off x="1236733" y="5798135"/>
            <a:ext cx="9718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10101"/>
                </a:solidFill>
                <a:ea typeface="DejaVu Sans"/>
                <a:cs typeface="DejaVu Sans"/>
                <a:hlinkClick r:id="rId5"/>
              </a:rPr>
              <a:t>https://www.hl7europe.eu/hl7-europe-working-group-meeting-malaga-2026/</a:t>
            </a:r>
            <a:r>
              <a:rPr lang="en-GB" sz="1600" b="1" dirty="0">
                <a:solidFill>
                  <a:srgbClr val="010101"/>
                </a:solidFill>
                <a:ea typeface="DejaVu Sans"/>
                <a:cs typeface="DejaVu Sans"/>
              </a:rPr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647136-E5D6-289F-EB8F-970AAEB6D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9350" y="1364248"/>
            <a:ext cx="1244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399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4659</Words>
  <Application>Microsoft Macintosh PowerPoint</Application>
  <DocSecurity>0</DocSecurity>
  <PresentationFormat>Widescreen</PresentationFormat>
  <Paragraphs>465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Hynek Kruzik</cp:lastModifiedBy>
  <cp:revision>5</cp:revision>
  <dcterms:created xsi:type="dcterms:W3CDTF">2026-10-10T20:12:02Z</dcterms:created>
  <dcterms:modified xsi:type="dcterms:W3CDTF">2026-10-15T10:07:54Z</dcterms:modified>
</cp:coreProperties>
</file>