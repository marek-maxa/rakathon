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cs-C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30"/>
  </p:normalViewPr>
  <p:slideViewPr>
    <p:cSldViewPr snapToGrid="0">
      <p:cViewPr varScale="1">
        <p:scale>
          <a:sx n="113" d="100"/>
          <a:sy n="113" d="100"/>
        </p:scale>
        <p:origin x="5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Dobré ráno a vítejte na Rakathonu 2026. Jsem Jiří Pecina, zakladatel MEDDI. Dnes bych chtěl začít jednoduchou myšlenkou: onkologická péče pokračuje i ve chvíli, kdy pacient odchází z nemocnice domů. Právě tehdy vznikají otázky, nejistota a potřeba vědět, na koho se obrátit. MEDDI Onco pomáhá toto spojení udržet. A přesně tady vidím prostor i pro vaše nápady. V onkologii se potkávají špičková medicína a velmi osobní lidská zkušenost. Na jedné straně máme výsledky vyšetření a léčebný plán. Na druhé člověka, který se snaží porozumět tomu, co se s ním děje. Chceme, aby technologie pomáhala tyto dva světy spojit a aby se pacient mohl lépe zorientovat i mimo ordinaci.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Představme si běžný den doma během léčby. Pacient má potíže, chce se na něco zeptat nebo potřebuje předat zprávu. Pro něj je zásadní jednoduchá otázka: komu to mám říct a co bude následovat? Pro zdravotníky je stejně zásadní mít přehled o požadavcích a vědět, kdo je řeší. Smyslem digitální péče je propojit tyto dvě potřeby. Při návrhu aplikace snadno začneme seznamem funkcí. Jenže člověk během léčby řeší něco jiného: zda dokáže popsat svou potíž, zda zpráva dorazila a co má udělat dál. Proto musíme přemýšlet o celé cestě informace, od prvního sdělení pacienta až po reakci týmu. Každý krok musí být pochopitelný i pro člověka, který je unavený nebo má strach.</a:t>
            </a:r>
          </a:p>
          <a:p>
            <a:endParaRPr/>
          </a:p>
          <a:p>
            <a:r>
              <a:t>Zdroj: MEDDI-Onco-A4-04-CZ_N.pdf, produktový materiál MEDDI, str. 1–3. https://chatgpt.com/api/library/files/libfile_f8d383cd6e9481919707cc28b5850ad4/download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 mě je u MEDDI Onco nejdůležitější koordinace. Pacient může z domova poslat zprávu, fotografii nebo vyplnit dotazník. Monitorovací centrum vidí požadavek, jeho typ a prioritu. Tým ho vyřeší, doplní nebo předá příslušnému zdravotníkovi. Do jednoho prostředí tak propojujeme pacienta a lidi, kteří o něj pečují. Důležitý je vždy konkrétní další krok a odpovědnost za něj. Samotná možnost napsat zprávu nestačí. Potřebujeme, aby zapadla do práce koordinátorů, sester a lékařů. Zdravotník má mít k dispozici podstatný kontext a pacient má vědět, jak kontakt používat. Takto chápu MEDDI Onco: jako nástroj pro koordinaci celé péče a komunikace kolem pacienta.</a:t>
            </a:r>
          </a:p>
          <a:p>
            <a:endParaRPr/>
          </a:p>
          <a:p>
            <a:r>
              <a:t>Zdroj: MEDDI-Onco-A4-04-CZ_N.pdf, produktový materiál MEDDI, str. 1–3. https://chatgpt.com/api/library/files/libfile_f8d383cd6e9481919707cc28b5850ad4/download</a:t>
            </a:r>
          </a:p>
          <a:p>
            <a:br/>
            <a:br/>
            <a:r>
              <a:t>Původní produktová obrazovka z prezentace Rakathon – výzva MEDDI Onco.pptx, aktualizace Patrika Litschmanna z 14. 10. 2026. Ukázka rozhraní. Zdroj směřování: aktualizovaná příloha Rakathon – výzva MEDDI Onco.pdf, Patrik Litschmann, 14. 10. 2026. E-mail https://mail.google.com/mail/u/?authuser=pecina%40meddihub.com#all/1a13a713aefecaa1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 Masarykově onkologickém ústavu se MEDDI Onco podle našich produktových podkladů používá a testuje od roku 2020. V systému je již více než 15 500 pacientů. Máme tedy zkušenost z reálného prostředí. Produktové podklady MEDDI Onco uvádějí roční úsporu přibližně 137 000 korun v nákladech na práci na jednu všeobecnou sestru. Jde o ocenění ušetřeného času a kapacity, nikoli automaticky o snížení výdajů pracoviště. Pacienti mohou komunikovat z domova, sdílet obtíže a podklady pro tým. Důležitou součástí je sledování nežádoucích účinků i psychického stavu. Technologie má pomáhat tomu, aby se potřebná informace dostala ke správnému člověku.</a:t>
            </a:r>
          </a:p>
          <a:p>
            <a:endParaRPr/>
          </a:p>
          <a:p>
            <a:r>
              <a:t>Zdroje: počet více než 15 500 pacientů dodal Jiří Pecina dne 16. 10. 2026. Rok 2020 a úspora přibližně 137 000 Kč ročně v nákladech na práci na jednu všeobecnou sestru pocházejí z produktového materiálu MEDDI-Onco-A4-04-CZ_N.pdf, str. 3, data MOÚ. Metodika ocenění času a nezávislé ověření nejsou součástí podkladu. Nejde automaticky o hotovostní úsporu ani o tvrzení o výsledcích nezávislé klinické studie.</a:t>
            </a:r>
          </a:p>
          <a:p>
            <a:endParaRPr/>
          </a:p>
          <a:p>
            <a:r>
              <a:t>Zdroj: MEDDI-Onco-A4-04-CZ_N.pdf, produktový materiál MEDDI, str. 1–3. https://chatgpt.com/api/library/files/libfile_f8d383cd6e9481919707cc28b5850ad4/download</a:t>
            </a:r>
          </a:p>
          <a:p>
            <a:br/>
            <a:br/>
            <a:r>
              <a:t>Původní produktová obrazovka z prezentace Rakathon – výzva MEDDI Onco.pptx, aktualizace Patrika Litschmanna z 14. 10. 2026. Ukázka rozhraní. Zdroj směřování: aktualizovaná příloha Rakathon – výzva MEDDI Onco.pdf, Patrik Litschmann, 14. 10. 2026. E-mail https://mail.google.com/mail/u/?authuser=pecina%40meddihub.com#all/1a13a713aefecaa1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 Rakathon proto přinášíme výzvu AI společníka pacienta mezi kontrolami. Představujeme si nástroj, který se umí srozumitelně ptát, zohlednit kontext léčby a upozornit tým na rizikový vývoj. Pacient má rozumět dalšímu kroku. Lékař má dostat stručný souhrn, ze kterého se rychle zorientuje. To je směr prototypu, který tady chceme rozvíjet. Rozhodování o diagnóze a změně léčby zůstává u zdravotníků. A právě schopnost bezpečně předat situaci člověku patří k nejdůležitějším vlastnostem takového řešení. Podrobné zadání vám dnes ve dvanáct představí Patrik Litschmann.</a:t>
            </a:r>
          </a:p>
          <a:p>
            <a:endParaRPr/>
          </a:p>
          <a:p>
            <a:r>
              <a:t>Zdroj směřování: aktualizovaná příloha Rakathon – výzva MEDDI Onco.pdf, Patrik Litschmann, 14. 10. 2026. E-mail https://mail.google.com/mail/u/?authuser=pecina%40meddihub.com#all/1a13a713aefecaa1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to je moje výzva pro dnešní Rakathon. Při navrhování řešení mysleme na člověka, který ho bude používat v náročném období života. Co mu usnadní kontakt s týmem? Jak mu pomůžeme srozumitelně popsat, co potřebuje? A jak zdravotníkům pomůžeme rychle se zorientovat, aniž bychom jim přidávali další práci? Přeji vám, ať dnes vzniknou nápady, které najdou cestu do každodenní péče. Podrobné zadání nechám na Patrikovi ve dvanáct hodin. Teď vám chci hlavně poděkovat, že věnujete svůj čas tématu, které má pro pacienty i jejich rodiny velký význam. Přeji vám dobré otázky, otevřenou spolupráci s mentory a odvahu své nápady poctivě vyzkoušet. Děkuji a těším se na to, co společně vymyslíte.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521B4B9-5C11-4DD9-9803-65FAA2864EA3}"/>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9950FCFC-C946-4A65-B88B-F0234CE49D21}"/>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5455AF7B-098B-4B69-A837-A952EE37CBE7}"/>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7480EC0-8E25-44D1-ACDC-F5B212B9FD2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F265258F-2A32-4DAD-A9CF-24F15DA8D835}"/>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6D93039-FFB9-4CCD-BD42-1CC0C17BEA2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30B8C4EF-27A7-4149-A9F8-3A4FC007BB8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D6928ED1-E3B9-40DA-9726-E5A99BEEBE9D}"/>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D1B6FE0-67E3-41F8-BFFA-25C8F821DE0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9EE65472-B0F9-4849-8E98-670CE34C00AA}"/>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2C41"/>
        </a:solidFill>
        <a:effectLst/>
      </p:bgPr>
    </p:bg>
    <p:spTree>
      <p:nvGrpSpPr>
        <p:cNvPr id="1" name=""/>
        <p:cNvGrpSpPr/>
        <p:nvPr/>
      </p:nvGrpSpPr>
      <p:grpSpPr>
        <a:xfrm>
          <a:off x="0" y="0"/>
          <a:ext cx="0" cy="0"/>
          <a:chOff x="0" y="0"/>
          <a:chExt cx="0" cy="0"/>
        </a:xfrm>
      </p:grpSpPr>
      <p:sp>
        <p:nvSpPr>
          <p:cNvPr id="6" name="Obdélník 5">
            <a:extLst>
              <a:ext uri="{FF2B5EF4-FFF2-40B4-BE49-F238E27FC236}">
                <a16:creationId xmlns:a16="http://schemas.microsoft.com/office/drawing/2014/main" id="{9DFADCD6-728D-4225-985E-1786D6ED460C}"/>
              </a:ext>
            </a:extLst>
          </p:cNvPr>
          <p:cNvSpPr>
            <a:spLocks noGrp="1"/>
          </p:cNvSpPr>
          <p:nvPr/>
        </p:nvSpPr>
        <p:spPr>
          <a:xfrm>
            <a:off x="723900" y="590550"/>
            <a:ext cx="7620000" cy="381000"/>
          </a:xfrm>
          <a:prstGeom prst="rect">
            <a:avLst/>
          </a:prstGeom>
          <a:noFill/>
          <a:ln w="0">
            <a:noFill/>
            <a:prstDash val="solid"/>
          </a:ln>
        </p:spPr>
        <p:txBody>
          <a:bodyPr lIns="0" tIns="0" rIns="0" bIns="0">
            <a:noAutofit/>
          </a:bodyPr>
          <a:lstStyle>
            <a:defPPr>
              <a:defRPr sz="1800" b="1">
                <a:solidFill>
                  <a:srgbClr val="EF7137"/>
                </a:solidFill>
                <a:latin typeface="DejaVu Sans"/>
                <a:ea typeface="DejaVu Sans"/>
                <a:cs typeface="DejaVu Sans"/>
              </a:defRPr>
            </a:defPPr>
          </a:lstStyle>
          <a:p>
            <a:pPr>
              <a:defRPr sz="1800" b="1">
                <a:solidFill>
                  <a:srgbClr val="EF7137"/>
                </a:solidFill>
                <a:latin typeface="DejaVu Sans"/>
                <a:ea typeface="DejaVu Sans"/>
                <a:cs typeface="DejaVu Sans"/>
              </a:defRPr>
            </a:pPr>
            <a:r>
              <a:rPr sz="1800" b="1">
                <a:solidFill>
                  <a:srgbClr val="EF7137"/>
                </a:solidFill>
                <a:latin typeface="DejaVu Sans"/>
                <a:ea typeface="DejaVu Sans"/>
                <a:cs typeface="DejaVu Sans"/>
              </a:rPr>
              <a:t>RAKATHON 2026</a:t>
            </a:r>
          </a:p>
        </p:txBody>
      </p:sp>
      <p:sp>
        <p:nvSpPr>
          <p:cNvPr id="2" name="Obdélník 1">
            <a:extLst>
              <a:ext uri="{FF2B5EF4-FFF2-40B4-BE49-F238E27FC236}">
                <a16:creationId xmlns:a16="http://schemas.microsoft.com/office/drawing/2014/main" id="{B1A89660-4BB0-48A0-876A-FB15E8244E22}"/>
              </a:ext>
            </a:extLst>
          </p:cNvPr>
          <p:cNvSpPr>
            <a:spLocks noGrp="1"/>
          </p:cNvSpPr>
          <p:nvPr/>
        </p:nvSpPr>
        <p:spPr>
          <a:xfrm>
            <a:off x="723900" y="1809750"/>
            <a:ext cx="10668000" cy="1047750"/>
          </a:xfrm>
          <a:prstGeom prst="rect">
            <a:avLst/>
          </a:prstGeom>
          <a:noFill/>
          <a:ln w="0">
            <a:noFill/>
            <a:prstDash val="solid"/>
          </a:ln>
        </p:spPr>
        <p:txBody>
          <a:bodyPr lIns="0" tIns="0" rIns="0" bIns="0">
            <a:noAutofit/>
          </a:bodyPr>
          <a:lstStyle>
            <a:defPPr>
              <a:defRPr sz="6150" b="1">
                <a:solidFill>
                  <a:srgbClr val="FFFFFF"/>
                </a:solidFill>
                <a:latin typeface="DejaVu Sans"/>
                <a:ea typeface="DejaVu Sans"/>
                <a:cs typeface="DejaVu Sans"/>
              </a:defRPr>
            </a:defPPr>
          </a:lstStyle>
          <a:p>
            <a:pPr>
              <a:defRPr sz="6150" b="1">
                <a:solidFill>
                  <a:srgbClr val="FFFFFF"/>
                </a:solidFill>
                <a:latin typeface="DejaVu Sans"/>
                <a:ea typeface="DejaVu Sans"/>
                <a:cs typeface="DejaVu Sans"/>
              </a:defRPr>
            </a:pPr>
            <a:r>
              <a:rPr sz="6150" b="1">
                <a:solidFill>
                  <a:srgbClr val="FFFFFF"/>
                </a:solidFill>
                <a:latin typeface="DejaVu Sans"/>
                <a:ea typeface="DejaVu Sans"/>
                <a:cs typeface="DejaVu Sans"/>
              </a:rPr>
              <a:t>MEDDI Onco</a:t>
            </a:r>
          </a:p>
        </p:txBody>
      </p:sp>
      <p:sp>
        <p:nvSpPr>
          <p:cNvPr id="3" name="Obdélník 2">
            <a:extLst>
              <a:ext uri="{FF2B5EF4-FFF2-40B4-BE49-F238E27FC236}">
                <a16:creationId xmlns:a16="http://schemas.microsoft.com/office/drawing/2014/main" id="{D03C0D65-5497-4F73-AEFF-B1E0860BD70F}"/>
              </a:ext>
            </a:extLst>
          </p:cNvPr>
          <p:cNvSpPr>
            <a:spLocks noGrp="1"/>
          </p:cNvSpPr>
          <p:nvPr/>
        </p:nvSpPr>
        <p:spPr>
          <a:xfrm>
            <a:off x="723900" y="3095625"/>
            <a:ext cx="10572750" cy="1714500"/>
          </a:xfrm>
          <a:prstGeom prst="rect">
            <a:avLst/>
          </a:prstGeom>
          <a:noFill/>
          <a:ln w="0">
            <a:noFill/>
            <a:prstDash val="solid"/>
          </a:ln>
        </p:spPr>
        <p:txBody>
          <a:bodyPr lIns="0" tIns="0" rIns="0" bIns="0">
            <a:noAutofit/>
          </a:bodyPr>
          <a:lstStyle>
            <a:defPPr>
              <a:defRPr sz="4050" b="0">
                <a:solidFill>
                  <a:srgbClr val="FFFFFF"/>
                </a:solidFill>
                <a:latin typeface="DejaVu Sans"/>
                <a:ea typeface="DejaVu Sans"/>
                <a:cs typeface="DejaVu Sans"/>
              </a:defRPr>
            </a:defPPr>
          </a:lstStyle>
          <a:p>
            <a:pPr>
              <a:defRPr sz="4050" b="0">
                <a:solidFill>
                  <a:srgbClr val="FFFFFF"/>
                </a:solidFill>
                <a:latin typeface="DejaVu Sans"/>
                <a:ea typeface="DejaVu Sans"/>
                <a:cs typeface="DejaVu Sans"/>
              </a:defRPr>
            </a:pPr>
            <a:r>
              <a:rPr sz="4050" b="0">
                <a:solidFill>
                  <a:srgbClr val="FFFFFF"/>
                </a:solidFill>
                <a:latin typeface="DejaVu Sans"/>
                <a:ea typeface="DejaVu Sans"/>
                <a:cs typeface="DejaVu Sans"/>
              </a:rPr>
              <a:t>Péče pokračuje</a:t>
            </a:r>
          </a:p>
          <a:p>
            <a:pPr>
              <a:defRPr sz="4050" b="0">
                <a:solidFill>
                  <a:srgbClr val="FFFFFF"/>
                </a:solidFill>
                <a:latin typeface="DejaVu Sans"/>
                <a:ea typeface="DejaVu Sans"/>
                <a:cs typeface="DejaVu Sans"/>
              </a:defRPr>
            </a:pPr>
            <a:r>
              <a:rPr sz="4050" b="0">
                <a:solidFill>
                  <a:srgbClr val="FFFFFF"/>
                </a:solidFill>
                <a:latin typeface="DejaVu Sans"/>
                <a:ea typeface="DejaVu Sans"/>
                <a:cs typeface="DejaVu Sans"/>
              </a:rPr>
              <a:t>i mezi návštěvami</a:t>
            </a:r>
          </a:p>
        </p:txBody>
      </p:sp>
      <p:sp>
        <p:nvSpPr>
          <p:cNvPr id="4" name="Obdélník 3">
            <a:extLst>
              <a:ext uri="{FF2B5EF4-FFF2-40B4-BE49-F238E27FC236}">
                <a16:creationId xmlns:a16="http://schemas.microsoft.com/office/drawing/2014/main" id="{ACEE2772-5178-41A6-8B61-F6D90A600CED}"/>
              </a:ext>
            </a:extLst>
          </p:cNvPr>
          <p:cNvSpPr>
            <a:spLocks noGrp="1"/>
          </p:cNvSpPr>
          <p:nvPr/>
        </p:nvSpPr>
        <p:spPr>
          <a:xfrm>
            <a:off x="723900" y="5667375"/>
            <a:ext cx="10001250" cy="666750"/>
          </a:xfrm>
          <a:prstGeom prst="rect">
            <a:avLst/>
          </a:prstGeom>
          <a:noFill/>
          <a:ln w="0">
            <a:noFill/>
            <a:prstDash val="solid"/>
          </a:ln>
        </p:spPr>
        <p:txBody>
          <a:bodyPr lIns="0" tIns="0" rIns="0" bIns="0">
            <a:noAutofit/>
          </a:bodyPr>
          <a:lstStyle>
            <a:defPPr>
              <a:defRPr sz="1650" b="0">
                <a:solidFill>
                  <a:srgbClr val="B7C9D6"/>
                </a:solidFill>
                <a:latin typeface="DejaVu Sans"/>
                <a:ea typeface="DejaVu Sans"/>
                <a:cs typeface="DejaVu Sans"/>
              </a:defRPr>
            </a:defPPr>
          </a:lstStyle>
          <a:p>
            <a:pPr>
              <a:defRPr sz="1650" b="0">
                <a:solidFill>
                  <a:srgbClr val="B7C9D6"/>
                </a:solidFill>
                <a:latin typeface="DejaVu Sans"/>
                <a:ea typeface="DejaVu Sans"/>
                <a:cs typeface="DejaVu Sans"/>
              </a:defRPr>
            </a:pPr>
            <a:r>
              <a:rPr sz="1650" b="0">
                <a:solidFill>
                  <a:srgbClr val="B7C9D6"/>
                </a:solidFill>
                <a:latin typeface="DejaVu Sans"/>
                <a:ea typeface="DejaVu Sans"/>
                <a:cs typeface="DejaVu Sans"/>
              </a:rPr>
              <a:t>Ing. Mgr. Jiří Pecina, MBA, MHA</a:t>
            </a:r>
          </a:p>
          <a:p>
            <a:pPr>
              <a:defRPr sz="1650" b="0">
                <a:solidFill>
                  <a:srgbClr val="B7C9D6"/>
                </a:solidFill>
                <a:latin typeface="DejaVu Sans"/>
                <a:ea typeface="DejaVu Sans"/>
                <a:cs typeface="DejaVu Sans"/>
              </a:defRPr>
            </a:pPr>
            <a:r>
              <a:rPr sz="1650" b="0">
                <a:solidFill>
                  <a:srgbClr val="B7C9D6"/>
                </a:solidFill>
                <a:latin typeface="DejaVu Sans"/>
                <a:ea typeface="DejaVu Sans"/>
                <a:cs typeface="DejaVu Sans"/>
              </a:rPr>
              <a:t>Founder &amp; CEO, MEDDI hub a.s.</a:t>
            </a:r>
          </a:p>
        </p:txBody>
      </p:sp>
      <p:pic>
        <p:nvPicPr>
          <p:cNvPr id="5" name="Obrázek 4">
            <a:extLst>
              <a:ext uri="{FF2B5EF4-FFF2-40B4-BE49-F238E27FC236}">
                <a16:creationId xmlns:a16="http://schemas.microsoft.com/office/drawing/2014/main" id="{4E3F2A9C-0468-4ED7-9E1F-9779704A0F9A}"/>
              </a:ext>
            </a:extLst>
          </p:cNvPr>
          <p:cNvPicPr>
            <a:picLocks noChangeAspect="1"/>
          </p:cNvPicPr>
          <p:nvPr/>
        </p:nvPicPr>
        <p:blipFill>
          <a:blip r:embed="rId3"/>
          <a:stretch/>
        </p:blipFill>
        <p:spPr>
          <a:xfrm>
            <a:off x="9766188" y="5857875"/>
            <a:ext cx="1708375" cy="819150"/>
          </a:xfrm>
          <a:prstGeom prst="rect">
            <a:avLst/>
          </a:prstGeom>
        </p:spPr>
      </p:pic>
    </p:spTree>
    <p:extLst>
      <p:ext uri="{BB962C8B-B14F-4D97-AF65-F5344CB8AC3E}">
        <p14:creationId xmlns:p14="http://schemas.microsoft.com/office/powerpoint/2010/main" val="16260597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Obdélník 4">
            <a:extLst>
              <a:ext uri="{FF2B5EF4-FFF2-40B4-BE49-F238E27FC236}">
                <a16:creationId xmlns:a16="http://schemas.microsoft.com/office/drawing/2014/main" id="{41FC1D62-20C4-4E1C-8D12-7F271C7950D5}"/>
              </a:ext>
            </a:extLst>
          </p:cNvPr>
          <p:cNvSpPr>
            <a:spLocks noGrp="1"/>
          </p:cNvSpPr>
          <p:nvPr/>
        </p:nvSpPr>
        <p:spPr>
          <a:xfrm>
            <a:off x="723900" y="619125"/>
            <a:ext cx="10763250" cy="666750"/>
          </a:xfrm>
          <a:prstGeom prst="rect">
            <a:avLst/>
          </a:prstGeom>
          <a:noFill/>
          <a:ln w="0">
            <a:noFill/>
            <a:prstDash val="solid"/>
          </a:ln>
        </p:spPr>
        <p:txBody>
          <a:bodyPr lIns="0" tIns="0" rIns="0" bIns="0">
            <a:noAutofit/>
          </a:bodyPr>
          <a:lstStyle>
            <a:defPPr>
              <a:defRPr sz="3450" b="1">
                <a:solidFill>
                  <a:srgbClr val="112C41"/>
                </a:solidFill>
                <a:latin typeface="DejaVu Sans"/>
                <a:ea typeface="DejaVu Sans"/>
                <a:cs typeface="DejaVu Sans"/>
              </a:defRPr>
            </a:defPPr>
          </a:lstStyle>
          <a:p>
            <a:pPr>
              <a:defRPr sz="3450" b="1">
                <a:solidFill>
                  <a:srgbClr val="112C41"/>
                </a:solidFill>
                <a:latin typeface="DejaVu Sans"/>
                <a:ea typeface="DejaVu Sans"/>
                <a:cs typeface="DejaVu Sans"/>
              </a:defRPr>
            </a:pPr>
            <a:r>
              <a:rPr sz="3450" b="1">
                <a:solidFill>
                  <a:srgbClr val="112C41"/>
                </a:solidFill>
                <a:latin typeface="DejaVu Sans"/>
                <a:ea typeface="DejaVu Sans"/>
                <a:cs typeface="DejaVu Sans"/>
              </a:rPr>
              <a:t>Dny mezi kontrolami</a:t>
            </a:r>
          </a:p>
        </p:txBody>
      </p:sp>
      <p:sp>
        <p:nvSpPr>
          <p:cNvPr id="2" name="Obdélník 1">
            <a:extLst>
              <a:ext uri="{FF2B5EF4-FFF2-40B4-BE49-F238E27FC236}">
                <a16:creationId xmlns:a16="http://schemas.microsoft.com/office/drawing/2014/main" id="{DEF6BB68-7B7E-464E-A9D5-2D095C8DA7A7}"/>
              </a:ext>
            </a:extLst>
          </p:cNvPr>
          <p:cNvSpPr>
            <a:spLocks noGrp="1"/>
          </p:cNvSpPr>
          <p:nvPr/>
        </p:nvSpPr>
        <p:spPr>
          <a:xfrm>
            <a:off x="723900" y="2000250"/>
            <a:ext cx="10572750" cy="1809750"/>
          </a:xfrm>
          <a:prstGeom prst="rect">
            <a:avLst/>
          </a:prstGeom>
          <a:noFill/>
          <a:ln w="0">
            <a:noFill/>
            <a:prstDash val="solid"/>
          </a:ln>
        </p:spPr>
        <p:txBody>
          <a:bodyPr lIns="0" tIns="0" rIns="0" bIns="0">
            <a:noAutofit/>
          </a:bodyPr>
          <a:lstStyle>
            <a:defPPr>
              <a:defRPr sz="4875" b="1">
                <a:solidFill>
                  <a:srgbClr val="112C41"/>
                </a:solidFill>
                <a:latin typeface="DejaVu Sans"/>
                <a:ea typeface="DejaVu Sans"/>
                <a:cs typeface="DejaVu Sans"/>
              </a:defRPr>
            </a:defPPr>
          </a:lstStyle>
          <a:p>
            <a:pPr>
              <a:defRPr sz="4875" b="1">
                <a:solidFill>
                  <a:srgbClr val="112C41"/>
                </a:solidFill>
                <a:latin typeface="DejaVu Sans"/>
                <a:ea typeface="DejaVu Sans"/>
                <a:cs typeface="DejaVu Sans"/>
              </a:defRPr>
            </a:pPr>
            <a:r>
              <a:rPr sz="4875" b="1">
                <a:solidFill>
                  <a:srgbClr val="112C41"/>
                </a:solidFill>
                <a:latin typeface="DejaVu Sans"/>
                <a:ea typeface="DejaVu Sans"/>
                <a:cs typeface="DejaVu Sans"/>
              </a:rPr>
              <a:t>„Něco se změnilo.</a:t>
            </a:r>
          </a:p>
          <a:p>
            <a:pPr>
              <a:defRPr sz="4875" b="1">
                <a:solidFill>
                  <a:srgbClr val="112C41"/>
                </a:solidFill>
                <a:latin typeface="DejaVu Sans"/>
                <a:ea typeface="DejaVu Sans"/>
                <a:cs typeface="DejaVu Sans"/>
              </a:defRPr>
            </a:pPr>
            <a:r>
              <a:rPr sz="4875" b="1">
                <a:solidFill>
                  <a:srgbClr val="112C41"/>
                </a:solidFill>
                <a:latin typeface="DejaVu Sans"/>
                <a:ea typeface="DejaVu Sans"/>
                <a:cs typeface="DejaVu Sans"/>
              </a:rPr>
              <a:t>Komu to mám říct?“</a:t>
            </a:r>
          </a:p>
        </p:txBody>
      </p:sp>
      <p:sp>
        <p:nvSpPr>
          <p:cNvPr id="3" name="Obdélník 2">
            <a:extLst>
              <a:ext uri="{FF2B5EF4-FFF2-40B4-BE49-F238E27FC236}">
                <a16:creationId xmlns:a16="http://schemas.microsoft.com/office/drawing/2014/main" id="{F4EE8FF7-6224-4CAB-A7E1-F6CE43D64745}"/>
              </a:ext>
            </a:extLst>
          </p:cNvPr>
          <p:cNvSpPr>
            <a:spLocks noGrp="1"/>
          </p:cNvSpPr>
          <p:nvPr/>
        </p:nvSpPr>
        <p:spPr>
          <a:xfrm>
            <a:off x="723900" y="4619625"/>
            <a:ext cx="10572750" cy="1047750"/>
          </a:xfrm>
          <a:prstGeom prst="rect">
            <a:avLst/>
          </a:prstGeom>
          <a:noFill/>
          <a:ln w="0">
            <a:noFill/>
            <a:prstDash val="solid"/>
          </a:ln>
        </p:spPr>
        <p:txBody>
          <a:bodyPr lIns="0" tIns="0" rIns="0" bIns="0">
            <a:noAutofit/>
          </a:bodyPr>
          <a:lstStyle>
            <a:defPPr>
              <a:defRPr sz="2250" b="0">
                <a:solidFill>
                  <a:srgbClr val="526779"/>
                </a:solidFill>
                <a:latin typeface="DejaVu Sans"/>
                <a:ea typeface="DejaVu Sans"/>
                <a:cs typeface="DejaVu Sans"/>
              </a:defRPr>
            </a:defPPr>
          </a:lstStyle>
          <a:p>
            <a:pPr>
              <a:defRPr sz="2250" b="0">
                <a:solidFill>
                  <a:srgbClr val="526779"/>
                </a:solidFill>
                <a:latin typeface="DejaVu Sans"/>
                <a:ea typeface="DejaVu Sans"/>
                <a:cs typeface="DejaVu Sans"/>
              </a:defRPr>
            </a:pPr>
            <a:r>
              <a:rPr sz="2250" b="0">
                <a:solidFill>
                  <a:srgbClr val="526779"/>
                </a:solidFill>
                <a:latin typeface="DejaVu Sans"/>
                <a:ea typeface="DejaVu Sans"/>
                <a:cs typeface="DejaVu Sans"/>
              </a:rPr>
              <a:t>Pacient potřebuje srozumitelnou cestu k pomoci.</a:t>
            </a:r>
          </a:p>
          <a:p>
            <a:pPr>
              <a:defRPr sz="2250" b="0">
                <a:solidFill>
                  <a:srgbClr val="526779"/>
                </a:solidFill>
                <a:latin typeface="DejaVu Sans"/>
                <a:ea typeface="DejaVu Sans"/>
                <a:cs typeface="DejaVu Sans"/>
              </a:defRPr>
            </a:pPr>
            <a:r>
              <a:rPr sz="2250" b="0">
                <a:solidFill>
                  <a:srgbClr val="526779"/>
                </a:solidFill>
                <a:latin typeface="DejaVu Sans"/>
                <a:ea typeface="DejaVu Sans"/>
                <a:cs typeface="DejaVu Sans"/>
              </a:rPr>
              <a:t>Tým potřebuje přehled a jasnou odpovědnost.</a:t>
            </a:r>
          </a:p>
        </p:txBody>
      </p:sp>
      <p:pic>
        <p:nvPicPr>
          <p:cNvPr id="4" name="Obrázek 3">
            <a:extLst>
              <a:ext uri="{FF2B5EF4-FFF2-40B4-BE49-F238E27FC236}">
                <a16:creationId xmlns:a16="http://schemas.microsoft.com/office/drawing/2014/main" id="{AF7854C6-67C6-4CA8-BA4B-9F6717E24D29}"/>
              </a:ext>
            </a:extLst>
          </p:cNvPr>
          <p:cNvPicPr>
            <a:picLocks noChangeAspect="1"/>
          </p:cNvPicPr>
          <p:nvPr/>
        </p:nvPicPr>
        <p:blipFill>
          <a:blip r:embed="rId3"/>
          <a:stretch/>
        </p:blipFill>
        <p:spPr>
          <a:xfrm>
            <a:off x="9766188" y="5857875"/>
            <a:ext cx="1708375" cy="819150"/>
          </a:xfrm>
          <a:prstGeom prst="rect">
            <a:avLst/>
          </a:prstGeom>
        </p:spPr>
      </p:pic>
    </p:spTree>
    <p:extLst>
      <p:ext uri="{BB962C8B-B14F-4D97-AF65-F5344CB8AC3E}">
        <p14:creationId xmlns:p14="http://schemas.microsoft.com/office/powerpoint/2010/main" val="265389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Obdélník 6">
            <a:extLst>
              <a:ext uri="{FF2B5EF4-FFF2-40B4-BE49-F238E27FC236}">
                <a16:creationId xmlns:a16="http://schemas.microsoft.com/office/drawing/2014/main" id="{24E6B9F5-5278-466C-A283-5BDC9BEE01B5}"/>
              </a:ext>
            </a:extLst>
          </p:cNvPr>
          <p:cNvSpPr>
            <a:spLocks noGrp="1"/>
          </p:cNvSpPr>
          <p:nvPr/>
        </p:nvSpPr>
        <p:spPr>
          <a:xfrm>
            <a:off x="723900" y="619125"/>
            <a:ext cx="10763250" cy="714375"/>
          </a:xfrm>
          <a:prstGeom prst="rect">
            <a:avLst/>
          </a:prstGeom>
          <a:noFill/>
          <a:ln w="0">
            <a:noFill/>
            <a:prstDash val="solid"/>
          </a:ln>
        </p:spPr>
        <p:txBody>
          <a:bodyPr lIns="0" tIns="0" rIns="0" bIns="0">
            <a:noAutofit/>
          </a:bodyPr>
          <a:lstStyle>
            <a:defPPr>
              <a:defRPr sz="3450" b="1">
                <a:solidFill>
                  <a:srgbClr val="112C41"/>
                </a:solidFill>
                <a:latin typeface="DejaVu Sans"/>
                <a:ea typeface="DejaVu Sans"/>
                <a:cs typeface="DejaVu Sans"/>
              </a:defRPr>
            </a:defPPr>
          </a:lstStyle>
          <a:p>
            <a:pPr>
              <a:defRPr sz="3450" b="1">
                <a:solidFill>
                  <a:srgbClr val="112C41"/>
                </a:solidFill>
                <a:latin typeface="DejaVu Sans"/>
                <a:ea typeface="DejaVu Sans"/>
                <a:cs typeface="DejaVu Sans"/>
              </a:defRPr>
            </a:pPr>
            <a:r>
              <a:rPr sz="3450" b="1">
                <a:solidFill>
                  <a:srgbClr val="112C41"/>
                </a:solidFill>
                <a:latin typeface="DejaVu Sans"/>
                <a:ea typeface="DejaVu Sans"/>
                <a:cs typeface="DejaVu Sans"/>
              </a:rPr>
              <a:t>Základem je koordinace péče</a:t>
            </a:r>
          </a:p>
        </p:txBody>
      </p:sp>
      <p:sp>
        <p:nvSpPr>
          <p:cNvPr id="2" name="Obdélník 1">
            <a:extLst>
              <a:ext uri="{FF2B5EF4-FFF2-40B4-BE49-F238E27FC236}">
                <a16:creationId xmlns:a16="http://schemas.microsoft.com/office/drawing/2014/main" id="{CD194636-C43F-4EEC-B338-48BA27D82FC9}"/>
              </a:ext>
            </a:extLst>
          </p:cNvPr>
          <p:cNvSpPr>
            <a:spLocks noGrp="1"/>
          </p:cNvSpPr>
          <p:nvPr/>
        </p:nvSpPr>
        <p:spPr>
          <a:xfrm>
            <a:off x="723900" y="1905000"/>
            <a:ext cx="4476750" cy="1238250"/>
          </a:xfrm>
          <a:prstGeom prst="rect">
            <a:avLst/>
          </a:prstGeom>
          <a:noFill/>
          <a:ln w="0">
            <a:noFill/>
            <a:prstDash val="solid"/>
          </a:ln>
        </p:spPr>
        <p:txBody>
          <a:bodyPr lIns="0" tIns="0" rIns="0" bIns="0">
            <a:noAutofit/>
          </a:bodyPr>
          <a:lstStyle>
            <a:defPPr>
              <a:defRPr sz="3225" b="1">
                <a:solidFill>
                  <a:srgbClr val="112C41"/>
                </a:solidFill>
                <a:latin typeface="DejaVu Sans"/>
                <a:ea typeface="DejaVu Sans"/>
                <a:cs typeface="DejaVu Sans"/>
              </a:defRPr>
            </a:defPPr>
          </a:lstStyle>
          <a:p>
            <a:pPr>
              <a:defRPr sz="3225" b="1">
                <a:solidFill>
                  <a:srgbClr val="112C41"/>
                </a:solidFill>
                <a:latin typeface="DejaVu Sans"/>
                <a:ea typeface="DejaVu Sans"/>
                <a:cs typeface="DejaVu Sans"/>
              </a:defRPr>
            </a:pPr>
            <a:r>
              <a:rPr sz="3225" b="1">
                <a:solidFill>
                  <a:srgbClr val="112C41"/>
                </a:solidFill>
                <a:latin typeface="DejaVu Sans"/>
                <a:ea typeface="DejaVu Sans"/>
                <a:cs typeface="DejaVu Sans"/>
              </a:rPr>
              <a:t>Pacient má kontakt.</a:t>
            </a:r>
          </a:p>
          <a:p>
            <a:pPr>
              <a:defRPr sz="3225" b="1">
                <a:solidFill>
                  <a:srgbClr val="112C41"/>
                </a:solidFill>
                <a:latin typeface="DejaVu Sans"/>
                <a:ea typeface="DejaVu Sans"/>
                <a:cs typeface="DejaVu Sans"/>
              </a:defRPr>
            </a:pPr>
            <a:r>
              <a:rPr sz="3225" b="1">
                <a:solidFill>
                  <a:srgbClr val="112C41"/>
                </a:solidFill>
                <a:latin typeface="DejaVu Sans"/>
                <a:ea typeface="DejaVu Sans"/>
                <a:cs typeface="DejaVu Sans"/>
              </a:rPr>
              <a:t>Tým má přehled.</a:t>
            </a:r>
          </a:p>
        </p:txBody>
      </p:sp>
      <p:sp>
        <p:nvSpPr>
          <p:cNvPr id="3" name="Obdélník 2">
            <a:extLst>
              <a:ext uri="{FF2B5EF4-FFF2-40B4-BE49-F238E27FC236}">
                <a16:creationId xmlns:a16="http://schemas.microsoft.com/office/drawing/2014/main" id="{AEA49BAE-B056-4C04-BF11-B20D4D657FEB}"/>
              </a:ext>
            </a:extLst>
          </p:cNvPr>
          <p:cNvSpPr>
            <a:spLocks noGrp="1"/>
          </p:cNvSpPr>
          <p:nvPr/>
        </p:nvSpPr>
        <p:spPr>
          <a:xfrm>
            <a:off x="723900" y="3619500"/>
            <a:ext cx="4286250" cy="809625"/>
          </a:xfrm>
          <a:prstGeom prst="rect">
            <a:avLst/>
          </a:prstGeom>
          <a:noFill/>
          <a:ln w="0">
            <a:noFill/>
            <a:prstDash val="solid"/>
          </a:ln>
        </p:spPr>
        <p:txBody>
          <a:bodyPr lIns="0" tIns="0" rIns="0" bIns="0">
            <a:noAutofit/>
          </a:bodyPr>
          <a:lstStyle>
            <a:defPPr>
              <a:defRPr sz="2100" b="0">
                <a:solidFill>
                  <a:srgbClr val="526779"/>
                </a:solidFill>
                <a:latin typeface="DejaVu Sans"/>
                <a:ea typeface="DejaVu Sans"/>
                <a:cs typeface="DejaVu Sans"/>
              </a:defRPr>
            </a:defPPr>
          </a:lstStyle>
          <a:p>
            <a:pPr>
              <a:defRPr sz="2100" b="0">
                <a:solidFill>
                  <a:srgbClr val="526779"/>
                </a:solidFill>
                <a:latin typeface="DejaVu Sans"/>
                <a:ea typeface="DejaVu Sans"/>
                <a:cs typeface="DejaVu Sans"/>
              </a:defRPr>
            </a:pPr>
            <a:r>
              <a:rPr sz="2100" b="0">
                <a:solidFill>
                  <a:srgbClr val="526779"/>
                </a:solidFill>
                <a:latin typeface="DejaVu Sans"/>
                <a:ea typeface="DejaVu Sans"/>
                <a:cs typeface="DejaVu Sans"/>
              </a:rPr>
              <a:t>Obtíže, dotazníky a zprávy</a:t>
            </a:r>
          </a:p>
          <a:p>
            <a:pPr>
              <a:defRPr sz="2100" b="0">
                <a:solidFill>
                  <a:srgbClr val="526779"/>
                </a:solidFill>
                <a:latin typeface="DejaVu Sans"/>
                <a:ea typeface="DejaVu Sans"/>
                <a:cs typeface="DejaVu Sans"/>
              </a:defRPr>
            </a:pPr>
            <a:r>
              <a:rPr sz="2100" b="0">
                <a:solidFill>
                  <a:srgbClr val="526779"/>
                </a:solidFill>
                <a:latin typeface="DejaVu Sans"/>
                <a:ea typeface="DejaVu Sans"/>
                <a:cs typeface="DejaVu Sans"/>
              </a:rPr>
              <a:t>na jednom místě.</a:t>
            </a:r>
          </a:p>
        </p:txBody>
      </p:sp>
      <p:sp>
        <p:nvSpPr>
          <p:cNvPr id="4" name="Obdélník 3">
            <a:extLst>
              <a:ext uri="{FF2B5EF4-FFF2-40B4-BE49-F238E27FC236}">
                <a16:creationId xmlns:a16="http://schemas.microsoft.com/office/drawing/2014/main" id="{2D9B7D41-0534-462E-93BF-CC0D19B13185}"/>
              </a:ext>
            </a:extLst>
          </p:cNvPr>
          <p:cNvSpPr>
            <a:spLocks noGrp="1"/>
          </p:cNvSpPr>
          <p:nvPr/>
        </p:nvSpPr>
        <p:spPr>
          <a:xfrm>
            <a:off x="723900" y="4762500"/>
            <a:ext cx="4286250" cy="809625"/>
          </a:xfrm>
          <a:prstGeom prst="rect">
            <a:avLst/>
          </a:prstGeom>
          <a:noFill/>
          <a:ln w="0">
            <a:noFill/>
            <a:prstDash val="solid"/>
          </a:ln>
        </p:spPr>
        <p:txBody>
          <a:bodyPr lIns="0" tIns="0" rIns="0" bIns="0">
            <a:noAutofit/>
          </a:bodyPr>
          <a:lstStyle>
            <a:defPPr>
              <a:defRPr sz="2100" b="0">
                <a:solidFill>
                  <a:srgbClr val="526779"/>
                </a:solidFill>
                <a:latin typeface="DejaVu Sans"/>
                <a:ea typeface="DejaVu Sans"/>
                <a:cs typeface="DejaVu Sans"/>
              </a:defRPr>
            </a:defPPr>
          </a:lstStyle>
          <a:p>
            <a:pPr>
              <a:defRPr sz="2100" b="0">
                <a:solidFill>
                  <a:srgbClr val="526779"/>
                </a:solidFill>
                <a:latin typeface="DejaVu Sans"/>
                <a:ea typeface="DejaVu Sans"/>
                <a:cs typeface="DejaVu Sans"/>
              </a:defRPr>
            </a:pPr>
            <a:r>
              <a:rPr sz="2100" b="0">
                <a:solidFill>
                  <a:srgbClr val="526779"/>
                </a:solidFill>
                <a:latin typeface="DejaVu Sans"/>
                <a:ea typeface="DejaVu Sans"/>
                <a:cs typeface="DejaVu Sans"/>
              </a:rPr>
              <a:t>Každý požadavek má</a:t>
            </a:r>
          </a:p>
          <a:p>
            <a:pPr>
              <a:defRPr sz="2100" b="0">
                <a:solidFill>
                  <a:srgbClr val="526779"/>
                </a:solidFill>
                <a:latin typeface="DejaVu Sans"/>
                <a:ea typeface="DejaVu Sans"/>
                <a:cs typeface="DejaVu Sans"/>
              </a:defRPr>
            </a:pPr>
            <a:r>
              <a:rPr sz="2100" b="0">
                <a:solidFill>
                  <a:srgbClr val="526779"/>
                </a:solidFill>
                <a:latin typeface="DejaVu Sans"/>
                <a:ea typeface="DejaVu Sans"/>
                <a:cs typeface="DejaVu Sans"/>
              </a:rPr>
              <a:t>svou prioritu a další krok.</a:t>
            </a:r>
          </a:p>
        </p:txBody>
      </p:sp>
      <p:pic>
        <p:nvPicPr>
          <p:cNvPr id="5" name="Obrázek 4">
            <a:extLst>
              <a:ext uri="{FF2B5EF4-FFF2-40B4-BE49-F238E27FC236}">
                <a16:creationId xmlns:a16="http://schemas.microsoft.com/office/drawing/2014/main" id="{D3F8428F-3F59-4845-A096-57FCF0CB8EE6}"/>
              </a:ext>
            </a:extLst>
          </p:cNvPr>
          <p:cNvPicPr>
            <a:picLocks noChangeAspect="1"/>
          </p:cNvPicPr>
          <p:nvPr/>
        </p:nvPicPr>
        <p:blipFill>
          <a:blip r:embed="rId3"/>
          <a:stretch/>
        </p:blipFill>
        <p:spPr>
          <a:xfrm>
            <a:off x="5968214" y="1524000"/>
            <a:ext cx="4922822" cy="4286250"/>
          </a:xfrm>
          <a:prstGeom prst="rect">
            <a:avLst/>
          </a:prstGeom>
        </p:spPr>
      </p:pic>
      <p:pic>
        <p:nvPicPr>
          <p:cNvPr id="6" name="Obrázek 5">
            <a:extLst>
              <a:ext uri="{FF2B5EF4-FFF2-40B4-BE49-F238E27FC236}">
                <a16:creationId xmlns:a16="http://schemas.microsoft.com/office/drawing/2014/main" id="{F62D3812-4BF4-475B-95AC-1DF8F95CBDA3}"/>
              </a:ext>
            </a:extLst>
          </p:cNvPr>
          <p:cNvPicPr>
            <a:picLocks noChangeAspect="1"/>
          </p:cNvPicPr>
          <p:nvPr/>
        </p:nvPicPr>
        <p:blipFill>
          <a:blip r:embed="rId4"/>
          <a:stretch/>
        </p:blipFill>
        <p:spPr>
          <a:xfrm>
            <a:off x="9766188" y="5857875"/>
            <a:ext cx="1708375" cy="819150"/>
          </a:xfrm>
          <a:prstGeom prst="rect">
            <a:avLst/>
          </a:prstGeom>
        </p:spPr>
      </p:pic>
    </p:spTree>
    <p:extLst>
      <p:ext uri="{BB962C8B-B14F-4D97-AF65-F5344CB8AC3E}">
        <p14:creationId xmlns:p14="http://schemas.microsoft.com/office/powerpoint/2010/main" val="616477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Obdélník 8">
            <a:extLst>
              <a:ext uri="{FF2B5EF4-FFF2-40B4-BE49-F238E27FC236}">
                <a16:creationId xmlns:a16="http://schemas.microsoft.com/office/drawing/2014/main" id="{21246A42-E73C-458C-9831-F065E2DF5EA1}"/>
              </a:ext>
            </a:extLst>
          </p:cNvPr>
          <p:cNvSpPr>
            <a:spLocks noGrp="1"/>
          </p:cNvSpPr>
          <p:nvPr/>
        </p:nvSpPr>
        <p:spPr>
          <a:xfrm>
            <a:off x="723900" y="619125"/>
            <a:ext cx="10763250" cy="714375"/>
          </a:xfrm>
          <a:prstGeom prst="rect">
            <a:avLst/>
          </a:prstGeom>
          <a:noFill/>
          <a:ln w="0">
            <a:noFill/>
            <a:prstDash val="solid"/>
          </a:ln>
        </p:spPr>
        <p:txBody>
          <a:bodyPr lIns="0" tIns="0" rIns="0" bIns="0">
            <a:noAutofit/>
          </a:bodyPr>
          <a:lstStyle>
            <a:defPPr>
              <a:defRPr sz="3450" b="1">
                <a:solidFill>
                  <a:srgbClr val="112C41"/>
                </a:solidFill>
                <a:latin typeface="DejaVu Sans"/>
                <a:ea typeface="DejaVu Sans"/>
                <a:cs typeface="DejaVu Sans"/>
              </a:defRPr>
            </a:defPPr>
          </a:lstStyle>
          <a:p>
            <a:pPr>
              <a:defRPr sz="3450" b="1">
                <a:solidFill>
                  <a:srgbClr val="112C41"/>
                </a:solidFill>
                <a:latin typeface="DejaVu Sans"/>
                <a:ea typeface="DejaVu Sans"/>
                <a:cs typeface="DejaVu Sans"/>
              </a:defRPr>
            </a:pPr>
            <a:r>
              <a:rPr sz="3450" b="1">
                <a:solidFill>
                  <a:srgbClr val="112C41"/>
                </a:solidFill>
                <a:latin typeface="DejaVu Sans"/>
                <a:ea typeface="DejaVu Sans"/>
                <a:cs typeface="DejaVu Sans"/>
              </a:rPr>
              <a:t>Zkušenost z onkologické praxe</a:t>
            </a:r>
          </a:p>
        </p:txBody>
      </p:sp>
      <p:sp>
        <p:nvSpPr>
          <p:cNvPr id="2" name="Obdélník 1">
            <a:extLst>
              <a:ext uri="{FF2B5EF4-FFF2-40B4-BE49-F238E27FC236}">
                <a16:creationId xmlns:a16="http://schemas.microsoft.com/office/drawing/2014/main" id="{3CDB17BC-1EB7-4445-A54E-0577FDE430A9}"/>
              </a:ext>
            </a:extLst>
          </p:cNvPr>
          <p:cNvSpPr>
            <a:spLocks noGrp="1"/>
          </p:cNvSpPr>
          <p:nvPr/>
        </p:nvSpPr>
        <p:spPr>
          <a:xfrm>
            <a:off x="723900" y="1666875"/>
            <a:ext cx="4667250" cy="619125"/>
          </a:xfrm>
          <a:prstGeom prst="rect">
            <a:avLst/>
          </a:prstGeom>
          <a:noFill/>
          <a:ln w="0">
            <a:noFill/>
            <a:prstDash val="solid"/>
          </a:ln>
        </p:spPr>
        <p:txBody>
          <a:bodyPr lIns="0" tIns="0" rIns="0" bIns="0">
            <a:noAutofit/>
          </a:bodyPr>
          <a:lstStyle>
            <a:defPPr>
              <a:defRPr sz="3000" b="1">
                <a:solidFill>
                  <a:srgbClr val="112C41"/>
                </a:solidFill>
                <a:latin typeface="DejaVu Sans"/>
                <a:ea typeface="DejaVu Sans"/>
                <a:cs typeface="DejaVu Sans"/>
              </a:defRPr>
            </a:defPPr>
          </a:lstStyle>
          <a:p>
            <a:pPr>
              <a:defRPr sz="3000" b="1">
                <a:solidFill>
                  <a:srgbClr val="112C41"/>
                </a:solidFill>
                <a:latin typeface="DejaVu Sans"/>
                <a:ea typeface="DejaVu Sans"/>
                <a:cs typeface="DejaVu Sans"/>
              </a:defRPr>
            </a:pPr>
            <a:r>
              <a:rPr sz="3000" b="1">
                <a:solidFill>
                  <a:srgbClr val="112C41"/>
                </a:solidFill>
                <a:latin typeface="DejaVu Sans"/>
                <a:ea typeface="DejaVu Sans"/>
                <a:cs typeface="DejaVu Sans"/>
              </a:rPr>
              <a:t>MOÚ od roku 2020</a:t>
            </a:r>
          </a:p>
        </p:txBody>
      </p:sp>
      <p:sp>
        <p:nvSpPr>
          <p:cNvPr id="3" name="Obdélník 2">
            <a:extLst>
              <a:ext uri="{FF2B5EF4-FFF2-40B4-BE49-F238E27FC236}">
                <a16:creationId xmlns:a16="http://schemas.microsoft.com/office/drawing/2014/main" id="{77F6194D-8DB3-4744-BC21-9A969D74A54B}"/>
              </a:ext>
            </a:extLst>
          </p:cNvPr>
          <p:cNvSpPr>
            <a:spLocks noGrp="1"/>
          </p:cNvSpPr>
          <p:nvPr/>
        </p:nvSpPr>
        <p:spPr>
          <a:xfrm>
            <a:off x="723900" y="2571750"/>
            <a:ext cx="4762500" cy="666750"/>
          </a:xfrm>
          <a:prstGeom prst="rect">
            <a:avLst/>
          </a:prstGeom>
          <a:noFill/>
          <a:ln w="0">
            <a:noFill/>
            <a:prstDash val="solid"/>
          </a:ln>
        </p:spPr>
        <p:txBody>
          <a:bodyPr lIns="0" tIns="0" rIns="0" bIns="0">
            <a:noAutofit/>
          </a:bodyPr>
          <a:lstStyle>
            <a:defPPr>
              <a:defRPr sz="3675" b="1">
                <a:solidFill>
                  <a:srgbClr val="EF7137"/>
                </a:solidFill>
                <a:latin typeface="DejaVu Sans"/>
                <a:ea typeface="DejaVu Sans"/>
                <a:cs typeface="DejaVu Sans"/>
              </a:defRPr>
            </a:defPPr>
          </a:lstStyle>
          <a:p>
            <a:pPr>
              <a:defRPr sz="3675" b="1">
                <a:solidFill>
                  <a:srgbClr val="EF7137"/>
                </a:solidFill>
                <a:latin typeface="DejaVu Sans"/>
                <a:ea typeface="DejaVu Sans"/>
                <a:cs typeface="DejaVu Sans"/>
              </a:defRPr>
            </a:pPr>
            <a:r>
              <a:rPr sz="3675" b="1">
                <a:solidFill>
                  <a:srgbClr val="EF7137"/>
                </a:solidFill>
                <a:latin typeface="DejaVu Sans"/>
                <a:ea typeface="DejaVu Sans"/>
                <a:cs typeface="DejaVu Sans"/>
              </a:rPr>
              <a:t>Více než 15 500</a:t>
            </a:r>
          </a:p>
        </p:txBody>
      </p:sp>
      <p:sp>
        <p:nvSpPr>
          <p:cNvPr id="4" name="Obdélník 3">
            <a:extLst>
              <a:ext uri="{FF2B5EF4-FFF2-40B4-BE49-F238E27FC236}">
                <a16:creationId xmlns:a16="http://schemas.microsoft.com/office/drawing/2014/main" id="{59A85E2C-52BF-49EC-B852-FEFFA3E81FF2}"/>
              </a:ext>
            </a:extLst>
          </p:cNvPr>
          <p:cNvSpPr>
            <a:spLocks noGrp="1"/>
          </p:cNvSpPr>
          <p:nvPr/>
        </p:nvSpPr>
        <p:spPr>
          <a:xfrm>
            <a:off x="723900" y="3257550"/>
            <a:ext cx="4667250" cy="428625"/>
          </a:xfrm>
          <a:prstGeom prst="rect">
            <a:avLst/>
          </a:prstGeom>
          <a:noFill/>
          <a:ln w="0">
            <a:noFill/>
            <a:prstDash val="solid"/>
          </a:ln>
        </p:spPr>
        <p:txBody>
          <a:bodyPr lIns="0" tIns="0" rIns="0" bIns="0">
            <a:noAutofit/>
          </a:bodyPr>
          <a:lstStyle>
            <a:defPPr>
              <a:defRPr sz="2100" b="0">
                <a:solidFill>
                  <a:srgbClr val="526779"/>
                </a:solidFill>
                <a:latin typeface="DejaVu Sans"/>
                <a:ea typeface="DejaVu Sans"/>
                <a:cs typeface="DejaVu Sans"/>
              </a:defRPr>
            </a:defPPr>
          </a:lstStyle>
          <a:p>
            <a:pPr>
              <a:defRPr sz="2100" b="0">
                <a:solidFill>
                  <a:srgbClr val="526779"/>
                </a:solidFill>
                <a:latin typeface="DejaVu Sans"/>
                <a:ea typeface="DejaVu Sans"/>
                <a:cs typeface="DejaVu Sans"/>
              </a:defRPr>
            </a:pPr>
            <a:r>
              <a:rPr sz="2100" b="0">
                <a:solidFill>
                  <a:srgbClr val="526779"/>
                </a:solidFill>
                <a:latin typeface="DejaVu Sans"/>
                <a:ea typeface="DejaVu Sans"/>
                <a:cs typeface="DejaVu Sans"/>
              </a:rPr>
              <a:t>pacientů v systému</a:t>
            </a:r>
          </a:p>
        </p:txBody>
      </p:sp>
      <p:sp>
        <p:nvSpPr>
          <p:cNvPr id="5" name="Obdélník 4">
            <a:extLst>
              <a:ext uri="{FF2B5EF4-FFF2-40B4-BE49-F238E27FC236}">
                <a16:creationId xmlns:a16="http://schemas.microsoft.com/office/drawing/2014/main" id="{2780817A-C38B-48B5-A4A1-6AF7A50DF97C}"/>
              </a:ext>
            </a:extLst>
          </p:cNvPr>
          <p:cNvSpPr>
            <a:spLocks noGrp="1"/>
          </p:cNvSpPr>
          <p:nvPr/>
        </p:nvSpPr>
        <p:spPr>
          <a:xfrm>
            <a:off x="723900" y="4095750"/>
            <a:ext cx="4667250" cy="666750"/>
          </a:xfrm>
          <a:prstGeom prst="rect">
            <a:avLst/>
          </a:prstGeom>
          <a:noFill/>
          <a:ln w="0">
            <a:noFill/>
            <a:prstDash val="solid"/>
          </a:ln>
        </p:spPr>
        <p:txBody>
          <a:bodyPr lIns="0" tIns="0" rIns="0" bIns="0">
            <a:noAutofit/>
          </a:bodyPr>
          <a:lstStyle>
            <a:defPPr>
              <a:defRPr sz="3675" b="1">
                <a:solidFill>
                  <a:srgbClr val="EF7137"/>
                </a:solidFill>
                <a:latin typeface="DejaVu Sans"/>
                <a:ea typeface="DejaVu Sans"/>
                <a:cs typeface="DejaVu Sans"/>
              </a:defRPr>
            </a:defPPr>
          </a:lstStyle>
          <a:p>
            <a:pPr>
              <a:defRPr sz="3675" b="1">
                <a:solidFill>
                  <a:srgbClr val="EF7137"/>
                </a:solidFill>
                <a:latin typeface="DejaVu Sans"/>
                <a:ea typeface="DejaVu Sans"/>
                <a:cs typeface="DejaVu Sans"/>
              </a:defRPr>
            </a:pPr>
            <a:r>
              <a:rPr sz="3675" b="1">
                <a:solidFill>
                  <a:srgbClr val="EF7137"/>
                </a:solidFill>
                <a:latin typeface="DejaVu Sans"/>
                <a:ea typeface="DejaVu Sans"/>
                <a:cs typeface="DejaVu Sans"/>
              </a:rPr>
              <a:t>≈ 137 000 Kč</a:t>
            </a:r>
          </a:p>
        </p:txBody>
      </p:sp>
      <p:sp>
        <p:nvSpPr>
          <p:cNvPr id="6" name="Obdélník 5">
            <a:extLst>
              <a:ext uri="{FF2B5EF4-FFF2-40B4-BE49-F238E27FC236}">
                <a16:creationId xmlns:a16="http://schemas.microsoft.com/office/drawing/2014/main" id="{6DA91739-80E6-4116-907F-7C7DD87A8CCA}"/>
              </a:ext>
            </a:extLst>
          </p:cNvPr>
          <p:cNvSpPr>
            <a:spLocks noGrp="1"/>
          </p:cNvSpPr>
          <p:nvPr/>
        </p:nvSpPr>
        <p:spPr>
          <a:xfrm>
            <a:off x="723900" y="4810125"/>
            <a:ext cx="4667250" cy="809625"/>
          </a:xfrm>
          <a:prstGeom prst="rect">
            <a:avLst/>
          </a:prstGeom>
          <a:noFill/>
          <a:ln w="0">
            <a:noFill/>
            <a:prstDash val="solid"/>
          </a:ln>
        </p:spPr>
        <p:txBody>
          <a:bodyPr lIns="0" tIns="0" rIns="0" bIns="0">
            <a:noAutofit/>
          </a:bodyPr>
          <a:lstStyle>
            <a:defPPr>
              <a:defRPr sz="1950" b="0">
                <a:solidFill>
                  <a:srgbClr val="526779"/>
                </a:solidFill>
                <a:latin typeface="DejaVu Sans"/>
                <a:ea typeface="DejaVu Sans"/>
                <a:cs typeface="DejaVu Sans"/>
              </a:defRPr>
            </a:defPPr>
          </a:lstStyle>
          <a:p>
            <a:pPr>
              <a:defRPr sz="1950" b="0">
                <a:solidFill>
                  <a:srgbClr val="526779"/>
                </a:solidFill>
                <a:latin typeface="DejaVu Sans"/>
                <a:ea typeface="DejaVu Sans"/>
                <a:cs typeface="DejaVu Sans"/>
              </a:defRPr>
            </a:pPr>
            <a:r>
              <a:rPr sz="1950" b="0">
                <a:solidFill>
                  <a:srgbClr val="526779"/>
                </a:solidFill>
                <a:latin typeface="DejaVu Sans"/>
                <a:ea typeface="DejaVu Sans"/>
                <a:cs typeface="DejaVu Sans"/>
              </a:rPr>
              <a:t>roční úspora v nákladech na práci</a:t>
            </a:r>
          </a:p>
          <a:p>
            <a:pPr>
              <a:defRPr sz="1950" b="0">
                <a:solidFill>
                  <a:srgbClr val="526779"/>
                </a:solidFill>
                <a:latin typeface="DejaVu Sans"/>
                <a:ea typeface="DejaVu Sans"/>
                <a:cs typeface="DejaVu Sans"/>
              </a:defRPr>
            </a:pPr>
            <a:r>
              <a:rPr sz="1950" b="0">
                <a:solidFill>
                  <a:srgbClr val="526779"/>
                </a:solidFill>
                <a:latin typeface="DejaVu Sans"/>
                <a:ea typeface="DejaVu Sans"/>
                <a:cs typeface="DejaVu Sans"/>
              </a:rPr>
              <a:t>na jednu všeobecnou sestru</a:t>
            </a:r>
          </a:p>
        </p:txBody>
      </p:sp>
      <p:pic>
        <p:nvPicPr>
          <p:cNvPr id="7" name="Obrázek 6">
            <a:extLst>
              <a:ext uri="{FF2B5EF4-FFF2-40B4-BE49-F238E27FC236}">
                <a16:creationId xmlns:a16="http://schemas.microsoft.com/office/drawing/2014/main" id="{AA8E6E80-E662-47F6-BCD9-9AA2F9A5E63C}"/>
              </a:ext>
            </a:extLst>
          </p:cNvPr>
          <p:cNvPicPr>
            <a:picLocks noChangeAspect="1"/>
          </p:cNvPicPr>
          <p:nvPr/>
        </p:nvPicPr>
        <p:blipFill>
          <a:blip r:embed="rId3"/>
          <a:stretch/>
        </p:blipFill>
        <p:spPr>
          <a:xfrm>
            <a:off x="6056139" y="1619250"/>
            <a:ext cx="5032722" cy="4048125"/>
          </a:xfrm>
          <a:prstGeom prst="rect">
            <a:avLst/>
          </a:prstGeom>
        </p:spPr>
      </p:pic>
      <p:pic>
        <p:nvPicPr>
          <p:cNvPr id="8" name="Obrázek 7">
            <a:extLst>
              <a:ext uri="{FF2B5EF4-FFF2-40B4-BE49-F238E27FC236}">
                <a16:creationId xmlns:a16="http://schemas.microsoft.com/office/drawing/2014/main" id="{7C50F87D-18C6-4C33-80E3-C014DC55AD61}"/>
              </a:ext>
            </a:extLst>
          </p:cNvPr>
          <p:cNvPicPr>
            <a:picLocks noChangeAspect="1"/>
          </p:cNvPicPr>
          <p:nvPr/>
        </p:nvPicPr>
        <p:blipFill>
          <a:blip r:embed="rId4"/>
          <a:stretch/>
        </p:blipFill>
        <p:spPr>
          <a:xfrm>
            <a:off x="9766188" y="5857875"/>
            <a:ext cx="1708375" cy="819150"/>
          </a:xfrm>
          <a:prstGeom prst="rect">
            <a:avLst/>
          </a:prstGeom>
        </p:spPr>
      </p:pic>
    </p:spTree>
    <p:extLst>
      <p:ext uri="{BB962C8B-B14F-4D97-AF65-F5344CB8AC3E}">
        <p14:creationId xmlns:p14="http://schemas.microsoft.com/office/powerpoint/2010/main" val="17267431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Obdélník 5">
            <a:extLst>
              <a:ext uri="{FF2B5EF4-FFF2-40B4-BE49-F238E27FC236}">
                <a16:creationId xmlns:a16="http://schemas.microsoft.com/office/drawing/2014/main" id="{F7EE849A-C9CC-467A-B362-7CE4C7DC0AE3}"/>
              </a:ext>
            </a:extLst>
          </p:cNvPr>
          <p:cNvSpPr>
            <a:spLocks noGrp="1"/>
          </p:cNvSpPr>
          <p:nvPr/>
        </p:nvSpPr>
        <p:spPr>
          <a:xfrm>
            <a:off x="723900" y="619125"/>
            <a:ext cx="10763250" cy="714375"/>
          </a:xfrm>
          <a:prstGeom prst="rect">
            <a:avLst/>
          </a:prstGeom>
          <a:noFill/>
          <a:ln w="0">
            <a:noFill/>
            <a:prstDash val="solid"/>
          </a:ln>
        </p:spPr>
        <p:txBody>
          <a:bodyPr lIns="0" tIns="0" rIns="0" bIns="0">
            <a:noAutofit/>
          </a:bodyPr>
          <a:lstStyle>
            <a:defPPr>
              <a:defRPr sz="3450" b="1">
                <a:solidFill>
                  <a:srgbClr val="112C41"/>
                </a:solidFill>
                <a:latin typeface="DejaVu Sans"/>
                <a:ea typeface="DejaVu Sans"/>
                <a:cs typeface="DejaVu Sans"/>
              </a:defRPr>
            </a:defPPr>
          </a:lstStyle>
          <a:p>
            <a:pPr>
              <a:defRPr sz="3450" b="1">
                <a:solidFill>
                  <a:srgbClr val="112C41"/>
                </a:solidFill>
                <a:latin typeface="DejaVu Sans"/>
                <a:ea typeface="DejaVu Sans"/>
                <a:cs typeface="DejaVu Sans"/>
              </a:defRPr>
            </a:pPr>
            <a:r>
              <a:rPr sz="3450" b="1">
                <a:solidFill>
                  <a:srgbClr val="112C41"/>
                </a:solidFill>
                <a:latin typeface="DejaVu Sans"/>
                <a:ea typeface="DejaVu Sans"/>
                <a:cs typeface="DejaVu Sans"/>
              </a:rPr>
              <a:t>AI společník mezi kontrolami</a:t>
            </a:r>
          </a:p>
        </p:txBody>
      </p:sp>
      <p:sp>
        <p:nvSpPr>
          <p:cNvPr id="2" name="Obdélník 1">
            <a:extLst>
              <a:ext uri="{FF2B5EF4-FFF2-40B4-BE49-F238E27FC236}">
                <a16:creationId xmlns:a16="http://schemas.microsoft.com/office/drawing/2014/main" id="{722F62D7-4F6A-4773-A51F-C464D0D0EE12}"/>
              </a:ext>
            </a:extLst>
          </p:cNvPr>
          <p:cNvSpPr>
            <a:spLocks noGrp="1"/>
          </p:cNvSpPr>
          <p:nvPr/>
        </p:nvSpPr>
        <p:spPr>
          <a:xfrm>
            <a:off x="723900" y="1952625"/>
            <a:ext cx="10763250" cy="1476375"/>
          </a:xfrm>
          <a:prstGeom prst="rect">
            <a:avLst/>
          </a:prstGeom>
          <a:noFill/>
          <a:ln w="0">
            <a:noFill/>
            <a:prstDash val="solid"/>
          </a:ln>
        </p:spPr>
        <p:txBody>
          <a:bodyPr lIns="0" tIns="0" rIns="0" bIns="0">
            <a:noAutofit/>
          </a:bodyPr>
          <a:lstStyle>
            <a:defPPr>
              <a:defRPr sz="3825" b="1">
                <a:solidFill>
                  <a:srgbClr val="112C41"/>
                </a:solidFill>
                <a:latin typeface="DejaVu Sans"/>
                <a:ea typeface="DejaVu Sans"/>
                <a:cs typeface="DejaVu Sans"/>
              </a:defRPr>
            </a:defPPr>
          </a:lstStyle>
          <a:p>
            <a:pPr>
              <a:defRPr sz="3825" b="1">
                <a:solidFill>
                  <a:srgbClr val="112C41"/>
                </a:solidFill>
                <a:latin typeface="DejaVu Sans"/>
                <a:ea typeface="DejaVu Sans"/>
                <a:cs typeface="DejaVu Sans"/>
              </a:defRPr>
            </a:pPr>
            <a:r>
              <a:rPr sz="3825" b="1">
                <a:solidFill>
                  <a:srgbClr val="112C41"/>
                </a:solidFill>
                <a:latin typeface="DejaVu Sans"/>
                <a:ea typeface="DejaVu Sans"/>
                <a:cs typeface="DejaVu Sans"/>
              </a:rPr>
              <a:t>Pacientovi srozumitelný krok.</a:t>
            </a:r>
          </a:p>
          <a:p>
            <a:pPr>
              <a:defRPr sz="3825" b="1">
                <a:solidFill>
                  <a:srgbClr val="112C41"/>
                </a:solidFill>
                <a:latin typeface="DejaVu Sans"/>
                <a:ea typeface="DejaVu Sans"/>
                <a:cs typeface="DejaVu Sans"/>
              </a:defRPr>
            </a:pPr>
            <a:r>
              <a:rPr sz="3825" b="1">
                <a:solidFill>
                  <a:srgbClr val="112C41"/>
                </a:solidFill>
                <a:latin typeface="DejaVu Sans"/>
                <a:ea typeface="DejaVu Sans"/>
                <a:cs typeface="DejaVu Sans"/>
              </a:rPr>
              <a:t>Zdravotníkovi důležitý signál.</a:t>
            </a:r>
          </a:p>
        </p:txBody>
      </p:sp>
      <p:sp>
        <p:nvSpPr>
          <p:cNvPr id="3" name="Obdélník 2">
            <a:extLst>
              <a:ext uri="{FF2B5EF4-FFF2-40B4-BE49-F238E27FC236}">
                <a16:creationId xmlns:a16="http://schemas.microsoft.com/office/drawing/2014/main" id="{DD710971-C2D8-4CA2-B058-203F9B298B7F}"/>
              </a:ext>
            </a:extLst>
          </p:cNvPr>
          <p:cNvSpPr>
            <a:spLocks noGrp="1"/>
          </p:cNvSpPr>
          <p:nvPr/>
        </p:nvSpPr>
        <p:spPr>
          <a:xfrm>
            <a:off x="723900" y="3857625"/>
            <a:ext cx="10763250" cy="495300"/>
          </a:xfrm>
          <a:prstGeom prst="rect">
            <a:avLst/>
          </a:prstGeom>
          <a:noFill/>
          <a:ln w="0">
            <a:noFill/>
            <a:prstDash val="solid"/>
          </a:ln>
        </p:spPr>
        <p:txBody>
          <a:bodyPr lIns="0" tIns="0" rIns="0" bIns="0">
            <a:noAutofit/>
          </a:bodyPr>
          <a:lstStyle>
            <a:defPPr>
              <a:defRPr sz="2100" b="1">
                <a:solidFill>
                  <a:srgbClr val="EF7137"/>
                </a:solidFill>
                <a:latin typeface="DejaVu Sans"/>
                <a:ea typeface="DejaVu Sans"/>
                <a:cs typeface="DejaVu Sans"/>
              </a:defRPr>
            </a:defPPr>
          </a:lstStyle>
          <a:p>
            <a:pPr>
              <a:defRPr sz="2100" b="1">
                <a:solidFill>
                  <a:srgbClr val="EF7137"/>
                </a:solidFill>
                <a:latin typeface="DejaVu Sans"/>
                <a:ea typeface="DejaVu Sans"/>
                <a:cs typeface="DejaVu Sans"/>
              </a:defRPr>
            </a:pPr>
            <a:r>
              <a:rPr sz="2100" b="1">
                <a:solidFill>
                  <a:srgbClr val="EF7137"/>
                </a:solidFill>
                <a:latin typeface="DejaVu Sans"/>
                <a:ea typeface="DejaVu Sans"/>
                <a:cs typeface="DejaVu Sans"/>
              </a:rPr>
              <a:t>Směr výzvy MEDDI Onco pro Rakathon 2026</a:t>
            </a:r>
          </a:p>
        </p:txBody>
      </p:sp>
      <p:sp>
        <p:nvSpPr>
          <p:cNvPr id="4" name="Obdélník 3">
            <a:extLst>
              <a:ext uri="{FF2B5EF4-FFF2-40B4-BE49-F238E27FC236}">
                <a16:creationId xmlns:a16="http://schemas.microsoft.com/office/drawing/2014/main" id="{7145FFF3-36E1-4F8C-B270-0A0BB04FEA54}"/>
              </a:ext>
            </a:extLst>
          </p:cNvPr>
          <p:cNvSpPr>
            <a:spLocks noGrp="1"/>
          </p:cNvSpPr>
          <p:nvPr/>
        </p:nvSpPr>
        <p:spPr>
          <a:xfrm>
            <a:off x="723900" y="4524375"/>
            <a:ext cx="10763250" cy="1047750"/>
          </a:xfrm>
          <a:prstGeom prst="rect">
            <a:avLst/>
          </a:prstGeom>
          <a:noFill/>
          <a:ln w="0">
            <a:noFill/>
            <a:prstDash val="solid"/>
          </a:ln>
        </p:spPr>
        <p:txBody>
          <a:bodyPr lIns="0" tIns="0" rIns="0" bIns="0">
            <a:noAutofit/>
          </a:bodyPr>
          <a:lstStyle>
            <a:defPPr>
              <a:defRPr sz="2250" b="0">
                <a:solidFill>
                  <a:srgbClr val="526779"/>
                </a:solidFill>
                <a:latin typeface="DejaVu Sans"/>
                <a:ea typeface="DejaVu Sans"/>
                <a:cs typeface="DejaVu Sans"/>
              </a:defRPr>
            </a:defPPr>
          </a:lstStyle>
          <a:p>
            <a:pPr>
              <a:defRPr sz="2250" b="0">
                <a:solidFill>
                  <a:srgbClr val="526779"/>
                </a:solidFill>
                <a:latin typeface="DejaVu Sans"/>
                <a:ea typeface="DejaVu Sans"/>
                <a:cs typeface="DejaVu Sans"/>
              </a:defRPr>
            </a:pPr>
            <a:r>
              <a:rPr sz="2250" b="0">
                <a:solidFill>
                  <a:srgbClr val="526779"/>
                </a:solidFill>
                <a:latin typeface="DejaVu Sans"/>
                <a:ea typeface="DejaVu Sans"/>
                <a:cs typeface="DejaVu Sans"/>
              </a:rPr>
              <a:t>Zohlednit kontext léčby a vývoj obtíží.</a:t>
            </a:r>
          </a:p>
          <a:p>
            <a:pPr>
              <a:defRPr sz="2250" b="0">
                <a:solidFill>
                  <a:srgbClr val="526779"/>
                </a:solidFill>
                <a:latin typeface="DejaVu Sans"/>
                <a:ea typeface="DejaVu Sans"/>
                <a:cs typeface="DejaVu Sans"/>
              </a:defRPr>
            </a:pPr>
            <a:r>
              <a:rPr sz="2250" b="0">
                <a:solidFill>
                  <a:srgbClr val="526779"/>
                </a:solidFill>
                <a:latin typeface="DejaVu Sans"/>
                <a:ea typeface="DejaVu Sans"/>
                <a:cs typeface="DejaVu Sans"/>
              </a:rPr>
              <a:t>Upozornit tým a připravit přehledný souhrn.</a:t>
            </a:r>
          </a:p>
        </p:txBody>
      </p:sp>
      <p:pic>
        <p:nvPicPr>
          <p:cNvPr id="5" name="Obrázek 4">
            <a:extLst>
              <a:ext uri="{FF2B5EF4-FFF2-40B4-BE49-F238E27FC236}">
                <a16:creationId xmlns:a16="http://schemas.microsoft.com/office/drawing/2014/main" id="{EDDA0405-DD85-4EAC-8B85-15BA90DFD85A}"/>
              </a:ext>
            </a:extLst>
          </p:cNvPr>
          <p:cNvPicPr>
            <a:picLocks noChangeAspect="1"/>
          </p:cNvPicPr>
          <p:nvPr/>
        </p:nvPicPr>
        <p:blipFill>
          <a:blip r:embed="rId3"/>
          <a:stretch/>
        </p:blipFill>
        <p:spPr>
          <a:xfrm>
            <a:off x="9766188" y="5857875"/>
            <a:ext cx="1708375" cy="819150"/>
          </a:xfrm>
          <a:prstGeom prst="rect">
            <a:avLst/>
          </a:prstGeom>
        </p:spPr>
      </p:pic>
    </p:spTree>
    <p:extLst>
      <p:ext uri="{BB962C8B-B14F-4D97-AF65-F5344CB8AC3E}">
        <p14:creationId xmlns:p14="http://schemas.microsoft.com/office/powerpoint/2010/main" val="10809781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12C41"/>
        </a:solidFill>
        <a:effectLst/>
      </p:bgPr>
    </p:bg>
    <p:spTree>
      <p:nvGrpSpPr>
        <p:cNvPr id="1" name=""/>
        <p:cNvGrpSpPr/>
        <p:nvPr/>
      </p:nvGrpSpPr>
      <p:grpSpPr>
        <a:xfrm>
          <a:off x="0" y="0"/>
          <a:ext cx="0" cy="0"/>
          <a:chOff x="0" y="0"/>
          <a:chExt cx="0" cy="0"/>
        </a:xfrm>
      </p:grpSpPr>
      <p:sp>
        <p:nvSpPr>
          <p:cNvPr id="6" name="Obdélník 5">
            <a:extLst>
              <a:ext uri="{FF2B5EF4-FFF2-40B4-BE49-F238E27FC236}">
                <a16:creationId xmlns:a16="http://schemas.microsoft.com/office/drawing/2014/main" id="{0D5275D4-809F-4DB7-866A-5DA65C5FE4D1}"/>
              </a:ext>
            </a:extLst>
          </p:cNvPr>
          <p:cNvSpPr>
            <a:spLocks noGrp="1"/>
          </p:cNvSpPr>
          <p:nvPr/>
        </p:nvSpPr>
        <p:spPr>
          <a:xfrm>
            <a:off x="723900" y="619125"/>
            <a:ext cx="10668000" cy="381000"/>
          </a:xfrm>
          <a:prstGeom prst="rect">
            <a:avLst/>
          </a:prstGeom>
          <a:noFill/>
          <a:ln w="0">
            <a:noFill/>
            <a:prstDash val="solid"/>
          </a:ln>
        </p:spPr>
        <p:txBody>
          <a:bodyPr lIns="0" tIns="0" rIns="0" bIns="0">
            <a:noAutofit/>
          </a:bodyPr>
          <a:lstStyle>
            <a:defPPr>
              <a:defRPr sz="1800" b="1">
                <a:solidFill>
                  <a:srgbClr val="EF7137"/>
                </a:solidFill>
                <a:latin typeface="DejaVu Sans"/>
                <a:ea typeface="DejaVu Sans"/>
                <a:cs typeface="DejaVu Sans"/>
              </a:defRPr>
            </a:defPPr>
          </a:lstStyle>
          <a:p>
            <a:pPr>
              <a:defRPr sz="1800" b="1">
                <a:solidFill>
                  <a:srgbClr val="EF7137"/>
                </a:solidFill>
                <a:latin typeface="DejaVu Sans"/>
                <a:ea typeface="DejaVu Sans"/>
                <a:cs typeface="DejaVu Sans"/>
              </a:defRPr>
            </a:pPr>
            <a:r>
              <a:rPr sz="1800" b="1">
                <a:solidFill>
                  <a:srgbClr val="EF7137"/>
                </a:solidFill>
                <a:latin typeface="DejaVu Sans"/>
                <a:ea typeface="DejaVu Sans"/>
                <a:cs typeface="DejaVu Sans"/>
              </a:rPr>
              <a:t>VÝZVA PRO RAKATHON</a:t>
            </a:r>
          </a:p>
        </p:txBody>
      </p:sp>
      <p:sp>
        <p:nvSpPr>
          <p:cNvPr id="2" name="Obdélník 1">
            <a:extLst>
              <a:ext uri="{FF2B5EF4-FFF2-40B4-BE49-F238E27FC236}">
                <a16:creationId xmlns:a16="http://schemas.microsoft.com/office/drawing/2014/main" id="{BBE8CC2D-B9AC-4122-8AF6-29260833B233}"/>
              </a:ext>
            </a:extLst>
          </p:cNvPr>
          <p:cNvSpPr>
            <a:spLocks noGrp="1"/>
          </p:cNvSpPr>
          <p:nvPr/>
        </p:nvSpPr>
        <p:spPr>
          <a:xfrm>
            <a:off x="723900" y="1905000"/>
            <a:ext cx="10763250" cy="1666875"/>
          </a:xfrm>
          <a:prstGeom prst="rect">
            <a:avLst/>
          </a:prstGeom>
          <a:noFill/>
          <a:ln w="0">
            <a:noFill/>
            <a:prstDash val="solid"/>
          </a:ln>
        </p:spPr>
        <p:txBody>
          <a:bodyPr lIns="0" tIns="0" rIns="0" bIns="0">
            <a:noAutofit/>
          </a:bodyPr>
          <a:lstStyle>
            <a:defPPr>
              <a:defRPr sz="4350" b="1">
                <a:solidFill>
                  <a:srgbClr val="FFFFFF"/>
                </a:solidFill>
                <a:latin typeface="DejaVu Sans"/>
                <a:ea typeface="DejaVu Sans"/>
                <a:cs typeface="DejaVu Sans"/>
              </a:defRPr>
            </a:defPPr>
          </a:lstStyle>
          <a:p>
            <a:pPr>
              <a:defRPr sz="4350" b="1">
                <a:solidFill>
                  <a:srgbClr val="FFFFFF"/>
                </a:solidFill>
                <a:latin typeface="DejaVu Sans"/>
                <a:ea typeface="DejaVu Sans"/>
                <a:cs typeface="DejaVu Sans"/>
              </a:defRPr>
            </a:pPr>
            <a:r>
              <a:rPr sz="4350" b="1">
                <a:solidFill>
                  <a:srgbClr val="FFFFFF"/>
                </a:solidFill>
                <a:latin typeface="DejaVu Sans"/>
                <a:ea typeface="DejaVu Sans"/>
                <a:cs typeface="DejaVu Sans"/>
              </a:rPr>
              <a:t>Jak pacientovi usnadníme</a:t>
            </a:r>
          </a:p>
          <a:p>
            <a:pPr>
              <a:defRPr sz="4350" b="1">
                <a:solidFill>
                  <a:srgbClr val="FFFFFF"/>
                </a:solidFill>
                <a:latin typeface="DejaVu Sans"/>
                <a:ea typeface="DejaVu Sans"/>
                <a:cs typeface="DejaVu Sans"/>
              </a:defRPr>
            </a:pPr>
            <a:r>
              <a:rPr sz="4350" b="1">
                <a:solidFill>
                  <a:srgbClr val="FFFFFF"/>
                </a:solidFill>
                <a:latin typeface="DejaVu Sans"/>
                <a:ea typeface="DejaVu Sans"/>
                <a:cs typeface="DejaVu Sans"/>
              </a:rPr>
              <a:t>další den léčby?</a:t>
            </a:r>
          </a:p>
        </p:txBody>
      </p:sp>
      <p:sp>
        <p:nvSpPr>
          <p:cNvPr id="3" name="Obdélník 2">
            <a:extLst>
              <a:ext uri="{FF2B5EF4-FFF2-40B4-BE49-F238E27FC236}">
                <a16:creationId xmlns:a16="http://schemas.microsoft.com/office/drawing/2014/main" id="{93A69614-10FF-4FAC-844F-20D9810F5340}"/>
              </a:ext>
            </a:extLst>
          </p:cNvPr>
          <p:cNvSpPr>
            <a:spLocks noGrp="1"/>
          </p:cNvSpPr>
          <p:nvPr/>
        </p:nvSpPr>
        <p:spPr>
          <a:xfrm>
            <a:off x="723900" y="4095750"/>
            <a:ext cx="10668000" cy="952500"/>
          </a:xfrm>
          <a:prstGeom prst="rect">
            <a:avLst/>
          </a:prstGeom>
          <a:noFill/>
          <a:ln w="0">
            <a:noFill/>
            <a:prstDash val="solid"/>
          </a:ln>
        </p:spPr>
        <p:txBody>
          <a:bodyPr lIns="0" tIns="0" rIns="0" bIns="0">
            <a:noAutofit/>
          </a:bodyPr>
          <a:lstStyle>
            <a:defPPr>
              <a:defRPr sz="2325" b="0">
                <a:solidFill>
                  <a:srgbClr val="B7C9D6"/>
                </a:solidFill>
                <a:latin typeface="DejaVu Sans"/>
                <a:ea typeface="DejaVu Sans"/>
                <a:cs typeface="DejaVu Sans"/>
              </a:defRPr>
            </a:defPPr>
          </a:lstStyle>
          <a:p>
            <a:pPr>
              <a:defRPr sz="2325" b="0">
                <a:solidFill>
                  <a:srgbClr val="B7C9D6"/>
                </a:solidFill>
                <a:latin typeface="DejaVu Sans"/>
                <a:ea typeface="DejaVu Sans"/>
                <a:cs typeface="DejaVu Sans"/>
              </a:defRPr>
            </a:pPr>
            <a:r>
              <a:rPr sz="2325" b="0">
                <a:solidFill>
                  <a:srgbClr val="B7C9D6"/>
                </a:solidFill>
                <a:latin typeface="DejaVu Sans"/>
                <a:ea typeface="DejaVu Sans"/>
                <a:cs typeface="DejaVu Sans"/>
              </a:rPr>
              <a:t>Jednodušší kontakt s týmem.</a:t>
            </a:r>
          </a:p>
          <a:p>
            <a:pPr>
              <a:defRPr sz="2325" b="0">
                <a:solidFill>
                  <a:srgbClr val="B7C9D6"/>
                </a:solidFill>
                <a:latin typeface="DejaVu Sans"/>
                <a:ea typeface="DejaVu Sans"/>
                <a:cs typeface="DejaVu Sans"/>
              </a:defRPr>
            </a:pPr>
            <a:r>
              <a:rPr sz="2325" b="0">
                <a:solidFill>
                  <a:srgbClr val="B7C9D6"/>
                </a:solidFill>
                <a:latin typeface="DejaVu Sans"/>
                <a:ea typeface="DejaVu Sans"/>
                <a:cs typeface="DejaVu Sans"/>
              </a:rPr>
              <a:t>Lepší přehled o tom, co právě potřebuje.</a:t>
            </a:r>
          </a:p>
        </p:txBody>
      </p:sp>
      <p:sp>
        <p:nvSpPr>
          <p:cNvPr id="4" name="Obdélník 3">
            <a:extLst>
              <a:ext uri="{FF2B5EF4-FFF2-40B4-BE49-F238E27FC236}">
                <a16:creationId xmlns:a16="http://schemas.microsoft.com/office/drawing/2014/main" id="{79C2F316-46FB-4480-9F30-28E3ED4C0690}"/>
              </a:ext>
            </a:extLst>
          </p:cNvPr>
          <p:cNvSpPr>
            <a:spLocks noGrp="1"/>
          </p:cNvSpPr>
          <p:nvPr/>
        </p:nvSpPr>
        <p:spPr>
          <a:xfrm>
            <a:off x="723900" y="5762625"/>
            <a:ext cx="10668000" cy="476250"/>
          </a:xfrm>
          <a:prstGeom prst="rect">
            <a:avLst/>
          </a:prstGeom>
          <a:noFill/>
          <a:ln w="0">
            <a:noFill/>
            <a:prstDash val="solid"/>
          </a:ln>
        </p:spPr>
        <p:txBody>
          <a:bodyPr lIns="0" tIns="0" rIns="0" bIns="0">
            <a:noAutofit/>
          </a:bodyPr>
          <a:lstStyle>
            <a:defPPr>
              <a:defRPr sz="2100" b="1">
                <a:solidFill>
                  <a:srgbClr val="FFFFFF"/>
                </a:solidFill>
                <a:latin typeface="DejaVu Sans"/>
                <a:ea typeface="DejaVu Sans"/>
                <a:cs typeface="DejaVu Sans"/>
              </a:defRPr>
            </a:defPPr>
          </a:lstStyle>
          <a:p>
            <a:pPr>
              <a:defRPr sz="2100" b="1">
                <a:solidFill>
                  <a:srgbClr val="FFFFFF"/>
                </a:solidFill>
                <a:latin typeface="DejaVu Sans"/>
                <a:ea typeface="DejaVu Sans"/>
                <a:cs typeface="DejaVu Sans"/>
              </a:defRPr>
            </a:pPr>
            <a:r>
              <a:rPr sz="2100" b="1" dirty="0">
                <a:solidFill>
                  <a:srgbClr val="FFFFFF"/>
                </a:solidFill>
                <a:latin typeface="DejaVu Sans"/>
                <a:ea typeface="DejaVu Sans"/>
                <a:cs typeface="DejaVu Sans"/>
              </a:rPr>
              <a:t>Ve 12:00 </a:t>
            </a:r>
            <a:r>
              <a:rPr sz="2100" b="1" dirty="0" err="1">
                <a:solidFill>
                  <a:srgbClr val="FFFFFF"/>
                </a:solidFill>
                <a:latin typeface="DejaVu Sans"/>
                <a:ea typeface="DejaVu Sans"/>
                <a:cs typeface="DejaVu Sans"/>
              </a:rPr>
              <a:t>výzvu</a:t>
            </a:r>
            <a:r>
              <a:rPr sz="2100" b="1" dirty="0">
                <a:solidFill>
                  <a:srgbClr val="FFFFFF"/>
                </a:solidFill>
                <a:latin typeface="DejaVu Sans"/>
                <a:ea typeface="DejaVu Sans"/>
                <a:cs typeface="DejaVu Sans"/>
              </a:rPr>
              <a:t> </a:t>
            </a:r>
            <a:r>
              <a:rPr sz="2100" b="1" dirty="0" err="1">
                <a:solidFill>
                  <a:srgbClr val="FFFFFF"/>
                </a:solidFill>
                <a:latin typeface="DejaVu Sans"/>
                <a:ea typeface="DejaVu Sans"/>
                <a:cs typeface="DejaVu Sans"/>
              </a:rPr>
              <a:t>představí</a:t>
            </a:r>
            <a:r>
              <a:rPr sz="2100" b="1" dirty="0">
                <a:solidFill>
                  <a:srgbClr val="FFFFFF"/>
                </a:solidFill>
                <a:latin typeface="DejaVu Sans"/>
                <a:ea typeface="DejaVu Sans"/>
                <a:cs typeface="DejaVu Sans"/>
              </a:rPr>
              <a:t> </a:t>
            </a:r>
            <a:r>
              <a:rPr lang="cs-CZ" sz="2100" b="1">
                <a:solidFill>
                  <a:srgbClr val="FFFFFF"/>
                </a:solidFill>
                <a:latin typeface="DejaVu Sans"/>
                <a:ea typeface="DejaVu Sans"/>
                <a:cs typeface="DejaVu Sans"/>
              </a:rPr>
              <a:t>Ing. </a:t>
            </a:r>
            <a:r>
              <a:rPr sz="2100" b="1">
                <a:solidFill>
                  <a:srgbClr val="FFFFFF"/>
                </a:solidFill>
                <a:latin typeface="DejaVu Sans"/>
                <a:ea typeface="DejaVu Sans"/>
                <a:cs typeface="DejaVu Sans"/>
              </a:rPr>
              <a:t>Patrik </a:t>
            </a:r>
            <a:r>
              <a:rPr sz="2100" b="1" dirty="0" err="1">
                <a:solidFill>
                  <a:srgbClr val="FFFFFF"/>
                </a:solidFill>
                <a:latin typeface="DejaVu Sans"/>
                <a:ea typeface="DejaVu Sans"/>
                <a:cs typeface="DejaVu Sans"/>
              </a:rPr>
              <a:t>Litschmann</a:t>
            </a:r>
            <a:r>
              <a:rPr sz="2100" b="1" dirty="0">
                <a:solidFill>
                  <a:srgbClr val="FFFFFF"/>
                </a:solidFill>
                <a:latin typeface="DejaVu Sans"/>
                <a:ea typeface="DejaVu Sans"/>
                <a:cs typeface="DejaVu Sans"/>
              </a:rPr>
              <a:t>.</a:t>
            </a:r>
          </a:p>
        </p:txBody>
      </p:sp>
      <p:pic>
        <p:nvPicPr>
          <p:cNvPr id="5" name="Obrázek 4">
            <a:extLst>
              <a:ext uri="{FF2B5EF4-FFF2-40B4-BE49-F238E27FC236}">
                <a16:creationId xmlns:a16="http://schemas.microsoft.com/office/drawing/2014/main" id="{1DAAC3E1-AFD3-4124-B03D-B62CFF6D0E91}"/>
              </a:ext>
            </a:extLst>
          </p:cNvPr>
          <p:cNvPicPr>
            <a:picLocks noChangeAspect="1"/>
          </p:cNvPicPr>
          <p:nvPr/>
        </p:nvPicPr>
        <p:blipFill>
          <a:blip r:embed="rId3"/>
          <a:stretch/>
        </p:blipFill>
        <p:spPr>
          <a:xfrm>
            <a:off x="9766188" y="5857875"/>
            <a:ext cx="1708375" cy="819150"/>
          </a:xfrm>
          <a:prstGeom prst="rect">
            <a:avLst/>
          </a:prstGeom>
        </p:spPr>
      </p:pic>
    </p:spTree>
    <p:extLst>
      <p:ext uri="{BB962C8B-B14F-4D97-AF65-F5344CB8AC3E}">
        <p14:creationId xmlns:p14="http://schemas.microsoft.com/office/powerpoint/2010/main" val="61767066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1248</Words>
  <Application>Microsoft Macintosh PowerPoint</Application>
  <DocSecurity>0</DocSecurity>
  <PresentationFormat>Širokoúhlá obrazovka</PresentationFormat>
  <Paragraphs>55</Paragraphs>
  <Slides>6</Slides>
  <Notes>6</Notes>
  <HiddenSlides>0</HiddenSlides>
  <MMClips>0</MMClips>
  <ScaleCrop>false</ScaleCrop>
  <HeadingPairs>
    <vt:vector size="6" baseType="variant">
      <vt:variant>
        <vt:lpstr>Použitá písma</vt:lpstr>
      </vt:variant>
      <vt:variant>
        <vt:i4>2</vt:i4>
      </vt:variant>
      <vt:variant>
        <vt:lpstr>Motiv</vt:lpstr>
      </vt:variant>
      <vt:variant>
        <vt:i4>1</vt:i4>
      </vt:variant>
      <vt:variant>
        <vt:lpstr>Nadpisy snímků</vt:lpstr>
      </vt:variant>
      <vt:variant>
        <vt:i4>6</vt:i4>
      </vt:variant>
    </vt:vector>
  </HeadingPairs>
  <TitlesOfParts>
    <vt:vector size="9" baseType="lpstr">
      <vt:lpstr>Aptos</vt:lpstr>
      <vt:lpstr>DejaVu Sans</vt:lpstr>
      <vt:lpstr>ChatGPT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jiri pecina</cp:lastModifiedBy>
  <cp:revision>1</cp:revision>
  <dcterms:created xsi:type="dcterms:W3CDTF">2026-10-16T07:19:34Z</dcterms:created>
  <dcterms:modified xsi:type="dcterms:W3CDTF">2026-10-16T07:20:52Z</dcterms:modified>
</cp:coreProperties>
</file>